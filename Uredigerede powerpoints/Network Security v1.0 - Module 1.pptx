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xml" ContentType="application/vnd.openxmlformats-officedocument.presentationml.tags+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7" r:id="rId2"/>
  </p:sldMasterIdLst>
  <p:notesMasterIdLst>
    <p:notesMasterId r:id="rId31"/>
  </p:notesMasterIdLst>
  <p:sldIdLst>
    <p:sldId id="256" r:id="rId3"/>
    <p:sldId id="257" r:id="rId4"/>
    <p:sldId id="258" r:id="rId5"/>
    <p:sldId id="280" r:id="rId6"/>
    <p:sldId id="259" r:id="rId7"/>
    <p:sldId id="260" r:id="rId8"/>
    <p:sldId id="261" r:id="rId9"/>
    <p:sldId id="1080" r:id="rId10"/>
    <p:sldId id="262" r:id="rId11"/>
    <p:sldId id="1089"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7" r:id="rId26"/>
    <p:sldId id="278" r:id="rId27"/>
    <p:sldId id="1081" r:id="rId28"/>
    <p:sldId id="1088" r:id="rId29"/>
    <p:sldId id="1079"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857" autoAdjust="0"/>
  </p:normalViewPr>
  <p:slideViewPr>
    <p:cSldViewPr snapToGrid="0" snapToObjects="1">
      <p:cViewPr varScale="1">
        <p:scale>
          <a:sx n="85" d="100"/>
          <a:sy n="85" d="100"/>
        </p:scale>
        <p:origin x="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4671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 Securing Networks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936632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2774048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 Securing Networks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1.0 – Securing Networks</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1.1.1: Networks Are Targets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1.1.2: Reasons for Network Security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1.1.3: Vectors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1.1.4: Data Loss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1.1: Current State of Affairs
1.1.5: Video - Anatomy of an Attack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1.2.1: Campus Area Networks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1.2.2: Small Office and Home Office Networks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1.2.3: Wide Area Networks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1.2.4: Data Center Networks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1.2.5: Cloud Networks and Virtualization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1.2: Network Topology Overview
1.2.6: The Evolving Network Border</a:t>
            </a:r>
          </a:p>
          <a:p>
            <a:r>
              <a:rPr lang="en-US" dirty="0"/>
              <a:t>1.2.7: Check Your Understanding - Network Topology Protection Overview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1.3: Module 1: Securing Networks Summary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Securing Networks
1.3: Module 1: Securing Networks Summary
1.3.1: What Did I Learn in this Module?</a:t>
            </a:r>
          </a:p>
          <a:p>
            <a:r>
              <a:rPr lang="en-US" dirty="0"/>
              <a:t>1.3.2: Module Quiz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 Mitigating Threats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 Mitigating Threats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 (Cont.)</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2622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46465381"/>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7579939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75950761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66274461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19658630"/>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50749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6042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4214245774"/>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3678042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49535240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7685780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6250313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8349090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63197554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3185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32619062"/>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 Securing Networks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 Planning Guide</a:t>
            </a:r>
          </a:p>
        </p:txBody>
      </p:sp>
      <p:sp>
        <p:nvSpPr>
          <p:cNvPr id="3" name="Object2"/>
          <p:cNvSpPr/>
          <p:nvPr/>
        </p:nvSpPr>
        <p:spPr>
          <a:xfrm>
            <a:off x="288758" y="476536"/>
            <a:ext cx="8229600" cy="46291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PowerPoint deck is divided in two parts:</a:t>
            </a:r>
            <a:endParaRPr lang="en-US" sz="1400" dirty="0"/>
          </a:p>
          <a:p>
            <a:pPr marL="342900"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Instructor Planning Guide</a:t>
            </a:r>
            <a:endParaRPr lang="en-US" sz="1400" dirty="0"/>
          </a:p>
          <a:p>
            <a:pPr marL="685800" lvl="1" indent="-342900">
              <a:lnSpc>
                <a:spcPts val="2000"/>
              </a:lnSpc>
              <a:buSzPct val="100000"/>
              <a:buChar char="•"/>
            </a:pPr>
            <a:r>
              <a:rPr lang="en-US" sz="1400" dirty="0">
                <a:solidFill>
                  <a:srgbClr val="000000"/>
                </a:solidFill>
                <a:latin typeface="Arial" pitchFamily="34" charset="0"/>
                <a:ea typeface="Arial" pitchFamily="34" charset="-122"/>
                <a:cs typeface="Arial" pitchFamily="34" charset="-120"/>
              </a:rPr>
              <a:t>Information to help you become familiar with the module</a:t>
            </a:r>
          </a:p>
          <a:p>
            <a:pPr marL="358775" lvl="1" indent="-215900" defTabSz="684213" fontAlgn="base">
              <a:spcBef>
                <a:spcPts val="300"/>
              </a:spcBef>
              <a:spcAft>
                <a:spcPts val="300"/>
              </a:spcAft>
              <a:buClr>
                <a:srgbClr val="58585B"/>
              </a:buClr>
              <a:buFont typeface="Arial" charset="0"/>
              <a:buChar char="•"/>
              <a:defRPr/>
            </a:pPr>
            <a:r>
              <a:rPr lang="en-CA" sz="1400" dirty="0">
                <a:solidFill>
                  <a:srgbClr val="000000"/>
                </a:solidFill>
                <a:latin typeface="Arial"/>
                <a:ea typeface="ＭＳ Ｐゴシック" charset="0"/>
              </a:rPr>
              <a:t>Teaching aids</a:t>
            </a:r>
          </a:p>
          <a:p>
            <a:pPr marL="169863" lvl="0" indent="-169863" defTabSz="684213" fontAlgn="base">
              <a:spcBef>
                <a:spcPts val="600"/>
              </a:spcBef>
              <a:spcAft>
                <a:spcPts val="600"/>
              </a:spcAft>
              <a:buClr>
                <a:srgbClr val="58585B"/>
              </a:buClr>
              <a:buSzPct val="90000"/>
              <a:buFont typeface="Arial" panose="020B0604020202020204" pitchFamily="34" charset="0"/>
              <a:buChar char="•"/>
              <a:defRPr/>
            </a:pPr>
            <a:r>
              <a:rPr lang="en-CA" sz="1500" dirty="0">
                <a:solidFill>
                  <a:srgbClr val="000000"/>
                </a:solidFill>
                <a:latin typeface="Arial"/>
                <a:ea typeface="ＭＳ Ｐゴシック" charset="0"/>
              </a:rPr>
              <a:t>Instructor Class Presentation</a:t>
            </a:r>
          </a:p>
          <a:p>
            <a:pPr marL="358775" lvl="1" indent="-215900" defTabSz="684213" fontAlgn="base">
              <a:spcBef>
                <a:spcPts val="300"/>
              </a:spcBef>
              <a:spcAft>
                <a:spcPts val="300"/>
              </a:spcAft>
              <a:buClr>
                <a:srgbClr val="58585B"/>
              </a:buClr>
              <a:buFont typeface="Arial" charset="0"/>
              <a:buChar char="•"/>
              <a:defRPr/>
            </a:pPr>
            <a:r>
              <a:rPr lang="en-CA" sz="1400" dirty="0">
                <a:solidFill>
                  <a:srgbClr val="000000"/>
                </a:solidFill>
                <a:latin typeface="Arial"/>
                <a:ea typeface="ＭＳ Ｐゴシック" charset="0"/>
              </a:rPr>
              <a:t>Optional slides that you can use in the classroom</a:t>
            </a:r>
          </a:p>
          <a:p>
            <a:pPr marL="358775" lvl="1" indent="-215900" defTabSz="684213" fontAlgn="base">
              <a:spcBef>
                <a:spcPts val="300"/>
              </a:spcBef>
              <a:spcAft>
                <a:spcPts val="300"/>
              </a:spcAft>
              <a:buClr>
                <a:srgbClr val="58585B"/>
              </a:buClr>
              <a:buFont typeface="Arial" charset="0"/>
              <a:buChar char="•"/>
              <a:defRPr/>
            </a:pPr>
            <a:r>
              <a:rPr lang="en-CA" sz="1400" dirty="0">
                <a:solidFill>
                  <a:srgbClr val="000000"/>
                </a:solidFill>
                <a:latin typeface="Arial"/>
                <a:ea typeface="ＭＳ Ｐゴシック" charset="0"/>
              </a:rPr>
              <a:t>Begins on slide #9</a:t>
            </a:r>
          </a:p>
          <a:p>
            <a:pPr marL="142875" lvl="1" algn="ctr" defTabSz="684213" fontAlgn="base">
              <a:spcBef>
                <a:spcPts val="300"/>
              </a:spcBef>
              <a:spcAft>
                <a:spcPts val="300"/>
              </a:spcAft>
              <a:buClr>
                <a:srgbClr val="58585B"/>
              </a:buClr>
              <a:defRPr/>
            </a:pPr>
            <a:r>
              <a:rPr lang="en-CA" sz="1600" b="1" dirty="0">
                <a:solidFill>
                  <a:srgbClr val="000000"/>
                </a:solidFill>
                <a:latin typeface="Arial"/>
                <a:ea typeface="ＭＳ Ｐゴシック" charset="0"/>
              </a:rPr>
              <a:t>Note</a:t>
            </a:r>
            <a:r>
              <a:rPr lang="en-CA" sz="1600" dirty="0">
                <a:solidFill>
                  <a:srgbClr val="000000"/>
                </a:solidFill>
                <a:latin typeface="Arial"/>
                <a:ea typeface="ＭＳ Ｐゴシック" charset="0"/>
              </a:rPr>
              <a:t>: Remove the Planning Guide from this presentation before sharing with anyone.</a:t>
            </a:r>
          </a:p>
          <a:p>
            <a:pPr lvl="0" defTabSz="684213" fontAlgn="base">
              <a:spcBef>
                <a:spcPts val="600"/>
              </a:spcBef>
              <a:spcAft>
                <a:spcPts val="600"/>
              </a:spcAft>
              <a:buClr>
                <a:srgbClr val="58585B"/>
              </a:buClr>
              <a:buSzPct val="90000"/>
              <a:defRPr/>
            </a:pPr>
            <a:r>
              <a:rPr lang="en-CA" sz="1600" b="1" dirty="0">
                <a:solidFill>
                  <a:srgbClr val="367187"/>
                </a:solidFill>
                <a:latin typeface="Arial"/>
                <a:ea typeface="ＭＳ Ｐゴシック" charset="0"/>
              </a:rPr>
              <a:t>For additional help and resources go to the Instructor Home Page and Course Resources for this course. </a:t>
            </a:r>
            <a:r>
              <a:rPr lang="en-US" sz="1600" b="1" dirty="0">
                <a:solidFill>
                  <a:srgbClr val="367187"/>
                </a:solidFill>
                <a:latin typeface="Arial"/>
                <a:ea typeface="ＭＳ Ｐゴシック" charset="0"/>
              </a:rPr>
              <a:t>You also can visit the professional development site on netacad.com, the official Cisco Networking Academy Facebook page, or Instructor Only FB group.</a:t>
            </a:r>
            <a:endParaRPr lang="en-CA" sz="1600" b="1" dirty="0">
              <a:solidFill>
                <a:srgbClr val="367187"/>
              </a:solidFill>
              <a:latin typeface="Arial"/>
              <a:ea typeface="ＭＳ Ｐゴシック" charset="0"/>
            </a:endParaRPr>
          </a:p>
          <a:p>
            <a:pPr>
              <a:lnSpc>
                <a:spcPts val="2000"/>
              </a:lnSpc>
              <a:buSzPct val="100000"/>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What to Expect in this Module</a:t>
            </a:r>
          </a:p>
        </p:txBody>
      </p:sp>
      <p:sp>
        <p:nvSpPr>
          <p:cNvPr id="3" name="Object2"/>
          <p:cNvSpPr/>
          <p:nvPr/>
        </p:nvSpPr>
        <p:spPr>
          <a:xfrm>
            <a:off x="0" y="457200"/>
            <a:ext cx="8229600" cy="48577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facilitate learning, the following features within the GUI may be included in this module:</a:t>
            </a:r>
            <a:endParaRPr lang="en-US" sz="1400" dirty="0"/>
          </a:p>
        </p:txBody>
      </p:sp>
      <p:graphicFrame>
        <p:nvGraphicFramePr>
          <p:cNvPr id="5" name="Table 4">
            <a:extLst>
              <a:ext uri="{FF2B5EF4-FFF2-40B4-BE49-F238E27FC236}">
                <a16:creationId xmlns:a16="http://schemas.microsoft.com/office/drawing/2014/main" id="{24EE5231-445E-4CEC-ABC8-14DDD3A8A1F6}"/>
              </a:ext>
            </a:extLst>
          </p:cNvPr>
          <p:cNvGraphicFramePr>
            <a:graphicFrameLocks noGrp="1"/>
          </p:cNvGraphicFramePr>
          <p:nvPr>
            <p:extLst>
              <p:ext uri="{D42A27DB-BD31-4B8C-83A1-F6EECF244321}">
                <p14:modId xmlns:p14="http://schemas.microsoft.com/office/powerpoint/2010/main" val="2999345262"/>
              </p:ext>
            </p:extLst>
          </p:nvPr>
        </p:nvGraphicFramePr>
        <p:xfrm>
          <a:off x="206408" y="910294"/>
          <a:ext cx="8557528" cy="3067452"/>
        </p:xfrm>
        <a:graphic>
          <a:graphicData uri="http://schemas.openxmlformats.org/drawingml/2006/table">
            <a:tbl>
              <a:tblPr firstRow="1" bandRow="1"/>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315026">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a:t>Feature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a:t>Description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367710602"/>
                  </a:ext>
                </a:extLst>
              </a:tr>
              <a:tr h="33155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Animations</a:t>
                      </a: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t>Expose learners to new skills and concepts.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698835149"/>
                  </a:ext>
                </a:extLst>
              </a:tr>
              <a:tr h="37941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Videos</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t>Expose learners to new skills and concepts.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904576505"/>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Check Your Understanding(CYU)</a:t>
                      </a:r>
                    </a:p>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Per topic online quiz to help learners gauge content understanding. </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876586054"/>
                  </a:ext>
                </a:extLst>
              </a:tr>
              <a:tr h="17814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Interactive Activities</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A variety of formats to help learners gauge content understanding.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3454703549"/>
                  </a:ext>
                </a:extLst>
              </a:tr>
              <a:tr h="2152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Syntax Checker</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Small simulations that expose learners to Cisco command line to practice configuration skills.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195331658"/>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PT Activity</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Simulation and modeling activities designed to explore, acquire, reinforce, and expand skills.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372713155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What to Expect in this Module (Cont.)</a:t>
            </a:r>
          </a:p>
        </p:txBody>
      </p:sp>
      <p:sp>
        <p:nvSpPr>
          <p:cNvPr id="3" name="Object2"/>
          <p:cNvSpPr/>
          <p:nvPr/>
        </p:nvSpPr>
        <p:spPr>
          <a:xfrm>
            <a:off x="0" y="457200"/>
            <a:ext cx="8229600" cy="48577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To facilitate learning, the following features within the GUI may be included in this module:</a:t>
            </a:r>
            <a:endParaRPr lang="en-US" sz="1400" dirty="0"/>
          </a:p>
        </p:txBody>
      </p:sp>
      <p:graphicFrame>
        <p:nvGraphicFramePr>
          <p:cNvPr id="6" name="Content Placeholder 3">
            <a:extLst>
              <a:ext uri="{FF2B5EF4-FFF2-40B4-BE49-F238E27FC236}">
                <a16:creationId xmlns:a16="http://schemas.microsoft.com/office/drawing/2014/main" id="{B301E6E4-B673-4817-8D4C-785B95B9ABF6}"/>
              </a:ext>
            </a:extLst>
          </p:cNvPr>
          <p:cNvGraphicFramePr>
            <a:graphicFrameLocks/>
          </p:cNvGraphicFramePr>
          <p:nvPr>
            <p:extLst>
              <p:ext uri="{D42A27DB-BD31-4B8C-83A1-F6EECF244321}">
                <p14:modId xmlns:p14="http://schemas.microsoft.com/office/powerpoint/2010/main" val="1034096672"/>
              </p:ext>
            </p:extLst>
          </p:nvPr>
        </p:nvGraphicFramePr>
        <p:xfrm>
          <a:off x="106756" y="1279280"/>
          <a:ext cx="8595235" cy="2011680"/>
        </p:xfrm>
        <a:graphic>
          <a:graphicData uri="http://schemas.openxmlformats.org/drawingml/2006/table">
            <a:tbl>
              <a:tblPr firstRow="1" bandRow="1"/>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l" fontAlgn="b"/>
                      <a:r>
                        <a:rPr lang="en-US" sz="1400" b="1" i="0" u="none" strike="noStrike" dirty="0">
                          <a:solidFill>
                            <a:schemeClr val="bg1"/>
                          </a:solidFill>
                          <a:effectLst/>
                          <a:latin typeface="+mn-lt"/>
                        </a:rPr>
                        <a:t>Feature</a:t>
                      </a: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a:t>Description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3768427975"/>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Hands-On Labs</a:t>
                      </a: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Labs designed for working with physical equipment.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258594367"/>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panose="020B0604020202020204" pitchFamily="34" charset="0"/>
                          <a:cs typeface="Arial" panose="020B0604020202020204" pitchFamily="34" charset="0"/>
                        </a:rPr>
                        <a:t>Class Activities</a:t>
                      </a:r>
                    </a:p>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These are found on the Instructor Resources page. Class Activities are designed to facilitate learning, class discussion, and collaboration.</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125566603"/>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Module Quizzes</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Self-assessments that integrate concepts and skills learned throughout the series of topics presented in the module.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831502776"/>
                  </a:ext>
                </a:extLst>
              </a:tr>
              <a:tr h="26509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Module Summary</a:t>
                      </a: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a:t>Briefly recaps module content.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267046280"/>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a:t>
            </a:fld>
            <a:endParaRPr lang="en-US" dirty="0"/>
          </a:p>
        </p:txBody>
      </p:sp>
    </p:spTree>
    <p:extLst>
      <p:ext uri="{BB962C8B-B14F-4D97-AF65-F5344CB8AC3E}">
        <p14:creationId xmlns:p14="http://schemas.microsoft.com/office/powerpoint/2010/main" val="1012271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Check Your Understanding</a:t>
            </a:r>
          </a:p>
        </p:txBody>
      </p:sp>
      <p:sp>
        <p:nvSpPr>
          <p:cNvPr id="3" name="Object2"/>
          <p:cNvSpPr/>
          <p:nvPr/>
        </p:nvSpPr>
        <p:spPr>
          <a:xfrm>
            <a:off x="185853" y="895815"/>
            <a:ext cx="8229600" cy="1809750"/>
          </a:xfrm>
          <a:prstGeom prst="rect">
            <a:avLst/>
          </a:prstGeom>
          <a:noFill/>
          <a:ln/>
        </p:spPr>
        <p:txBody>
          <a:bodyPr wrap="square" rtlCol="0" anchor="t"/>
          <a:lstStyle/>
          <a:p>
            <a:pPr marL="169863" lvl="0" indent="-169863" defTabSz="684213" fontAlgn="base">
              <a:spcBef>
                <a:spcPct val="30000"/>
              </a:spcBef>
              <a:spcAft>
                <a:spcPts val="600"/>
              </a:spcAft>
              <a:buClr>
                <a:srgbClr val="58585B"/>
              </a:buClr>
              <a:buSzPct val="90000"/>
              <a:buFont typeface="Arial" panose="020B0604020202020204" pitchFamily="34" charset="0"/>
              <a:buChar char="•"/>
            </a:pPr>
            <a:r>
              <a:rPr lang="en-US" sz="1500" dirty="0">
                <a:solidFill>
                  <a:srgbClr val="000000"/>
                </a:solidFill>
                <a:latin typeface="Arial"/>
                <a:ea typeface="ＭＳ Ｐゴシック" charset="0"/>
              </a:rPr>
              <a:t>Check Your Understanding activities are designed to let students quickly determine if they understand the content and can proceed, or if they need to review. </a:t>
            </a:r>
          </a:p>
          <a:p>
            <a:pPr marL="169863" lvl="0" indent="-169863" defTabSz="684213" fontAlgn="base">
              <a:spcBef>
                <a:spcPct val="30000"/>
              </a:spcBef>
              <a:spcAft>
                <a:spcPts val="600"/>
              </a:spcAft>
              <a:buClr>
                <a:srgbClr val="58585B"/>
              </a:buClr>
              <a:buSzPct val="90000"/>
              <a:buFont typeface="Arial" panose="020B0604020202020204" pitchFamily="34" charset="0"/>
              <a:buChar char="•"/>
            </a:pPr>
            <a:r>
              <a:rPr lang="en-US" sz="1500" dirty="0">
                <a:solidFill>
                  <a:srgbClr val="000000"/>
                </a:solidFill>
                <a:latin typeface="Arial"/>
                <a:ea typeface="ＭＳ Ｐゴシック" charset="0"/>
              </a:rPr>
              <a:t>Check Your Understanding activities </a:t>
            </a:r>
            <a:r>
              <a:rPr lang="en-US" sz="1500" b="1" i="1" dirty="0">
                <a:solidFill>
                  <a:srgbClr val="000000"/>
                </a:solidFill>
                <a:latin typeface="Arial"/>
                <a:ea typeface="ＭＳ Ｐゴシック" charset="0"/>
              </a:rPr>
              <a:t>do not </a:t>
            </a:r>
            <a:r>
              <a:rPr lang="en-US" sz="1500" dirty="0">
                <a:solidFill>
                  <a:srgbClr val="000000"/>
                </a:solidFill>
                <a:latin typeface="Arial"/>
                <a:ea typeface="ＭＳ Ｐゴシック" charset="0"/>
              </a:rPr>
              <a:t>affect student grades.</a:t>
            </a:r>
          </a:p>
          <a:p>
            <a:pPr marL="169863" lvl="0" indent="-169863" defTabSz="684213" fontAlgn="base">
              <a:spcBef>
                <a:spcPct val="30000"/>
              </a:spcBef>
              <a:spcAft>
                <a:spcPts val="600"/>
              </a:spcAft>
              <a:buClr>
                <a:srgbClr val="58585B"/>
              </a:buClr>
              <a:buSzPct val="90000"/>
              <a:buFont typeface="Arial" panose="020B0604020202020204" pitchFamily="34" charset="0"/>
              <a:buChar char="•"/>
            </a:pPr>
            <a:r>
              <a:rPr lang="en-US" sz="1500" dirty="0">
                <a:solidFill>
                  <a:srgbClr val="000000"/>
                </a:solidFill>
                <a:latin typeface="Arial"/>
                <a:ea typeface="ＭＳ Ｐゴシック" charset="0"/>
              </a:rPr>
              <a:t>There are no separate slides for these activities in the PPT. They are listed in the notes area of the slide that appears before these activities.</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 Activities</a:t>
            </a:r>
          </a:p>
        </p:txBody>
      </p:sp>
      <p:sp>
        <p:nvSpPr>
          <p:cNvPr id="3" name="Object2"/>
          <p:cNvSpPr/>
          <p:nvPr/>
        </p:nvSpPr>
        <p:spPr>
          <a:xfrm>
            <a:off x="0" y="457200"/>
            <a:ext cx="8229600" cy="44767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What activities are associated with this module?</a:t>
            </a:r>
            <a:endParaRPr lang="en-US" sz="1400" dirty="0"/>
          </a:p>
        </p:txBody>
      </p:sp>
      <p:graphicFrame>
        <p:nvGraphicFramePr>
          <p:cNvPr id="5" name="Content Placeholder 3">
            <a:extLst>
              <a:ext uri="{FF2B5EF4-FFF2-40B4-BE49-F238E27FC236}">
                <a16:creationId xmlns:a16="http://schemas.microsoft.com/office/drawing/2014/main" id="{944331F9-3622-4FFA-925C-D864D83F26F2}"/>
              </a:ext>
            </a:extLst>
          </p:cNvPr>
          <p:cNvGraphicFramePr>
            <a:graphicFrameLocks/>
          </p:cNvGraphicFramePr>
          <p:nvPr>
            <p:extLst>
              <p:ext uri="{D42A27DB-BD31-4B8C-83A1-F6EECF244321}">
                <p14:modId xmlns:p14="http://schemas.microsoft.com/office/powerpoint/2010/main" val="133205283"/>
              </p:ext>
            </p:extLst>
          </p:nvPr>
        </p:nvGraphicFramePr>
        <p:xfrm>
          <a:off x="455999" y="1147358"/>
          <a:ext cx="8229418" cy="1353786"/>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1.1.5</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Anatomy of an Attack</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1.2.7</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Network Topology Protection Overview</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p>
                      <a:pPr algn="ctr"/>
                      <a:r>
                        <a:rPr lang="en-US" sz="1100" dirty="0">
                          <a:latin typeface="Arial" panose="020B0604020202020204" pitchFamily="34" charset="0"/>
                          <a:cs typeface="Arial" panose="020B0604020202020204" pitchFamily="34" charset="0"/>
                        </a:rPr>
                        <a:t>1.3.2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r>
                        <a:rPr lang="en-US" sz="1100" dirty="0">
                          <a:latin typeface="Arial" panose="020B0604020202020204" pitchFamily="34" charset="0"/>
                          <a:cs typeface="Arial" panose="020B0604020202020204" pitchFamily="34" charset="0"/>
                        </a:rPr>
                        <a:t>Module 1 – Securing Networks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315861373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 Best Practices</a:t>
            </a:r>
          </a:p>
        </p:txBody>
      </p:sp>
      <p:sp>
        <p:nvSpPr>
          <p:cNvPr id="3" name="Object2"/>
          <p:cNvSpPr/>
          <p:nvPr/>
        </p:nvSpPr>
        <p:spPr>
          <a:xfrm>
            <a:off x="0" y="457200"/>
            <a:ext cx="8229600" cy="2943225"/>
          </a:xfrm>
          <a:prstGeom prst="rect">
            <a:avLst/>
          </a:prstGeom>
          <a:noFill/>
          <a:ln/>
        </p:spPr>
        <p:txBody>
          <a:bodyPr wrap="square" rtlCol="0" anchor="t"/>
          <a:lstStyle/>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Prior to teaching Module 1, the instructor should:</a:t>
            </a:r>
          </a:p>
          <a:p>
            <a:pPr marL="169863" lvl="0" indent="-169863" defTabSz="684213" fontAlgn="base">
              <a:lnSpc>
                <a:spcPct val="85000"/>
              </a:lnSpc>
              <a:spcBef>
                <a:spcPct val="30000"/>
              </a:spcBef>
              <a:spcAft>
                <a:spcPts val="600"/>
              </a:spcAft>
              <a:buClr>
                <a:srgbClr val="58585B"/>
              </a:buClr>
              <a:buSzPct val="90000"/>
              <a:buFont typeface="Arial" panose="020B0604020202020204" pitchFamily="34" charset="0"/>
              <a:buChar char="•"/>
            </a:pPr>
            <a:r>
              <a:rPr lang="en-US" sz="1600" dirty="0">
                <a:solidFill>
                  <a:srgbClr val="000000"/>
                </a:solidFill>
                <a:latin typeface="Arial"/>
                <a:ea typeface="ＭＳ Ｐゴシック" charset="0"/>
              </a:rPr>
              <a:t>Review the activities and assessments for this module.</a:t>
            </a:r>
          </a:p>
          <a:p>
            <a:pPr marL="169863" lvl="0" indent="-169863" defTabSz="684213" fontAlgn="base">
              <a:lnSpc>
                <a:spcPct val="85000"/>
              </a:lnSpc>
              <a:spcBef>
                <a:spcPct val="30000"/>
              </a:spcBef>
              <a:spcAft>
                <a:spcPts val="600"/>
              </a:spcAft>
              <a:buClr>
                <a:srgbClr val="58585B"/>
              </a:buClr>
              <a:buSzPct val="90000"/>
              <a:buFont typeface="Arial" panose="020B0604020202020204" pitchFamily="34" charset="0"/>
              <a:buChar char="•"/>
            </a:pPr>
            <a:r>
              <a:rPr lang="en-US" sz="1600" dirty="0">
                <a:solidFill>
                  <a:srgbClr val="000000"/>
                </a:solidFill>
                <a:latin typeface="Arial"/>
                <a:ea typeface="ＭＳ Ｐゴシック" charset="0"/>
              </a:rPr>
              <a:t>Try to include as many questions as possible to keep students engaged during classroom presentation.</a:t>
            </a:r>
          </a:p>
          <a:p>
            <a:pPr lvl="0" defTabSz="684213" fontAlgn="base">
              <a:lnSpc>
                <a:spcPct val="85000"/>
              </a:lnSpc>
              <a:spcBef>
                <a:spcPct val="30000"/>
              </a:spcBef>
              <a:spcAft>
                <a:spcPts val="600"/>
              </a:spcAft>
              <a:buClr>
                <a:srgbClr val="58585B"/>
              </a:buClr>
              <a:buSzPct val="90000"/>
            </a:pPr>
            <a:endParaRPr lang="en-US" sz="1600" dirty="0">
              <a:solidFill>
                <a:srgbClr val="000000"/>
              </a:solidFill>
              <a:latin typeface="Arial"/>
              <a:ea typeface="ＭＳ Ｐゴシック" charset="0"/>
            </a:endParaRPr>
          </a:p>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Topic 1.1</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class “What’s the last cyber attack you’ve read about?” Ideally you will have 2 – 4 students volunteer but be prepared with a few high-profile examples just in case.  </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them to use the “News” tab in an internet search bar and search for “network attacks”.  Have them peruse the headlines to see the number of recently posted links. Note: Not all generated links may be network related. </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students “In a company, where do you think the attacks are coming from?” Highlight that there are internal threats and some external threats.  </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students “How can a company’s data be stolen or lost?”</a:t>
            </a:r>
          </a:p>
          <a:p>
            <a:pPr marL="358775" lvl="1" indent="-215900" defTabSz="684213" fontAlgn="base">
              <a:spcBef>
                <a:spcPts val="300"/>
              </a:spcBef>
              <a:spcAft>
                <a:spcPts val="300"/>
              </a:spcAft>
              <a:buClr>
                <a:srgbClr val="58585B"/>
              </a:buClr>
              <a:buFont typeface="Arial" charset="0"/>
              <a:buChar char="•"/>
            </a:pPr>
            <a:endParaRPr lang="en-US" altLang="ja-JP" sz="1600" dirty="0">
              <a:solidFill>
                <a:srgbClr val="000000"/>
              </a:solidFill>
              <a:latin typeface="Arial"/>
              <a:ea typeface="ＭＳ Ｐゴシック" charset="0"/>
            </a:endParaRP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 Best Practices (Cont.)</a:t>
            </a:r>
          </a:p>
        </p:txBody>
      </p:sp>
      <p:sp>
        <p:nvSpPr>
          <p:cNvPr id="3" name="Object2"/>
          <p:cNvSpPr/>
          <p:nvPr/>
        </p:nvSpPr>
        <p:spPr>
          <a:xfrm>
            <a:off x="0" y="457200"/>
            <a:ext cx="8229600" cy="2943225"/>
          </a:xfrm>
          <a:prstGeom prst="rect">
            <a:avLst/>
          </a:prstGeom>
          <a:noFill/>
          <a:ln/>
        </p:spPr>
        <p:txBody>
          <a:bodyPr wrap="square" rtlCol="0" anchor="t"/>
          <a:lstStyle/>
          <a:p>
            <a:pPr lvl="0" defTabSz="684213" fontAlgn="base">
              <a:lnSpc>
                <a:spcPct val="85000"/>
              </a:lnSpc>
              <a:spcBef>
                <a:spcPct val="30000"/>
              </a:spcBef>
              <a:spcAft>
                <a:spcPts val="600"/>
              </a:spcAft>
              <a:buClr>
                <a:srgbClr val="58585B"/>
              </a:buClr>
              <a:buSzPct val="90000"/>
            </a:pPr>
            <a:r>
              <a:rPr lang="en-US" sz="1600" dirty="0">
                <a:solidFill>
                  <a:srgbClr val="000000"/>
                </a:solidFill>
                <a:latin typeface="Arial"/>
                <a:ea typeface="ＭＳ Ｐゴシック" charset="0"/>
              </a:rPr>
              <a:t>Topic 1.2</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class “What do they do to protect their network at home?”</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class “What would you do to secure a company’s network?”</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class “How would you secure network communication over the internet?”</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class “How would you secure a data center?”</a:t>
            </a:r>
          </a:p>
          <a:p>
            <a:pPr marL="358775" lvl="1" indent="-215900" defTabSz="684213" fontAlgn="base">
              <a:spcBef>
                <a:spcPts val="300"/>
              </a:spcBef>
              <a:spcAft>
                <a:spcPts val="300"/>
              </a:spcAft>
              <a:buClr>
                <a:srgbClr val="58585B"/>
              </a:buClr>
              <a:buFont typeface="Arial" charset="0"/>
              <a:buChar char="•"/>
            </a:pPr>
            <a:r>
              <a:rPr lang="en-US" altLang="ja-JP" sz="1600" dirty="0">
                <a:solidFill>
                  <a:srgbClr val="000000"/>
                </a:solidFill>
                <a:latin typeface="Arial"/>
                <a:ea typeface="ＭＳ Ｐゴシック" charset="0"/>
              </a:rPr>
              <a:t>Ask the class “How would you secure the personal devices that employees use to check corporate email?”</a:t>
            </a:r>
          </a:p>
          <a:p>
            <a:pPr marL="358775" lvl="1" indent="-215900" defTabSz="684213" fontAlgn="base">
              <a:spcBef>
                <a:spcPts val="300"/>
              </a:spcBef>
              <a:spcAft>
                <a:spcPts val="300"/>
              </a:spcAft>
              <a:buClr>
                <a:srgbClr val="58585B"/>
              </a:buClr>
              <a:buFont typeface="Arial" charset="0"/>
              <a:buChar char="•"/>
            </a:pPr>
            <a:endParaRPr lang="en-US" altLang="ja-JP" sz="1600" dirty="0">
              <a:solidFill>
                <a:srgbClr val="000000"/>
              </a:solidFill>
              <a:latin typeface="Arial"/>
              <a:ea typeface="ＭＳ Ｐゴシック" charset="0"/>
            </a:endParaRPr>
          </a:p>
          <a:p>
            <a:pPr marL="358775" lvl="1" indent="-215900" defTabSz="684213" fontAlgn="base">
              <a:spcBef>
                <a:spcPts val="300"/>
              </a:spcBef>
              <a:spcAft>
                <a:spcPts val="300"/>
              </a:spcAft>
              <a:buClr>
                <a:srgbClr val="58585B"/>
              </a:buClr>
              <a:buFont typeface="Arial" charset="0"/>
              <a:buChar char="•"/>
            </a:pPr>
            <a:endParaRPr lang="en-US" altLang="ja-JP" sz="1600" dirty="0">
              <a:solidFill>
                <a:srgbClr val="000000"/>
              </a:solidFill>
              <a:latin typeface="Arial"/>
              <a:ea typeface="ＭＳ Ｐゴシック" charset="0"/>
            </a:endParaRP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a:t>
            </a:fld>
            <a:endParaRPr lang="en-US" dirty="0"/>
          </a:p>
        </p:txBody>
      </p:sp>
    </p:spTree>
    <p:extLst>
      <p:ext uri="{BB962C8B-B14F-4D97-AF65-F5344CB8AC3E}">
        <p14:creationId xmlns:p14="http://schemas.microsoft.com/office/powerpoint/2010/main" val="1110953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 Securing Networks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Securing Networks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network security.</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80050609"/>
              </p:ext>
            </p:extLst>
          </p:nvPr>
        </p:nvGraphicFramePr>
        <p:xfrm>
          <a:off x="423333" y="1692275"/>
          <a:ext cx="8263467" cy="7515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b="1" dirty="0">
                          <a:effectLst/>
                          <a:latin typeface="Arial" panose="020B0604020202020204" pitchFamily="34" charset="0"/>
                          <a:ea typeface="Calibri" panose="020F0502020204030204" pitchFamily="34" charset="0"/>
                          <a:cs typeface="Arial" panose="020B0604020202020204" pitchFamily="34" charset="0"/>
                        </a:rPr>
                        <a:t>Current State of Affairs</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the current network security landscape.</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Network Topology Overview</a:t>
                      </a:r>
                    </a:p>
                  </a:txBody>
                  <a:tcPr marL="60168" marR="60168" marT="0" marB="0"/>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how all types of networks need to be protected.</a:t>
                      </a: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17980916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1.1 Current State of Affairs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Networks Are Targets</a:t>
            </a:r>
          </a:p>
        </p:txBody>
      </p:sp>
      <p:sp>
        <p:nvSpPr>
          <p:cNvPr id="5" name="Object4"/>
          <p:cNvSpPr/>
          <p:nvPr/>
        </p:nvSpPr>
        <p:spPr>
          <a:xfrm>
            <a:off x="0" y="914400"/>
            <a:ext cx="292417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Networks are routinely under attack. A quick internet search for network attacks will return many articles about them. Kapersky maintains the interactive Cyberthreat Real-Time Map display of current network attacks. The attack data is submitted from Kapersky network security products that are deployed worldwide. </a:t>
            </a:r>
            <a:endParaRPr lang="en-US" sz="1400" dirty="0"/>
          </a:p>
        </p:txBody>
      </p:sp>
      <p:pic>
        <p:nvPicPr>
          <p:cNvPr id="4" name="Picture 3">
            <a:extLst>
              <a:ext uri="{FF2B5EF4-FFF2-40B4-BE49-F238E27FC236}">
                <a16:creationId xmlns:a16="http://schemas.microsoft.com/office/drawing/2014/main" id="{A23BE80E-9BDA-43D7-BCB2-321CCCBECD7D}"/>
              </a:ext>
            </a:extLst>
          </p:cNvPr>
          <p:cNvPicPr>
            <a:picLocks noChangeAspect="1"/>
          </p:cNvPicPr>
          <p:nvPr/>
        </p:nvPicPr>
        <p:blipFill>
          <a:blip r:embed="rId3"/>
          <a:stretch>
            <a:fillRect/>
          </a:stretch>
        </p:blipFill>
        <p:spPr>
          <a:xfrm>
            <a:off x="3296534" y="887584"/>
            <a:ext cx="5618866" cy="301766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440055"/>
          </a:xfrm>
          <a:prstGeom prst="rect">
            <a:avLst/>
          </a:prstGeom>
          <a:noFill/>
          <a:ln/>
        </p:spPr>
        <p:txBody>
          <a:bodyPr wrap="square" rtlCol="0"/>
          <a:lstStyle/>
          <a:p>
            <a:pPr marL="0" indent="0">
              <a:buNone/>
            </a:pPr>
            <a:r>
              <a:rPr lang="en-US" dirty="0"/>
              <a:t>Reasons for Network Security</a:t>
            </a:r>
          </a:p>
        </p:txBody>
      </p:sp>
      <p:sp>
        <p:nvSpPr>
          <p:cNvPr id="5" name="Object4"/>
          <p:cNvSpPr/>
          <p:nvPr/>
        </p:nvSpPr>
        <p:spPr>
          <a:xfrm>
            <a:off x="0" y="714375"/>
            <a:ext cx="8953500" cy="10858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Network security breaches can disrupt e-commerce, cause the loss of business data, threaten people’s privacy, and compromise the integrity of information. The Cisco Talos Intelligence Group website provides comprehensive security and threat intelligence. The Cisco Product Security Incident Response Team (PSIRT), is responsible for investigating and mitigating potential vulnerabilities in Cisco products. </a:t>
            </a:r>
            <a:endParaRPr lang="en-US" sz="1400" dirty="0"/>
          </a:p>
        </p:txBody>
      </p:sp>
      <p:pic>
        <p:nvPicPr>
          <p:cNvPr id="6" name="Picture 5">
            <a:extLst>
              <a:ext uri="{FF2B5EF4-FFF2-40B4-BE49-F238E27FC236}">
                <a16:creationId xmlns:a16="http://schemas.microsoft.com/office/drawing/2014/main" id="{0048A273-5A4C-42EE-899C-BF0DED5CDF02}"/>
              </a:ext>
            </a:extLst>
          </p:cNvPr>
          <p:cNvPicPr>
            <a:picLocks noChangeAspect="1"/>
          </p:cNvPicPr>
          <p:nvPr/>
        </p:nvPicPr>
        <p:blipFill>
          <a:blip r:embed="rId3"/>
          <a:stretch>
            <a:fillRect/>
          </a:stretch>
        </p:blipFill>
        <p:spPr>
          <a:xfrm>
            <a:off x="303250" y="1981856"/>
            <a:ext cx="3863589" cy="2300732"/>
          </a:xfrm>
          <a:prstGeom prst="rect">
            <a:avLst/>
          </a:prstGeom>
        </p:spPr>
      </p:pic>
      <p:pic>
        <p:nvPicPr>
          <p:cNvPr id="7" name="Picture 6">
            <a:extLst>
              <a:ext uri="{FF2B5EF4-FFF2-40B4-BE49-F238E27FC236}">
                <a16:creationId xmlns:a16="http://schemas.microsoft.com/office/drawing/2014/main" id="{F1167876-8311-4E3B-B6B0-2D1D5B1A86EA}"/>
              </a:ext>
            </a:extLst>
          </p:cNvPr>
          <p:cNvPicPr>
            <a:picLocks noChangeAspect="1"/>
          </p:cNvPicPr>
          <p:nvPr/>
        </p:nvPicPr>
        <p:blipFill>
          <a:blip r:embed="rId4"/>
          <a:stretch>
            <a:fillRect/>
          </a:stretch>
        </p:blipFill>
        <p:spPr>
          <a:xfrm>
            <a:off x="4735778" y="1981856"/>
            <a:ext cx="3779571" cy="25053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Vectors of Network Attacks</a:t>
            </a:r>
          </a:p>
        </p:txBody>
      </p:sp>
      <p:sp>
        <p:nvSpPr>
          <p:cNvPr id="5" name="Object4"/>
          <p:cNvSpPr/>
          <p:nvPr/>
        </p:nvSpPr>
        <p:spPr>
          <a:xfrm>
            <a:off x="-1" y="769620"/>
            <a:ext cx="898207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attack vector is a path by which a threat actor can gain access to a server, host, or network. Attack vectors originate from inside or outside the corporate network. Threat actors may target a network through the internet, to disrupt network operations and create a denial of service (DoS) attack.)</a:t>
            </a:r>
            <a:endParaRPr lang="en-US" sz="1400" dirty="0"/>
          </a:p>
        </p:txBody>
      </p:sp>
      <p:pic>
        <p:nvPicPr>
          <p:cNvPr id="4" name="Picture 3">
            <a:extLst>
              <a:ext uri="{FF2B5EF4-FFF2-40B4-BE49-F238E27FC236}">
                <a16:creationId xmlns:a16="http://schemas.microsoft.com/office/drawing/2014/main" id="{943E9C5F-51BE-43FF-9BC9-05DC8176D35A}"/>
              </a:ext>
            </a:extLst>
          </p:cNvPr>
          <p:cNvPicPr>
            <a:picLocks noChangeAspect="1"/>
          </p:cNvPicPr>
          <p:nvPr/>
        </p:nvPicPr>
        <p:blipFill>
          <a:blip r:embed="rId3"/>
          <a:stretch>
            <a:fillRect/>
          </a:stretch>
        </p:blipFill>
        <p:spPr>
          <a:xfrm>
            <a:off x="1880099" y="1684020"/>
            <a:ext cx="4856775" cy="29451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Loss</a:t>
            </a:r>
          </a:p>
        </p:txBody>
      </p:sp>
      <p:graphicFrame>
        <p:nvGraphicFramePr>
          <p:cNvPr id="13" name="Table 12"/>
          <p:cNvGraphicFramePr>
            <a:graphicFrameLocks noGrp="1"/>
          </p:cNvGraphicFramePr>
          <p:nvPr>
            <p:extLst>
              <p:ext uri="{D42A27DB-BD31-4B8C-83A1-F6EECF244321}">
                <p14:modId xmlns:p14="http://schemas.microsoft.com/office/powerpoint/2010/main" val="2741416098"/>
              </p:ext>
            </p:extLst>
          </p:nvPr>
        </p:nvGraphicFramePr>
        <p:xfrm>
          <a:off x="91440" y="721995"/>
          <a:ext cx="8961120" cy="3703320"/>
        </p:xfrm>
        <a:graphic>
          <a:graphicData uri="http://schemas.openxmlformats.org/drawingml/2006/table">
            <a:tbl>
              <a:tblPr/>
              <a:tblGrid>
                <a:gridCol w="2014678">
                  <a:extLst>
                    <a:ext uri="{9D8B030D-6E8A-4147-A177-3AD203B41FA5}">
                      <a16:colId xmlns:a16="http://schemas.microsoft.com/office/drawing/2014/main" val="20000"/>
                    </a:ext>
                  </a:extLst>
                </a:gridCol>
                <a:gridCol w="6946442">
                  <a:extLst>
                    <a:ext uri="{9D8B030D-6E8A-4147-A177-3AD203B41FA5}">
                      <a16:colId xmlns:a16="http://schemas.microsoft.com/office/drawing/2014/main" val="20001"/>
                    </a:ext>
                  </a:extLst>
                </a:gridCol>
              </a:tblGrid>
              <a:tr h="0">
                <a:tc>
                  <a:txBody>
                    <a:bodyPr/>
                    <a:lstStyle/>
                    <a:p>
                      <a:r>
                        <a:rPr lang="en-US" sz="1200" dirty="0">
                          <a:solidFill>
                            <a:srgbClr val="FFFFFF"/>
                          </a:solidFill>
                        </a:rPr>
                        <a:t>Term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Definition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rPr>
                        <a:t>Email/Social Networking</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The most common vector for data loss includes instant messaging software and social media sites. For instance, intercepted email or IMs could be captured and confidential information revealed.</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rPr>
                        <a:t>Unencrypted Devices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400" dirty="0">
                          <a:solidFill>
                            <a:srgbClr val="58585B"/>
                          </a:solidFill>
                        </a:rPr>
                        <a:t>A stolen corporate laptop typically contains confidential organizational data. If the data is not stored using an encryption algorithm, the thief can retrieve valuable confidential data.</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2"/>
                  </a:ext>
                </a:extLst>
              </a:tr>
              <a:tr h="0">
                <a:tc>
                  <a:txBody>
                    <a:bodyPr/>
                    <a:lstStyle/>
                    <a:p>
                      <a:r>
                        <a:rPr lang="en-US" sz="1400" dirty="0">
                          <a:solidFill>
                            <a:srgbClr val="58585B"/>
                          </a:solidFill>
                        </a:rPr>
                        <a:t>Cloud Storage Devices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Saving data to the cloud has many potential benefits. However, sensitive data can be lost if access to the cloud is compromised due to weak security settings.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rPr>
                        <a:t>Removable Media</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400" dirty="0">
                          <a:solidFill>
                            <a:srgbClr val="58585B"/>
                          </a:solidFill>
                        </a:rPr>
                        <a:t>One risk is that an employee could perform an unauthorized transfer of data to a USB drive. Another risk is that a USB drive containing valuable corporate data could be lost.</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4"/>
                  </a:ext>
                </a:extLst>
              </a:tr>
              <a:tr h="0">
                <a:tc>
                  <a:txBody>
                    <a:bodyPr/>
                    <a:lstStyle/>
                    <a:p>
                      <a:r>
                        <a:rPr lang="en-US" sz="1400" dirty="0">
                          <a:solidFill>
                            <a:srgbClr val="58585B"/>
                          </a:solidFill>
                        </a:rPr>
                        <a:t>Hard Copy</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Sensitive data should be disposed of thoroughly. For example, confidential data should be shredded when no longer required. Otherwise, a thief could retrieve discarded reports and gain valuable information.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dirty="0">
                          <a:solidFill>
                            <a:srgbClr val="58585B"/>
                          </a:solidFill>
                        </a:rPr>
                        <a:t>Improper Access Control</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400" dirty="0">
                          <a:solidFill>
                            <a:srgbClr val="58585B"/>
                          </a:solidFill>
                        </a:rPr>
                        <a:t>Passwords are the first line of defense. Stolen passwords or weak passwords which have been compromised can provide an attacker easy access to data.</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Current State of Affairs</a:t>
            </a:r>
          </a:p>
        </p:txBody>
      </p:sp>
      <p:sp>
        <p:nvSpPr>
          <p:cNvPr id="3" name="Object2"/>
          <p:cNvSpPr>
            <a:spLocks noGrp="1"/>
          </p:cNvSpPr>
          <p:nvPr>
            <p:ph type="body" idx="100" hasCustomPrompt="1"/>
          </p:nvPr>
        </p:nvSpPr>
        <p:spPr>
          <a:xfrm>
            <a:off x="0" y="274320"/>
            <a:ext cx="9144000" cy="460718"/>
          </a:xfrm>
          <a:prstGeom prst="rect">
            <a:avLst/>
          </a:prstGeom>
          <a:noFill/>
          <a:ln/>
        </p:spPr>
        <p:txBody>
          <a:bodyPr wrap="square" rtlCol="0"/>
          <a:lstStyle/>
          <a:p>
            <a:pPr marL="0" indent="0">
              <a:buNone/>
            </a:pPr>
            <a:r>
              <a:rPr lang="en-US" dirty="0"/>
              <a:t>Video - Anatomy of an Attack</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endParaRPr lang="en-US" sz="1400" dirty="0"/>
          </a:p>
        </p:txBody>
      </p:sp>
      <p:pic>
        <p:nvPicPr>
          <p:cNvPr id="4" name="Picture 3">
            <a:extLst>
              <a:ext uri="{FF2B5EF4-FFF2-40B4-BE49-F238E27FC236}">
                <a16:creationId xmlns:a16="http://schemas.microsoft.com/office/drawing/2014/main" id="{524E7E4B-3176-4946-B187-67A443C98302}"/>
              </a:ext>
            </a:extLst>
          </p:cNvPr>
          <p:cNvPicPr>
            <a:picLocks noChangeAspect="1"/>
          </p:cNvPicPr>
          <p:nvPr/>
        </p:nvPicPr>
        <p:blipFill>
          <a:blip r:embed="rId3"/>
          <a:stretch>
            <a:fillRect/>
          </a:stretch>
        </p:blipFill>
        <p:spPr>
          <a:xfrm>
            <a:off x="1493253" y="1031926"/>
            <a:ext cx="6157494" cy="336833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1.2 Network Topology Overview</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Campus Area Networks</a:t>
            </a:r>
          </a:p>
        </p:txBody>
      </p:sp>
      <p:graphicFrame>
        <p:nvGraphicFramePr>
          <p:cNvPr id="16" name="Table 15"/>
          <p:cNvGraphicFramePr>
            <a:graphicFrameLocks noGrp="1"/>
          </p:cNvGraphicFramePr>
          <p:nvPr>
            <p:extLst>
              <p:ext uri="{D42A27DB-BD31-4B8C-83A1-F6EECF244321}">
                <p14:modId xmlns:p14="http://schemas.microsoft.com/office/powerpoint/2010/main" val="3796495802"/>
              </p:ext>
            </p:extLst>
          </p:nvPr>
        </p:nvGraphicFramePr>
        <p:xfrm>
          <a:off x="91440" y="656570"/>
          <a:ext cx="8961120" cy="3977640"/>
        </p:xfrm>
        <a:graphic>
          <a:graphicData uri="http://schemas.openxmlformats.org/drawingml/2006/table">
            <a:tbl>
              <a:tblPr/>
              <a:tblGrid>
                <a:gridCol w="1385091">
                  <a:extLst>
                    <a:ext uri="{9D8B030D-6E8A-4147-A177-3AD203B41FA5}">
                      <a16:colId xmlns:a16="http://schemas.microsoft.com/office/drawing/2014/main" val="20000"/>
                    </a:ext>
                  </a:extLst>
                </a:gridCol>
                <a:gridCol w="7576029">
                  <a:extLst>
                    <a:ext uri="{9D8B030D-6E8A-4147-A177-3AD203B41FA5}">
                      <a16:colId xmlns:a16="http://schemas.microsoft.com/office/drawing/2014/main" val="20001"/>
                    </a:ext>
                  </a:extLst>
                </a:gridCol>
              </a:tblGrid>
              <a:tr h="0">
                <a:tc>
                  <a:txBody>
                    <a:bodyPr/>
                    <a:lstStyle/>
                    <a:p>
                      <a:r>
                        <a:rPr lang="en-US" sz="1200" dirty="0">
                          <a:solidFill>
                            <a:srgbClr val="FFFFFF"/>
                          </a:solidFill>
                        </a:rPr>
                        <a:t>Term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Definition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VPN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Cisco ISR is secured. It protects data in motion that is flowing from the CAN to the outside world by establishing Virtual Private Networks (VPNs). VPNs ensure data confidentiality and integrity from authenticated sources.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ASA Firewall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A Cisco Adaptive Security Appliance (ASA) firewall performs stateful packet filtering to filter return traffic from the outside network into the campus network.</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2"/>
                  </a:ext>
                </a:extLst>
              </a:tr>
              <a:tr h="0">
                <a:tc>
                  <a:txBody>
                    <a:bodyPr/>
                    <a:lstStyle/>
                    <a:p>
                      <a:r>
                        <a:rPr lang="en-US" sz="1200" dirty="0">
                          <a:solidFill>
                            <a:srgbClr val="58585B"/>
                          </a:solidFill>
                        </a:rPr>
                        <a:t>IPS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Cisco Intrusion Prevention System (IPS) device continuously monitors incoming and outgoing network traffic for malicious activity. It logs information about the activity and attempts to block and report it.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Layer 3 Switches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These distribution layer switches are secured and provide secure redundant trunk connections to the Layer 2 switches. Several different security features can be implemented, such as ACLs, DHCP snooping, Dynamic ARP Inspection (DAI), and IP source guard.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4"/>
                  </a:ext>
                </a:extLst>
              </a:tr>
              <a:tr h="0">
                <a:tc>
                  <a:txBody>
                    <a:bodyPr/>
                    <a:lstStyle/>
                    <a:p>
                      <a:r>
                        <a:rPr lang="en-US" sz="1200" dirty="0">
                          <a:solidFill>
                            <a:srgbClr val="58585B"/>
                          </a:solidFill>
                        </a:rPr>
                        <a:t>Layer 2 Switches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These access layer switches are secured and connect user-facing ports to the network. Several different security features can be implemented, such as port security, DHCP snooping, and 802.1X user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ESA/WSA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A Cisco Email Security Appliance (ESA) and Web Security Appliance (WSA) provide advanced threat defense, application visibility and control, reporting, and secure mobility to secure and control email and web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6"/>
                  </a:ext>
                </a:extLst>
              </a:tr>
              <a:tr h="0">
                <a:tc>
                  <a:txBody>
                    <a:bodyPr/>
                    <a:lstStyle/>
                    <a:p>
                      <a:r>
                        <a:rPr lang="en-US" sz="1200" dirty="0">
                          <a:solidFill>
                            <a:srgbClr val="58585B"/>
                          </a:solidFill>
                        </a:rPr>
                        <a:t>AAA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An authentication, authorization, and accounting (AAA) server authenticates users, authorizes what they are allowed to do, and tracks what they are doing.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dirty="0">
                          <a:solidFill>
                            <a:srgbClr val="58585B"/>
                          </a:solidFill>
                        </a:rPr>
                        <a:t>Hosts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tc>
                  <a:txBody>
                    <a:bodyPr/>
                    <a:lstStyle/>
                    <a:p>
                      <a:r>
                        <a:rPr lang="en-US" sz="1200" dirty="0">
                          <a:solidFill>
                            <a:srgbClr val="58585B"/>
                          </a:solidFill>
                        </a:rPr>
                        <a:t>End points are secured using various features including antivirus and antimalware software, Host Intrusion Protection System features, and 802.1X authentication features.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Small Office and Home Office Networks</a:t>
            </a:r>
          </a:p>
        </p:txBody>
      </p:sp>
      <p:sp>
        <p:nvSpPr>
          <p:cNvPr id="5" name="Object4"/>
          <p:cNvSpPr/>
          <p:nvPr/>
        </p:nvSpPr>
        <p:spPr>
          <a:xfrm>
            <a:off x="127596" y="914400"/>
            <a:ext cx="38862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figure displays a sample SOHO secured with a consumer-grade wireless router which provides integrated firewall features and secure wireless connections. The Layer 2 Switch is an access layer switch that is hardened with various security measures. It connects user-facing ports that use port security to the SOHO network. Wireless hosts connect to the wireless network using WPA2 data encryption technology. Hosts typically have antivirus and antimalware software installed. Combined, these security measures provide comprehensive defense at different layers of the network.</a:t>
            </a:r>
            <a:endParaRPr lang="en-US" sz="1400" dirty="0"/>
          </a:p>
        </p:txBody>
      </p:sp>
      <p:pic>
        <p:nvPicPr>
          <p:cNvPr id="4" name="Picture 3">
            <a:extLst>
              <a:ext uri="{FF2B5EF4-FFF2-40B4-BE49-F238E27FC236}">
                <a16:creationId xmlns:a16="http://schemas.microsoft.com/office/drawing/2014/main" id="{D34DFC0C-7A05-4D74-923E-DF227EE0BC17}"/>
              </a:ext>
            </a:extLst>
          </p:cNvPr>
          <p:cNvPicPr>
            <a:picLocks noChangeAspect="1"/>
          </p:cNvPicPr>
          <p:nvPr/>
        </p:nvPicPr>
        <p:blipFill>
          <a:blip r:embed="rId3"/>
          <a:stretch>
            <a:fillRect/>
          </a:stretch>
        </p:blipFill>
        <p:spPr>
          <a:xfrm>
            <a:off x="4470996" y="914400"/>
            <a:ext cx="4215804" cy="312820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Wide Area Networks</a:t>
            </a:r>
          </a:p>
        </p:txBody>
      </p:sp>
      <p:sp>
        <p:nvSpPr>
          <p:cNvPr id="5" name="Object4"/>
          <p:cNvSpPr/>
          <p:nvPr/>
        </p:nvSpPr>
        <p:spPr>
          <a:xfrm>
            <a:off x="95250" y="750570"/>
            <a:ext cx="3267075"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Wide Area Networks (WANs) span a wide geographical area, often over the public internet. Organizations must ensure secure transport for the data in motion as it travels between sites over the public network. Network security professionals must use secure devices on the edge of the network. In the figure, the main site is protected by an Adaptive Security Appliance (ASA), which provides stateful firewall features and establishes secure Virtual Private Network (VPN) tunnels to various destinations. </a:t>
            </a:r>
            <a:endParaRPr lang="en-US" sz="1400" dirty="0"/>
          </a:p>
        </p:txBody>
      </p:sp>
      <p:pic>
        <p:nvPicPr>
          <p:cNvPr id="4" name="Picture 3">
            <a:extLst>
              <a:ext uri="{FF2B5EF4-FFF2-40B4-BE49-F238E27FC236}">
                <a16:creationId xmlns:a16="http://schemas.microsoft.com/office/drawing/2014/main" id="{B36CE608-5001-4B3B-8E63-3FA6977C6238}"/>
              </a:ext>
            </a:extLst>
          </p:cNvPr>
          <p:cNvPicPr>
            <a:picLocks noChangeAspect="1"/>
          </p:cNvPicPr>
          <p:nvPr/>
        </p:nvPicPr>
        <p:blipFill>
          <a:blip r:embed="rId3"/>
          <a:stretch>
            <a:fillRect/>
          </a:stretch>
        </p:blipFill>
        <p:spPr>
          <a:xfrm>
            <a:off x="4122165" y="731520"/>
            <a:ext cx="4793235" cy="31686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Center Networks</a:t>
            </a:r>
          </a:p>
        </p:txBody>
      </p:sp>
      <p:sp>
        <p:nvSpPr>
          <p:cNvPr id="5" name="Object4"/>
          <p:cNvSpPr/>
          <p:nvPr/>
        </p:nvSpPr>
        <p:spPr>
          <a:xfrm>
            <a:off x="323850" y="760095"/>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Data center networks are typically housed in an off-site facility to store sensitive or proprietary data. These sites are connected to corporate sites using VPN technology with ASA devices and integrated data center switches. Because they store such vast quantities of sensitive, business-critical information, physical security is critical to their operation. Physical security not only protects access to the facility but also protects people and equipment. For example, fire alarms, sprinklers, seismically-braced server racks, redundant heating, ventilation, and air conditioning (HVAC), and UPS systems are in place to protect people, equipment, and data.</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Data center physical security can be divided into two areas: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Outside perimeter security</a:t>
            </a:r>
            <a:r>
              <a:rPr lang="en-US" sz="1400" dirty="0">
                <a:solidFill>
                  <a:srgbClr val="000000"/>
                </a:solidFill>
                <a:latin typeface="Arial" pitchFamily="34" charset="0"/>
                <a:ea typeface="Arial" pitchFamily="34" charset="-122"/>
                <a:cs typeface="Arial" pitchFamily="34" charset="-120"/>
              </a:rPr>
              <a:t> - This can include on-premise security officers, fences, gates, continuous video surveillance, and security breach alarms.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Inside perimeter security </a:t>
            </a:r>
            <a:r>
              <a:rPr lang="en-US" sz="1400" dirty="0">
                <a:solidFill>
                  <a:srgbClr val="000000"/>
                </a:solidFill>
                <a:latin typeface="Arial" pitchFamily="34" charset="0"/>
                <a:ea typeface="Arial" pitchFamily="34" charset="-122"/>
                <a:cs typeface="Arial" pitchFamily="34" charset="-120"/>
              </a:rPr>
              <a:t>- This can include continuous video surveillance, electronic motion detectors, security traps, and biometric access and exit sensors.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Cloud Networks and Virtualization</a:t>
            </a:r>
          </a:p>
        </p:txBody>
      </p:sp>
      <p:sp>
        <p:nvSpPr>
          <p:cNvPr id="5" name="Object4"/>
          <p:cNvSpPr/>
          <p:nvPr/>
        </p:nvSpPr>
        <p:spPr>
          <a:xfrm>
            <a:off x="0" y="708660"/>
            <a:ext cx="87630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terms “cloud computing” and “virtualization” are often used interchangeably; however, they mean different things. Virtualization is the foundation of cloud computing. Without it, cloud computing, as it is most-widely implemented, would not be possible. Cloud computing separates the application from the hardware. Virtualization separates the operating system from the hardware. The cloud network consists of physical and virtual servers usually found in data centers. Data centers are increasingly using virtual machines (VM) to provide server services to their clients. This allows for multiple operating systems to exist on a single hardware platform. VMs are prone to specific targeted attacks: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Hyperjacking</a:t>
            </a:r>
            <a:r>
              <a:rPr lang="en-US" sz="1400" dirty="0">
                <a:solidFill>
                  <a:srgbClr val="000000"/>
                </a:solidFill>
                <a:latin typeface="Arial" pitchFamily="34" charset="0"/>
                <a:ea typeface="Arial" pitchFamily="34" charset="-122"/>
                <a:cs typeface="Arial" pitchFamily="34" charset="-120"/>
              </a:rPr>
              <a:t> -An attacker could hijack a VM hypervisor (VM controlling software) and then use it as a launch point to attack other devices on the data center network.</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Instant On Activation </a:t>
            </a:r>
            <a:r>
              <a:rPr lang="en-US" sz="1400" dirty="0">
                <a:solidFill>
                  <a:srgbClr val="000000"/>
                </a:solidFill>
                <a:latin typeface="Arial" pitchFamily="34" charset="0"/>
                <a:ea typeface="Arial" pitchFamily="34" charset="-122"/>
                <a:cs typeface="Arial" pitchFamily="34" charset="-120"/>
              </a:rPr>
              <a:t>- When a VM that has not been used for a period of time is brought online, it may have outdated security policies that deviate from the baseline security and can introduce security vulnerabilities.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Antivirus Storms </a:t>
            </a:r>
            <a:r>
              <a:rPr lang="en-US" sz="1400" dirty="0">
                <a:solidFill>
                  <a:srgbClr val="000000"/>
                </a:solidFill>
                <a:latin typeface="Arial" pitchFamily="34" charset="0"/>
                <a:ea typeface="Arial" pitchFamily="34" charset="-122"/>
                <a:cs typeface="Arial" pitchFamily="34" charset="-120"/>
              </a:rPr>
              <a:t>- This happens when all VMs attempt to download antivirus data files at the same time.</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Topology Overview</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Evolving Network Border</a:t>
            </a:r>
          </a:p>
        </p:txBody>
      </p:sp>
      <p:sp>
        <p:nvSpPr>
          <p:cNvPr id="5" name="Object4"/>
          <p:cNvSpPr/>
          <p:nvPr/>
        </p:nvSpPr>
        <p:spPr>
          <a:xfrm>
            <a:off x="-1" y="750570"/>
            <a:ext cx="9077325" cy="2571750"/>
          </a:xfrm>
          <a:prstGeom prst="rect">
            <a:avLst/>
          </a:prstGeom>
          <a:noFill/>
          <a:ln/>
        </p:spPr>
        <p:txBody>
          <a:bodyPr wrap="square" rtlCol="0" anchor="t"/>
          <a:lstStyle/>
          <a:p>
            <a:pPr>
              <a:lnSpc>
                <a:spcPts val="2000"/>
              </a:lnSpc>
            </a:pPr>
            <a:r>
              <a:rPr lang="en-US" sz="1300" dirty="0">
                <a:solidFill>
                  <a:srgbClr val="000000"/>
                </a:solidFill>
                <a:latin typeface="Arial" pitchFamily="34" charset="0"/>
                <a:ea typeface="Arial" pitchFamily="34" charset="-122"/>
                <a:cs typeface="Arial" pitchFamily="34" charset="-120"/>
              </a:rPr>
              <a:t>Smartphones, tablets, etc., are becoming substitutes for the office PC that is behind a firewall. This trend is known as Bring Your Own Device (BYOD). To accommodate this, Cisco developed the Borderless Network. In a Borderless Network, access to resources can be initiated by users from many locations, on many types of end devices, using various connectivity methods.  Cisco devices support Mobile Device Management (MDM) features: </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Data Encryption </a:t>
            </a:r>
            <a:r>
              <a:rPr lang="en-US" sz="1300" dirty="0">
                <a:solidFill>
                  <a:srgbClr val="000000"/>
                </a:solidFill>
                <a:latin typeface="Arial" pitchFamily="34" charset="0"/>
                <a:cs typeface="Arial" pitchFamily="34" charset="-120"/>
              </a:rPr>
              <a:t>- MDM features can ensure that only devices that support data encryption and have it enabled can access the network and content.</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PIN Enforcement </a:t>
            </a:r>
            <a:r>
              <a:rPr lang="en-US" sz="1300" dirty="0">
                <a:solidFill>
                  <a:srgbClr val="000000"/>
                </a:solidFill>
                <a:latin typeface="Arial" pitchFamily="34" charset="0"/>
                <a:cs typeface="Arial" pitchFamily="34" charset="-120"/>
              </a:rPr>
              <a:t>- Enforcing a PIN lock is the first and most effective step in preventing unauthorized access to a device.</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Data Wipe </a:t>
            </a:r>
            <a:r>
              <a:rPr lang="en-US" sz="1300" dirty="0">
                <a:solidFill>
                  <a:srgbClr val="000000"/>
                </a:solidFill>
                <a:latin typeface="Arial" pitchFamily="34" charset="0"/>
                <a:cs typeface="Arial" pitchFamily="34" charset="-120"/>
              </a:rPr>
              <a:t>- Lost or stolen devices can be remotely fully- or partially-wiped, either by the user or by an administrator via the MDM.</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Data Loss Prevention (DLP) </a:t>
            </a:r>
            <a:r>
              <a:rPr lang="en-US" sz="1300" dirty="0">
                <a:solidFill>
                  <a:srgbClr val="000000"/>
                </a:solidFill>
                <a:latin typeface="Arial" pitchFamily="34" charset="0"/>
                <a:cs typeface="Arial" pitchFamily="34" charset="-120"/>
              </a:rPr>
              <a:t>- DLP prevents authorized users from doing careless or malicious things with critical data.</a:t>
            </a:r>
          </a:p>
          <a:p>
            <a:pPr marL="285750" indent="-285750">
              <a:lnSpc>
                <a:spcPts val="2000"/>
              </a:lnSpc>
              <a:buFont typeface="Arial" panose="020B0604020202020204" pitchFamily="34" charset="0"/>
              <a:buChar char="•"/>
            </a:pPr>
            <a:r>
              <a:rPr lang="en-US" sz="1300" b="1" dirty="0">
                <a:solidFill>
                  <a:srgbClr val="000000"/>
                </a:solidFill>
                <a:latin typeface="Arial" pitchFamily="34" charset="0"/>
                <a:cs typeface="Arial" pitchFamily="34" charset="-120"/>
              </a:rPr>
              <a:t>Jailbreak/Root Detection </a:t>
            </a:r>
            <a:r>
              <a:rPr lang="en-US" sz="1300" dirty="0">
                <a:solidFill>
                  <a:srgbClr val="000000"/>
                </a:solidFill>
                <a:latin typeface="Arial" pitchFamily="34" charset="0"/>
                <a:cs typeface="Arial" pitchFamily="34" charset="-120"/>
              </a:rPr>
              <a:t>- Jailbreaking (on Apple iOS devices) and rooting (on Android devices) are a means to bypass the management of a device. MDM features can detect such bypasses and immediately restrict a device’s access to the network or assets.</a:t>
            </a:r>
            <a:endParaRPr lang="en-US" sz="13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1.3 Module 1: Securing Networks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Module 1: Securing Networks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Network security breaches can disrupt e-commerce, cause the loss of business data, threaten people’s privacy, and compromise the integrity of information.</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Many tools are available to help network administrators adapt, develop, and implement threat mitigation techniques, including the Cisco Talos Intelligence Group.</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Various DLP controls must be implemented, that combine strategic, operational, and tactical measures.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Elements of the defense-in-depth design include VPN, ASA firewall, IPS, Layer 3 switches, layer 2 switches, ESA/WSA, AAA server, and hosts. </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Network security professionals must use secure devices on the edge of the network.</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Data center physical security is divided into two areas: outside perimeter security and inside perimeter security.</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VMs are also prone to specific targeted attacks including hyperjacking, instant on activation, and antivirus storms. </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In a Borderless Network, access to resources can be initiated by users from many locations, on many types of endpoint devices, using various connectivity methods</a:t>
            </a:r>
            <a:r>
              <a:rPr lang="en-US" sz="1400" dirty="0"/>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Threats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graphicFrame>
        <p:nvGraphicFramePr>
          <p:cNvPr id="8" name="Table 9">
            <a:extLst>
              <a:ext uri="{FF2B5EF4-FFF2-40B4-BE49-F238E27FC236}">
                <a16:creationId xmlns:a16="http://schemas.microsoft.com/office/drawing/2014/main" id="{6AE227C6-9A57-4AA0-A450-EB7A17D6D42E}"/>
              </a:ext>
            </a:extLst>
          </p:cNvPr>
          <p:cNvGraphicFramePr>
            <a:graphicFrameLocks/>
          </p:cNvGraphicFramePr>
          <p:nvPr>
            <p:extLst>
              <p:ext uri="{D42A27DB-BD31-4B8C-83A1-F6EECF244321}">
                <p14:modId xmlns:p14="http://schemas.microsoft.com/office/powerpoint/2010/main" val="1929934892"/>
              </p:ext>
            </p:extLst>
          </p:nvPr>
        </p:nvGraphicFramePr>
        <p:xfrm>
          <a:off x="144463" y="693030"/>
          <a:ext cx="8853486" cy="3931920"/>
        </p:xfrm>
        <a:graphic>
          <a:graphicData uri="http://schemas.openxmlformats.org/drawingml/2006/table">
            <a:tbl>
              <a:tblPr firstRow="1" bandRow="1"/>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4406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285750" indent="-285750">
                        <a:buFont typeface="Arial" panose="020B0604020202020204" pitchFamily="34" charset="0"/>
                        <a:buChar char="•"/>
                      </a:pPr>
                      <a:r>
                        <a:rPr lang="en-US" sz="1400" b="0" dirty="0">
                          <a:solidFill>
                            <a:schemeClr val="tx1"/>
                          </a:solidFill>
                        </a:rPr>
                        <a:t>Cisco Talos Intelligence Group</a:t>
                      </a:r>
                    </a:p>
                    <a:p>
                      <a:pPr marL="285750" indent="-285750">
                        <a:buFont typeface="Arial" panose="020B0604020202020204" pitchFamily="34" charset="0"/>
                        <a:buChar char="•"/>
                      </a:pPr>
                      <a:r>
                        <a:rPr lang="en-US" sz="1400" b="0" dirty="0">
                          <a:solidFill>
                            <a:schemeClr val="tx1"/>
                          </a:solidFill>
                        </a:rPr>
                        <a:t>Cisco Product Security Incident Response Team (PSIRT)</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Attack vector</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Denial of service (DoS) attack</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Data Loss Prevention (DLP)</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Email/Social Networking</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Unencrypted Devices</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Cloud Storage Devices</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Removable Media</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Hard Copy</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Improper Access Control</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Campus Area Network (CAN)</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Defense in-depth</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VPN</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ASA Firewall</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IPS</a:t>
                      </a:r>
                    </a:p>
                  </a:txBody>
                  <a:tcPr>
                    <a:lnL w="12700" cap="flat" cmpd="sng" algn="ctr">
                      <a:solidFill>
                        <a:srgbClr val="58585B"/>
                      </a:solidFill>
                      <a:prstDash val="solid"/>
                      <a:round/>
                      <a:headEnd type="none" w="med" len="med"/>
                      <a:tailEnd type="none" w="med" len="med"/>
                    </a:lnL>
                    <a:lnR w="12700" cap="flat" cmpd="sng" algn="ctr">
                      <a:solidFill>
                        <a:srgbClr val="58585B"/>
                      </a:solidFill>
                      <a:prstDash val="solid"/>
                      <a:round/>
                      <a:headEnd type="none" w="med" len="med"/>
                      <a:tailEnd type="none" w="med" len="med"/>
                    </a:lnR>
                    <a:lnT w="12700" cap="flat" cmpd="sng" algn="ctr">
                      <a:solidFill>
                        <a:srgbClr val="58585B"/>
                      </a:solidFill>
                      <a:prstDash val="solid"/>
                      <a:round/>
                      <a:headEnd type="none" w="med" len="med"/>
                      <a:tailEnd type="none" w="med" len="med"/>
                    </a:lnT>
                    <a:lnB w="12700" cap="flat" cmpd="sng" algn="ctr">
                      <a:solidFill>
                        <a:srgbClr val="58585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Layer 3 Switches</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Layer 2 Switches</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ESA/WSA</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AAA Server</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Hosts</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Small office and home office (SOHO) network</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Wireless Protected Access 2 (WPA2)</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Wide Area Network (WAN)</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Cisco AnyConnect VPN client</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Data center network</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Heating, ventilation, and air conditioning (HVAC)</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Outside perimeter security</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Inside perimeter security</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Security trap</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Cloud computing</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Virtualization</a:t>
                      </a:r>
                    </a:p>
                    <a:p>
                      <a:pPr marL="285750" indent="-285750">
                        <a:buFont typeface="Arial" panose="020B0604020202020204" pitchFamily="34" charset="0"/>
                        <a:buChar char="•"/>
                      </a:pPr>
                      <a:r>
                        <a:rPr lang="en-US" sz="1400" b="0" dirty="0">
                          <a:solidFill>
                            <a:schemeClr val="tx1"/>
                          </a:solidFill>
                          <a:latin typeface="Arial" panose="020B0604020202020204" pitchFamily="34" charset="0"/>
                          <a:cs typeface="Arial" panose="020B0604020202020204" pitchFamily="34" charset="0"/>
                        </a:rPr>
                        <a:t>Cloud network</a:t>
                      </a:r>
                    </a:p>
                    <a:p>
                      <a:pPr marL="285750" indent="-285750">
                        <a:buFont typeface="Arial" panose="020B0604020202020204" pitchFamily="34" charset="0"/>
                        <a:buChar char="•"/>
                      </a:pPr>
                      <a:endParaRPr lang="en-US" sz="1400" b="0" dirty="0">
                        <a:solidFill>
                          <a:schemeClr val="tx1"/>
                        </a:solidFill>
                        <a:latin typeface="Arial" panose="020B0604020202020204" pitchFamily="34" charset="0"/>
                        <a:cs typeface="Arial" panose="020B0604020202020204" pitchFamily="34" charset="0"/>
                      </a:endParaRPr>
                    </a:p>
                  </a:txBody>
                  <a:tcPr>
                    <a:lnL w="12700" cap="flat" cmpd="sng" algn="ctr">
                      <a:solidFill>
                        <a:srgbClr val="58585B"/>
                      </a:solidFill>
                      <a:prstDash val="solid"/>
                      <a:round/>
                      <a:headEnd type="none" w="med" len="med"/>
                      <a:tailEnd type="none" w="med" len="med"/>
                    </a:lnL>
                    <a:lnR w="12700" cap="flat" cmpd="sng" algn="ctr">
                      <a:solidFill>
                        <a:srgbClr val="58585B"/>
                      </a:solidFill>
                      <a:prstDash val="solid"/>
                      <a:round/>
                      <a:headEnd type="none" w="med" len="med"/>
                      <a:tailEnd type="none" w="med" len="med"/>
                    </a:lnR>
                    <a:lnT w="12700" cap="flat" cmpd="sng" algn="ctr">
                      <a:solidFill>
                        <a:srgbClr val="58585B"/>
                      </a:solidFill>
                      <a:prstDash val="solid"/>
                      <a:round/>
                      <a:headEnd type="none" w="med" len="med"/>
                      <a:tailEnd type="none" w="med" len="med"/>
                    </a:lnT>
                    <a:lnB w="12700" cap="flat" cmpd="sng" algn="ctr">
                      <a:solidFill>
                        <a:srgbClr val="58585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879670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1881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Threats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 (Cont.)</a:t>
            </a:r>
          </a:p>
        </p:txBody>
      </p:sp>
      <p:graphicFrame>
        <p:nvGraphicFramePr>
          <p:cNvPr id="8" name="Table 9">
            <a:extLst>
              <a:ext uri="{FF2B5EF4-FFF2-40B4-BE49-F238E27FC236}">
                <a16:creationId xmlns:a16="http://schemas.microsoft.com/office/drawing/2014/main" id="{6AE227C6-9A57-4AA0-A450-EB7A17D6D42E}"/>
              </a:ext>
            </a:extLst>
          </p:cNvPr>
          <p:cNvGraphicFramePr>
            <a:graphicFrameLocks/>
          </p:cNvGraphicFramePr>
          <p:nvPr>
            <p:extLst>
              <p:ext uri="{D42A27DB-BD31-4B8C-83A1-F6EECF244321}">
                <p14:modId xmlns:p14="http://schemas.microsoft.com/office/powerpoint/2010/main" val="1133832312"/>
              </p:ext>
            </p:extLst>
          </p:nvPr>
        </p:nvGraphicFramePr>
        <p:xfrm>
          <a:off x="144463" y="805455"/>
          <a:ext cx="8853486" cy="3931920"/>
        </p:xfrm>
        <a:graphic>
          <a:graphicData uri="http://schemas.openxmlformats.org/drawingml/2006/table">
            <a:tbl>
              <a:tblPr firstRow="1" bandRow="1"/>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18778">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Virtual machine (VM)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Hyperjacking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Instant On Activation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VM hypervisor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Instant On Activation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Antivirus Storms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Cisco Secure Data Center solution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Secure Segmentation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Threat Defense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Visibility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Bring Your Own Device (BYOD)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Borderless Network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Mobile Device Management (MDM)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Data encryption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PIN enforcement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Data wipe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latin typeface="Arial" panose="020B0604020202020204" pitchFamily="34" charset="0"/>
                          <a:cs typeface="Arial" panose="020B0604020202020204" pitchFamily="34" charset="0"/>
                        </a:rPr>
                        <a:t>Data Loss Prevention (DLP)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b="0" dirty="0">
                        <a:solidFill>
                          <a:srgbClr val="000000"/>
                        </a:solidFill>
                        <a:latin typeface="Arial" panose="020B0604020202020204" pitchFamily="34" charset="0"/>
                        <a:cs typeface="Arial" panose="020B0604020202020204" pitchFamily="34" charset="0"/>
                      </a:endParaRPr>
                    </a:p>
                  </a:txBody>
                  <a:tcPr>
                    <a:lnL w="12700" cap="flat" cmpd="sng" algn="ctr">
                      <a:solidFill>
                        <a:srgbClr val="58585B"/>
                      </a:solidFill>
                      <a:prstDash val="solid"/>
                      <a:round/>
                      <a:headEnd type="none" w="med" len="med"/>
                      <a:tailEnd type="none" w="med" len="med"/>
                    </a:lnL>
                    <a:lnR w="12700" cap="flat" cmpd="sng" algn="ctr">
                      <a:solidFill>
                        <a:srgbClr val="58585B"/>
                      </a:solidFill>
                      <a:prstDash val="solid"/>
                      <a:round/>
                      <a:headEnd type="none" w="med" len="med"/>
                      <a:tailEnd type="none" w="med" len="med"/>
                    </a:lnR>
                    <a:lnT w="12700" cap="flat" cmpd="sng" algn="ctr">
                      <a:solidFill>
                        <a:srgbClr val="58585B"/>
                      </a:solidFill>
                      <a:prstDash val="solid"/>
                      <a:round/>
                      <a:headEnd type="none" w="med" len="med"/>
                      <a:tailEnd type="none" w="med" len="med"/>
                    </a:lnT>
                    <a:lnB w="12700" cap="flat" cmpd="sng" algn="ctr">
                      <a:solidFill>
                        <a:srgbClr val="58585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285750" indent="-285750">
                        <a:buFont typeface="Arial" panose="020B0604020202020204" pitchFamily="34" charset="0"/>
                        <a:buChar char="•"/>
                      </a:pPr>
                      <a:r>
                        <a:rPr lang="en-US" sz="1400" b="0" kern="1200" dirty="0">
                          <a:solidFill>
                            <a:srgbClr val="000000"/>
                          </a:solidFill>
                          <a:latin typeface="Arial" panose="020B0604020202020204" pitchFamily="34" charset="0"/>
                          <a:ea typeface="+mn-ea"/>
                          <a:cs typeface="Arial" panose="020B0604020202020204" pitchFamily="34" charset="0"/>
                        </a:rPr>
                        <a:t>Jailbreak/Root detection</a:t>
                      </a:r>
                    </a:p>
                  </a:txBody>
                  <a:tcPr>
                    <a:lnL w="12700" cap="flat" cmpd="sng" algn="ctr">
                      <a:solidFill>
                        <a:srgbClr val="58585B"/>
                      </a:solidFill>
                      <a:prstDash val="solid"/>
                      <a:round/>
                      <a:headEnd type="none" w="med" len="med"/>
                      <a:tailEnd type="none" w="med" len="med"/>
                    </a:lnL>
                    <a:lnR w="12700" cap="flat" cmpd="sng" algn="ctr">
                      <a:solidFill>
                        <a:srgbClr val="58585B"/>
                      </a:solidFill>
                      <a:prstDash val="solid"/>
                      <a:round/>
                      <a:headEnd type="none" w="med" len="med"/>
                      <a:tailEnd type="none" w="med" len="med"/>
                    </a:lnR>
                    <a:lnT w="12700" cap="flat" cmpd="sng" algn="ctr">
                      <a:solidFill>
                        <a:srgbClr val="58585B"/>
                      </a:solidFill>
                      <a:prstDash val="solid"/>
                      <a:round/>
                      <a:headEnd type="none" w="med" len="med"/>
                      <a:tailEnd type="none" w="med" len="med"/>
                    </a:lnT>
                    <a:lnB w="12700" cap="flat" cmpd="sng" algn="ctr">
                      <a:solidFill>
                        <a:srgbClr val="58585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879670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4130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701</TotalTime>
  <Words>3036</Words>
  <Application>Microsoft Office PowerPoint</Application>
  <PresentationFormat>On-screen Show (16:9)</PresentationFormat>
  <Paragraphs>319</Paragraphs>
  <Slides>28</Slides>
  <Notes>28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Arial</vt:lpstr>
      <vt:lpstr>Calibri</vt:lpstr>
      <vt:lpstr>CiscoSans ExtraLight</vt:lpstr>
      <vt:lpstr>Wingdings</vt:lpstr>
      <vt:lpstr>Office Theme</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27</cp:revision>
  <dcterms:created xsi:type="dcterms:W3CDTF">2020-12-08T18:27:11Z</dcterms:created>
  <dcterms:modified xsi:type="dcterms:W3CDTF">2021-03-16T12:36:20Z</dcterms:modified>
</cp:coreProperties>
</file>