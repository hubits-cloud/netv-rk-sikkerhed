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4.xml" ContentType="application/vnd.openxmlformats-officedocument.presentationml.tags+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70" r:id="rId3"/>
    <p:sldMasterId id="2147483678" r:id="rId4"/>
  </p:sldMasterIdLst>
  <p:notesMasterIdLst>
    <p:notesMasterId r:id="rId46"/>
  </p:notesMasterIdLst>
  <p:sldIdLst>
    <p:sldId id="256" r:id="rId5"/>
    <p:sldId id="257" r:id="rId6"/>
    <p:sldId id="1070" r:id="rId7"/>
    <p:sldId id="1071" r:id="rId8"/>
    <p:sldId id="259" r:id="rId9"/>
    <p:sldId id="260" r:id="rId10"/>
    <p:sldId id="261" r:id="rId11"/>
    <p:sldId id="1081" r:id="rId12"/>
    <p:sldId id="1082" r:id="rId13"/>
    <p:sldId id="262" r:id="rId14"/>
    <p:sldId id="925" r:id="rId15"/>
    <p:sldId id="263" r:id="rId16"/>
    <p:sldId id="264" r:id="rId17"/>
    <p:sldId id="265" r:id="rId18"/>
    <p:sldId id="266" r:id="rId19"/>
    <p:sldId id="267" r:id="rId20"/>
    <p:sldId id="269" r:id="rId21"/>
    <p:sldId id="270" r:id="rId22"/>
    <p:sldId id="271" r:id="rId23"/>
    <p:sldId id="272" r:id="rId24"/>
    <p:sldId id="274" r:id="rId25"/>
    <p:sldId id="275" r:id="rId26"/>
    <p:sldId id="276" r:id="rId27"/>
    <p:sldId id="277" r:id="rId28"/>
    <p:sldId id="278" r:id="rId29"/>
    <p:sldId id="279" r:id="rId30"/>
    <p:sldId id="280" r:id="rId31"/>
    <p:sldId id="282" r:id="rId32"/>
    <p:sldId id="283" r:id="rId33"/>
    <p:sldId id="284" r:id="rId34"/>
    <p:sldId id="285" r:id="rId35"/>
    <p:sldId id="1080" r:id="rId36"/>
    <p:sldId id="286" r:id="rId37"/>
    <p:sldId id="1083" r:id="rId38"/>
    <p:sldId id="1084" r:id="rId39"/>
    <p:sldId id="288" r:id="rId40"/>
    <p:sldId id="289" r:id="rId41"/>
    <p:sldId id="290" r:id="rId42"/>
    <p:sldId id="1085" r:id="rId43"/>
    <p:sldId id="1078" r:id="rId44"/>
    <p:sldId id="1079" r:id="rId4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7976" autoAdjust="0"/>
  </p:normalViewPr>
  <p:slideViewPr>
    <p:cSldViewPr snapToGrid="0" snapToObjects="1">
      <p:cViewPr>
        <p:scale>
          <a:sx n="78" d="100"/>
          <a:sy n="78" d="100"/>
        </p:scale>
        <p:origin x="25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5119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11: IPS Technologies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2090851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2584953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11: IPS Technologies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11</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11 – IPS Technologies</a:t>
            </a:r>
          </a:p>
          <a:p>
            <a:r>
              <a:rPr lang="en-GB" dirty="0"/>
              <a:t>11.0.2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11.1: IDS and IPS Characteristics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11.1: IDS and IPS Characteristics
11.1.1: Zero-Day Attacks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11.1: IDS and IPS Characteristics
11.1.2: Monitor for Attacks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11.1: IDS and IPS Characteristics
11.1.3: Intrusion Prevention and Detection Devices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11.1: IDS and IPS Characteristics
11.1.4: Advantages and Disadvantages of IDS and IPS</a:t>
            </a:r>
          </a:p>
          <a:p>
            <a:r>
              <a:rPr lang="en-US" dirty="0"/>
              <a:t>11.1.5: Interactive Activity – Compare IDS and IPS Characteristics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11.2: IPS Implementations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11.2: IPS Implementations
11.2.1: Types of IPS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11.2: IPS Implementations
11.2.2: Network-Based IPS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11.2: IPS Implementations
11.2.3: Modes of Deployment</a:t>
            </a:r>
          </a:p>
          <a:p>
            <a:r>
              <a:rPr lang="en-US" dirty="0"/>
              <a:t>11.2.4: Check Your Understanding – Compare IDS and IPS Deployment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11.3: IPS on Cisco ISRs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11.3: IPS on Cisco ISRs
11.3.1: IPS Components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11.3: IPS on Cisco ISRs
11.3.2: Cisco IOS IPS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11.3: IPS on Cisco ISRs
11.3.3: Snort IPS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11.3: IPS on Cisco ISRs
11.3.4: Snort Operation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11.3: IPS on Cisco ISRs
11.3.5: Snort Features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11.3: IPS on Cisco ISRs
11.3.6: Snort System Requirements</a:t>
            </a:r>
          </a:p>
          <a:p>
            <a:r>
              <a:rPr lang="en-US" dirty="0"/>
              <a:t>11.3.7: Check Your Understanding – IPS on Cisco ISRs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11.4: Cisco Switched Port Analyzer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11.4: Cisco Switched Port Analyzer
11.4.1: Network Monitoring Methods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11.4: Cisco Switched Port Analyzer
11.4.2: Network Taps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11.4: Cisco Switched Port Analyzer
11.4.3: Traffic Mirroring and SPAN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11.4: Cisco Switched Port Analyzer
11.4.3: Traffic Mirroring and SPAN(Cont.)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25953800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11.4: Cisco Switched Port Analyzer
11.4.4: Configure Cisco SPAN using Intrusion Detection</a:t>
            </a:r>
          </a:p>
          <a:p>
            <a:r>
              <a:rPr lang="en-US" dirty="0"/>
              <a:t>11.4.5: Syntax Checker – Configure and Verify SPAN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11.4: Cisco Switched Port Analyzer
11.4.4: Configure Cisco SPAN using Intrusion Detection</a:t>
            </a:r>
          </a:p>
          <a:p>
            <a:r>
              <a:rPr lang="en-US" dirty="0"/>
              <a:t>11.4.5: Syntax Checker – Configure and Verify SPAN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41979697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11.4: Cisco Switched Port Analyzer
11.4.4: Configure Cisco SPAN using Intrusion Detection</a:t>
            </a:r>
          </a:p>
          <a:p>
            <a:r>
              <a:rPr lang="en-US" dirty="0"/>
              <a:t>11.4.5: Syntax Checker – Configure and Verify SPAN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32471393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11.4: Cisco Switched Port Analyzer
11.4.6: Packet tracer - Implementing a Local SPAN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11.5: Module 11: IPS Technologies Summary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11.5: Module 11: IPS Technologies Summary
11.5.1: What Did I learn in this Module?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IPS Technologies
11.5: Module 11: IPS Technologies Summary
11.5.1: What Did I learn in this Module?</a:t>
            </a:r>
          </a:p>
          <a:p>
            <a:r>
              <a:rPr lang="en-US" dirty="0"/>
              <a:t>11.5.2: Module Quiz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35589421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11 – IPS Technologies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94960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21258085"/>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517827102"/>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294889559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648061986"/>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4237533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1703279"/>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986248342"/>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63048060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149768944"/>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6746508"/>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314133009"/>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72428496"/>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133601351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77619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59649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2603558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15658476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4918645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23132080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962469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447239607"/>
      </p:ext>
    </p:extLst>
  </p:cSld>
  <p:clrMapOvr>
    <a:masterClrMapping/>
  </p:clrMapOvr>
  <p:transition spd="slow">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63342652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99453282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71933893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12159865"/>
      </p:ext>
    </p:extLst>
  </p:cSld>
  <p:clrMapOvr>
    <a:masterClrMapping/>
  </p:clrMapOvr>
  <p:transition spd="slow">
    <p:wip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180580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2818075"/>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504758265"/>
      </p:ext>
    </p:extLst>
  </p:cSld>
  <p:clrMapOvr>
    <a:masterClrMapping/>
  </p:clrMapOvr>
  <p:transition spd="slow">
    <p:wip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1022084564"/>
      </p:ext>
    </p:extLst>
  </p:cSld>
  <p:clrMapOvr>
    <a:masterClrMapping/>
  </p:clrMapOvr>
  <p:transition spd="slow">
    <p:wip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1658542416"/>
      </p:ext>
    </p:extLst>
  </p:cSld>
  <p:clrMapOvr>
    <a:masterClrMapping/>
  </p:clrMapOvr>
  <p:transition spd="slow">
    <p:wip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407728863"/>
      </p:ext>
    </p:extLst>
  </p:cSld>
  <p:clrMapOvr>
    <a:masterClrMapping/>
  </p:clrMapOvr>
  <p:transition spd="slow">
    <p:wip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206165051"/>
      </p:ext>
    </p:extLst>
  </p:cSld>
  <p:clrMapOvr>
    <a:masterClrMapping/>
  </p:clrMapOvr>
  <p:transition spd="slow">
    <p:wip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998282517"/>
      </p:ext>
    </p:extLst>
  </p:cSld>
  <p:clrMapOvr>
    <a:masterClrMapping/>
  </p:clrMapOvr>
  <p:transition spd="slow">
    <p:wip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3869245606"/>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26174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theme" Target="../theme/theme2.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017501546"/>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202536006"/>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98832608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9.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7.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11: IPS Technologies</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11 Planning Guide</a:t>
            </a:r>
          </a:p>
        </p:txBody>
      </p:sp>
      <p:sp>
        <p:nvSpPr>
          <p:cNvPr id="3" name="Object2"/>
          <p:cNvSpPr/>
          <p:nvPr/>
        </p:nvSpPr>
        <p:spPr>
          <a:xfrm>
            <a:off x="317715" y="553096"/>
            <a:ext cx="8229600" cy="46291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This PowerPoint deck is divided in two parts:</a:t>
            </a:r>
            <a:endParaRPr lang="en-US" sz="1400" dirty="0"/>
          </a:p>
          <a:p>
            <a:pPr marL="342900" indent="-342900">
              <a:lnSpc>
                <a:spcPts val="2000"/>
              </a:lnSpc>
              <a:buSzPct val="100000"/>
              <a:buChar char="•"/>
            </a:pPr>
            <a:r>
              <a:rPr lang="en-US" sz="1400" dirty="0">
                <a:solidFill>
                  <a:srgbClr val="000000"/>
                </a:solidFill>
                <a:latin typeface="Arial" pitchFamily="34" charset="0"/>
                <a:ea typeface="Arial" pitchFamily="34" charset="-122"/>
                <a:cs typeface="Arial" pitchFamily="34" charset="-120"/>
              </a:rPr>
              <a:t>Instructor Planning Guide</a:t>
            </a:r>
            <a:endParaRPr lang="en-US" sz="1400" dirty="0"/>
          </a:p>
          <a:p>
            <a:pPr marL="685800" lvl="1" indent="-342900">
              <a:lnSpc>
                <a:spcPts val="2000"/>
              </a:lnSpc>
              <a:buSzPct val="100000"/>
              <a:buChar char="•"/>
            </a:pPr>
            <a:r>
              <a:rPr lang="en-US" sz="1400" dirty="0">
                <a:solidFill>
                  <a:srgbClr val="000000"/>
                </a:solidFill>
                <a:latin typeface="Arial" pitchFamily="34" charset="0"/>
                <a:ea typeface="Arial" pitchFamily="34" charset="-122"/>
                <a:cs typeface="Arial" pitchFamily="34" charset="-120"/>
              </a:rPr>
              <a:t>Information to help you become familiar with the module</a:t>
            </a:r>
          </a:p>
          <a:p>
            <a:pPr marL="358775" lvl="1" indent="-215900" defTabSz="684213" fontAlgn="base">
              <a:spcBef>
                <a:spcPts val="300"/>
              </a:spcBef>
              <a:spcAft>
                <a:spcPts val="300"/>
              </a:spcAft>
              <a:buClr>
                <a:srgbClr val="58585B"/>
              </a:buClr>
              <a:buFont typeface="Arial" charset="0"/>
              <a:buChar char="•"/>
            </a:pPr>
            <a:r>
              <a:rPr lang="en-CA" sz="1400" dirty="0">
                <a:solidFill>
                  <a:srgbClr val="000000"/>
                </a:solidFill>
                <a:latin typeface="Arial"/>
                <a:ea typeface="ＭＳ Ｐゴシック" charset="0"/>
              </a:rPr>
              <a:t>Teaching aids</a:t>
            </a:r>
          </a:p>
          <a:p>
            <a:pPr marL="169863" lvl="0" indent="-169863" defTabSz="684213" fontAlgn="base">
              <a:spcBef>
                <a:spcPts val="600"/>
              </a:spcBef>
              <a:spcAft>
                <a:spcPts val="600"/>
              </a:spcAft>
              <a:buClr>
                <a:srgbClr val="58585B"/>
              </a:buClr>
              <a:buSzPct val="90000"/>
              <a:buFont typeface="Arial" panose="020B0604020202020204" pitchFamily="34" charset="0"/>
              <a:buChar char="•"/>
            </a:pPr>
            <a:r>
              <a:rPr lang="en-CA" sz="1500" dirty="0">
                <a:solidFill>
                  <a:srgbClr val="000000"/>
                </a:solidFill>
                <a:latin typeface="Arial"/>
                <a:ea typeface="ＭＳ Ｐゴシック" charset="0"/>
              </a:rPr>
              <a:t>Instructor Class Presentation</a:t>
            </a:r>
          </a:p>
          <a:p>
            <a:pPr marL="358775" lvl="1" indent="-215900" defTabSz="684213" fontAlgn="base">
              <a:spcBef>
                <a:spcPts val="300"/>
              </a:spcBef>
              <a:spcAft>
                <a:spcPts val="300"/>
              </a:spcAft>
              <a:buClr>
                <a:srgbClr val="58585B"/>
              </a:buClr>
              <a:buFont typeface="Arial" charset="0"/>
              <a:buChar char="•"/>
            </a:pPr>
            <a:r>
              <a:rPr lang="en-CA" sz="1400" dirty="0">
                <a:solidFill>
                  <a:srgbClr val="000000"/>
                </a:solidFill>
                <a:latin typeface="Arial"/>
                <a:ea typeface="ＭＳ Ｐゴシック" charset="0"/>
              </a:rPr>
              <a:t>Optional slides that you can use in the classroom</a:t>
            </a:r>
          </a:p>
          <a:p>
            <a:pPr marL="358775" lvl="1" indent="-215900" defTabSz="684213" fontAlgn="base">
              <a:spcBef>
                <a:spcPts val="300"/>
              </a:spcBef>
              <a:spcAft>
                <a:spcPts val="300"/>
              </a:spcAft>
              <a:buClr>
                <a:srgbClr val="58585B"/>
              </a:buClr>
              <a:buFont typeface="Arial" charset="0"/>
              <a:buChar char="•"/>
            </a:pPr>
            <a:r>
              <a:rPr lang="en-CA" sz="1400" dirty="0">
                <a:solidFill>
                  <a:srgbClr val="000000"/>
                </a:solidFill>
                <a:latin typeface="Arial"/>
                <a:ea typeface="ＭＳ Ｐゴシック" charset="0"/>
              </a:rPr>
              <a:t>Begins on slide # 10</a:t>
            </a:r>
          </a:p>
          <a:p>
            <a:pPr marL="142875" lvl="1" algn="ctr" defTabSz="684213" fontAlgn="base">
              <a:spcBef>
                <a:spcPts val="300"/>
              </a:spcBef>
              <a:spcAft>
                <a:spcPts val="300"/>
              </a:spcAft>
              <a:buClr>
                <a:srgbClr val="58585B"/>
              </a:buClr>
            </a:pPr>
            <a:r>
              <a:rPr lang="en-CA" sz="1600" b="1" dirty="0">
                <a:solidFill>
                  <a:srgbClr val="000000"/>
                </a:solidFill>
                <a:latin typeface="Arial"/>
                <a:ea typeface="ＭＳ Ｐゴシック" charset="0"/>
              </a:rPr>
              <a:t>Note</a:t>
            </a:r>
            <a:r>
              <a:rPr lang="en-CA" sz="1600" dirty="0">
                <a:solidFill>
                  <a:srgbClr val="000000"/>
                </a:solidFill>
                <a:latin typeface="Arial"/>
                <a:ea typeface="ＭＳ Ｐゴシック" charset="0"/>
              </a:rPr>
              <a:t>: Remove the Planning Guide from this presentation before sharing with anyone.</a:t>
            </a:r>
          </a:p>
          <a:p>
            <a:pPr lvl="0" defTabSz="684213" fontAlgn="base">
              <a:spcBef>
                <a:spcPts val="600"/>
              </a:spcBef>
              <a:spcAft>
                <a:spcPts val="600"/>
              </a:spcAft>
              <a:buClr>
                <a:srgbClr val="58585B"/>
              </a:buClr>
              <a:buSzPct val="90000"/>
            </a:pPr>
            <a:r>
              <a:rPr lang="en-CA" sz="1600" b="1" dirty="0">
                <a:solidFill>
                  <a:srgbClr val="367187"/>
                </a:solidFill>
                <a:latin typeface="Arial"/>
                <a:ea typeface="ＭＳ Ｐゴシック" charset="0"/>
              </a:rPr>
              <a:t>For additional help and resources go to the Instructor Home Page and Course Resources for this course. </a:t>
            </a:r>
            <a:r>
              <a:rPr lang="en-US" sz="1600" b="1" dirty="0">
                <a:solidFill>
                  <a:srgbClr val="367187"/>
                </a:solidFill>
                <a:latin typeface="Arial"/>
                <a:ea typeface="ＭＳ Ｐゴシック" charset="0"/>
              </a:rPr>
              <a:t>You also can visit the professional development site on netacad.com, the official Cisco Networking Academy Facebook page, or Instructor Only FB group.</a:t>
            </a:r>
            <a:endParaRPr lang="en-CA" sz="1600" b="1" dirty="0">
              <a:solidFill>
                <a:srgbClr val="367187"/>
              </a:solidFill>
              <a:latin typeface="Arial"/>
              <a:ea typeface="ＭＳ Ｐゴシック" charset="0"/>
            </a:endParaRPr>
          </a:p>
          <a:p>
            <a:pPr marL="685800" lvl="1" indent="-342900">
              <a:lnSpc>
                <a:spcPts val="2000"/>
              </a:lnSpc>
              <a:buSzPct val="100000"/>
              <a:buChar char="•"/>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304800">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64960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304800">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518160">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518160">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name="Slide 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Check Your Understanding</a:t>
            </a:r>
          </a:p>
        </p:txBody>
      </p:sp>
      <p:sp>
        <p:nvSpPr>
          <p:cNvPr id="3" name="Object2"/>
          <p:cNvSpPr/>
          <p:nvPr/>
        </p:nvSpPr>
        <p:spPr>
          <a:xfrm>
            <a:off x="302217" y="844657"/>
            <a:ext cx="8229600" cy="4629150"/>
          </a:xfrm>
          <a:prstGeom prst="rect">
            <a:avLst/>
          </a:prstGeom>
          <a:noFill/>
          <a:ln/>
        </p:spPr>
        <p:txBody>
          <a:bodyPr wrap="square" rtlCol="0" anchor="t"/>
          <a:lstStyle/>
          <a:p>
            <a:pPr marL="169863" lvl="0" indent="-169863" defTabSz="684213" fontAlgn="base">
              <a:spcBef>
                <a:spcPct val="30000"/>
              </a:spcBef>
              <a:spcAft>
                <a:spcPts val="600"/>
              </a:spcAft>
              <a:buClr>
                <a:srgbClr val="58585B"/>
              </a:buClr>
              <a:buSzPct val="90000"/>
              <a:buFont typeface="Arial" panose="020B0604020202020204" pitchFamily="34" charset="0"/>
              <a:buChar char="•"/>
            </a:pPr>
            <a:r>
              <a:rPr lang="en-US" sz="1500" dirty="0">
                <a:solidFill>
                  <a:srgbClr val="000000"/>
                </a:solidFill>
                <a:latin typeface="Arial"/>
                <a:ea typeface="ＭＳ Ｐゴシック" charset="0"/>
              </a:rPr>
              <a:t>Check Your Understanding activities are designed to let students quickly determine if they understand the content and can proceed, or if they need to review. </a:t>
            </a:r>
          </a:p>
          <a:p>
            <a:pPr marL="169863" lvl="0" indent="-169863" defTabSz="684213" fontAlgn="base">
              <a:spcBef>
                <a:spcPct val="30000"/>
              </a:spcBef>
              <a:spcAft>
                <a:spcPts val="600"/>
              </a:spcAft>
              <a:buClr>
                <a:srgbClr val="58585B"/>
              </a:buClr>
              <a:buSzPct val="90000"/>
              <a:buFont typeface="Arial" panose="020B0604020202020204" pitchFamily="34" charset="0"/>
              <a:buChar char="•"/>
            </a:pPr>
            <a:r>
              <a:rPr lang="en-US" sz="1500" dirty="0">
                <a:solidFill>
                  <a:srgbClr val="000000"/>
                </a:solidFill>
                <a:latin typeface="Arial"/>
                <a:ea typeface="ＭＳ Ｐゴシック" charset="0"/>
              </a:rPr>
              <a:t>Check Your Understanding activities </a:t>
            </a:r>
            <a:r>
              <a:rPr lang="en-US" sz="1500" b="1" i="1" dirty="0">
                <a:solidFill>
                  <a:srgbClr val="000000"/>
                </a:solidFill>
                <a:latin typeface="Arial"/>
                <a:ea typeface="ＭＳ Ｐゴシック" charset="0"/>
              </a:rPr>
              <a:t>do not </a:t>
            </a:r>
            <a:r>
              <a:rPr lang="en-US" sz="1500" dirty="0">
                <a:solidFill>
                  <a:srgbClr val="000000"/>
                </a:solidFill>
                <a:latin typeface="Arial"/>
                <a:ea typeface="ＭＳ Ｐゴシック" charset="0"/>
              </a:rPr>
              <a:t>affect student grades.</a:t>
            </a:r>
          </a:p>
          <a:p>
            <a:pPr marL="169863" lvl="0" indent="-169863" defTabSz="684213" fontAlgn="base">
              <a:spcBef>
                <a:spcPct val="30000"/>
              </a:spcBef>
              <a:spcAft>
                <a:spcPts val="600"/>
              </a:spcAft>
              <a:buClr>
                <a:srgbClr val="58585B"/>
              </a:buClr>
              <a:buSzPct val="90000"/>
              <a:buFont typeface="Arial" panose="020B0604020202020204" pitchFamily="34" charset="0"/>
              <a:buChar char="•"/>
            </a:pPr>
            <a:r>
              <a:rPr lang="en-US" sz="1500" dirty="0">
                <a:solidFill>
                  <a:srgbClr val="000000"/>
                </a:solidFill>
                <a:latin typeface="Arial"/>
                <a:ea typeface="ＭＳ Ｐゴシック" charset="0"/>
              </a:rPr>
              <a:t>There are no separate slides for these activities in the PPT. They are listed in the notes area of the slide that appears before these activities.</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11: Activities</a:t>
            </a:r>
          </a:p>
        </p:txBody>
      </p:sp>
      <p:sp>
        <p:nvSpPr>
          <p:cNvPr id="3" name="Object2"/>
          <p:cNvSpPr/>
          <p:nvPr/>
        </p:nvSpPr>
        <p:spPr>
          <a:xfrm>
            <a:off x="0" y="457200"/>
            <a:ext cx="8229600" cy="361950"/>
          </a:xfrm>
          <a:prstGeom prst="rect">
            <a:avLst/>
          </a:prstGeom>
          <a:noFill/>
          <a:ln/>
        </p:spPr>
        <p:txBody>
          <a:bodyPr wrap="square" rtlCol="0" anchor="t"/>
          <a:lstStyle/>
          <a:p>
            <a:pPr lvl="0">
              <a:lnSpc>
                <a:spcPts val="2000"/>
              </a:lnSpc>
              <a:defRPr/>
            </a:pPr>
            <a:r>
              <a:rPr lang="en-US" sz="1400" dirty="0">
                <a:solidFill>
                  <a:srgbClr val="000000"/>
                </a:solidFill>
                <a:latin typeface="Arial" pitchFamily="34" charset="0"/>
                <a:ea typeface="Arial" pitchFamily="34" charset="-122"/>
                <a:cs typeface="Arial" pitchFamily="34" charset="-120"/>
              </a:rPr>
              <a:t>What activities are associated with this module?</a:t>
            </a:r>
            <a:endParaRPr lang="en-US" sz="1400" dirty="0"/>
          </a:p>
        </p:txBody>
      </p:sp>
      <p:graphicFrame>
        <p:nvGraphicFramePr>
          <p:cNvPr id="5" name="Content Placeholder 3">
            <a:extLst>
              <a:ext uri="{FF2B5EF4-FFF2-40B4-BE49-F238E27FC236}">
                <a16:creationId xmlns:a16="http://schemas.microsoft.com/office/drawing/2014/main" id="{D5F68520-DEF5-42F4-BA4C-D59CCB0C3991}"/>
              </a:ext>
            </a:extLst>
          </p:cNvPr>
          <p:cNvGraphicFramePr>
            <a:graphicFrameLocks/>
          </p:cNvGraphicFramePr>
          <p:nvPr>
            <p:extLst>
              <p:ext uri="{D42A27DB-BD31-4B8C-83A1-F6EECF244321}">
                <p14:modId xmlns:p14="http://schemas.microsoft.com/office/powerpoint/2010/main" val="3768696800"/>
              </p:ext>
            </p:extLst>
          </p:nvPr>
        </p:nvGraphicFramePr>
        <p:xfrm>
          <a:off x="455999" y="1147358"/>
          <a:ext cx="8229418" cy="2406138"/>
        </p:xfrm>
        <a:graphic>
          <a:graphicData uri="http://schemas.openxmlformats.org/drawingml/2006/table">
            <a:tbl>
              <a:tblPr firstRow="1" bandRow="1"/>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Activity Name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Optional?</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10000"/>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11.1.5</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Compare IDS and IPS Characteristics</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11.2.4</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Compare IDS and IPS Deployment</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11.3.7</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IPS on Cisco ISRs</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8"/>
                  </a:ext>
                </a:extLst>
              </a:tr>
              <a:tr h="350784">
                <a:tc>
                  <a:txBody>
                    <a:bodyPr/>
                    <a:lstStyle/>
                    <a:p>
                      <a:pPr algn="ctr"/>
                      <a:r>
                        <a:rPr lang="en-US" sz="1100" dirty="0">
                          <a:latin typeface="Arial" panose="020B0604020202020204" pitchFamily="34" charset="0"/>
                          <a:cs typeface="Arial" panose="020B0604020202020204" pitchFamily="34" charset="0"/>
                        </a:rPr>
                        <a:t>11.4.5</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Syntax Checker</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Configure and Verify SPAN</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36422490"/>
                  </a:ext>
                </a:extLst>
              </a:tr>
              <a:tr h="350784">
                <a:tc>
                  <a:txBody>
                    <a:bodyPr/>
                    <a:lstStyle/>
                    <a:p>
                      <a:pPr algn="ctr"/>
                      <a:r>
                        <a:rPr lang="en-US" sz="1100" dirty="0">
                          <a:latin typeface="Arial" panose="020B0604020202020204" pitchFamily="34" charset="0"/>
                          <a:cs typeface="Arial" panose="020B0604020202020204" pitchFamily="34" charset="0"/>
                        </a:rPr>
                        <a:t>11.4.6</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Packet Tracer</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Implementing a Local SPAN</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303855340"/>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11.5.2</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Module Quiz</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Firewall Technologies</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629829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noFill/>
          <a:ln/>
        </p:spPr>
        <p:txBody>
          <a:bodyPr wrap="square" rtlCol="0"/>
          <a:lstStyle/>
          <a:p>
            <a:r>
              <a:rPr lang="en-US" dirty="0"/>
              <a:t>Module 11: Best Practices</a:t>
            </a:r>
          </a:p>
        </p:txBody>
      </p:sp>
      <p:sp>
        <p:nvSpPr>
          <p:cNvPr id="3" name="Object2"/>
          <p:cNvSpPr/>
          <p:nvPr/>
        </p:nvSpPr>
        <p:spPr>
          <a:xfrm>
            <a:off x="-1" y="457200"/>
            <a:ext cx="8857129" cy="4629150"/>
          </a:xfrm>
          <a:prstGeom prst="rect">
            <a:avLst/>
          </a:prstGeom>
          <a:noFill/>
          <a:ln/>
        </p:spPr>
        <p:txBody>
          <a:bodyPr wrap="square" rtlCol="0" anchor="t"/>
          <a:lstStyle/>
          <a:p>
            <a:pPr lvl="0" defTabSz="684213" fontAlgn="base">
              <a:lnSpc>
                <a:spcPct val="85000"/>
              </a:lnSpc>
              <a:spcBef>
                <a:spcPct val="30000"/>
              </a:spcBef>
              <a:spcAft>
                <a:spcPts val="600"/>
              </a:spcAft>
              <a:buClr>
                <a:srgbClr val="58585B"/>
              </a:buClr>
              <a:buSzPct val="90000"/>
            </a:pPr>
            <a:r>
              <a:rPr lang="en-US" sz="1600" dirty="0">
                <a:solidFill>
                  <a:srgbClr val="000000"/>
                </a:solidFill>
                <a:latin typeface="Arial"/>
                <a:ea typeface="ＭＳ Ｐゴシック" charset="0"/>
              </a:rPr>
              <a:t>Prior to teaching Module 11, the instructor should:</a:t>
            </a:r>
          </a:p>
          <a:p>
            <a:pPr marL="627063" lvl="1" indent="-169863" defTabSz="684213" fontAlgn="base">
              <a:lnSpc>
                <a:spcPct val="85000"/>
              </a:lnSpc>
              <a:spcBef>
                <a:spcPct val="30000"/>
              </a:spcBef>
              <a:spcAft>
                <a:spcPts val="600"/>
              </a:spcAft>
              <a:buClr>
                <a:srgbClr val="58585B"/>
              </a:buClr>
              <a:buSzPct val="90000"/>
              <a:buFont typeface="Arial" panose="020B0604020202020204" pitchFamily="34" charset="0"/>
              <a:buChar char="•"/>
            </a:pPr>
            <a:r>
              <a:rPr lang="en-US" sz="1400" dirty="0">
                <a:solidFill>
                  <a:srgbClr val="000000"/>
                </a:solidFill>
                <a:latin typeface="Arial"/>
                <a:ea typeface="ＭＳ Ｐゴシック" charset="0"/>
              </a:rPr>
              <a:t>Review the activities and assessments for this module.</a:t>
            </a:r>
          </a:p>
          <a:p>
            <a:pPr marL="627063" lvl="1" indent="-169863" defTabSz="684213" fontAlgn="base">
              <a:lnSpc>
                <a:spcPct val="85000"/>
              </a:lnSpc>
              <a:spcBef>
                <a:spcPct val="30000"/>
              </a:spcBef>
              <a:spcAft>
                <a:spcPts val="600"/>
              </a:spcAft>
              <a:buClr>
                <a:srgbClr val="58585B"/>
              </a:buClr>
              <a:buSzPct val="90000"/>
              <a:buFont typeface="Arial" panose="020B0604020202020204" pitchFamily="34" charset="0"/>
              <a:buChar char="•"/>
            </a:pPr>
            <a:r>
              <a:rPr lang="en-US" sz="1400" dirty="0">
                <a:solidFill>
                  <a:srgbClr val="000000"/>
                </a:solidFill>
                <a:latin typeface="Arial"/>
                <a:ea typeface="ＭＳ Ｐゴシック" charset="0"/>
              </a:rPr>
              <a:t>Try to include as many questions as possible to keep students engaged during classroom presentation.</a:t>
            </a:r>
          </a:p>
          <a:p>
            <a:pPr lvl="0" defTabSz="684213" fontAlgn="base">
              <a:lnSpc>
                <a:spcPct val="85000"/>
              </a:lnSpc>
              <a:spcBef>
                <a:spcPct val="30000"/>
              </a:spcBef>
              <a:spcAft>
                <a:spcPts val="600"/>
              </a:spcAft>
              <a:buClr>
                <a:srgbClr val="58585B"/>
              </a:buClr>
              <a:buSzPct val="90000"/>
            </a:pPr>
            <a:endParaRPr lang="en-US" sz="1600" dirty="0">
              <a:solidFill>
                <a:srgbClr val="000000"/>
              </a:solidFill>
              <a:latin typeface="Arial"/>
              <a:ea typeface="ＭＳ Ｐゴシック" charset="0"/>
            </a:endParaRPr>
          </a:p>
          <a:p>
            <a:pPr lvl="0" defTabSz="684213" fontAlgn="base">
              <a:lnSpc>
                <a:spcPct val="85000"/>
              </a:lnSpc>
              <a:spcBef>
                <a:spcPct val="30000"/>
              </a:spcBef>
              <a:spcAft>
                <a:spcPts val="600"/>
              </a:spcAft>
              <a:buClr>
                <a:srgbClr val="58585B"/>
              </a:buClr>
              <a:buSzPct val="90000"/>
            </a:pPr>
            <a:r>
              <a:rPr lang="en-US" sz="1600" dirty="0">
                <a:solidFill>
                  <a:srgbClr val="000000"/>
                </a:solidFill>
                <a:latin typeface="Arial"/>
                <a:ea typeface="ＭＳ Ｐゴシック" charset="0"/>
              </a:rPr>
              <a:t>Topic 11.1</a:t>
            </a:r>
          </a:p>
          <a:p>
            <a:pPr marL="358775" lvl="1" indent="-215900" defTabSz="684213" fontAlgn="base">
              <a:spcBef>
                <a:spcPts val="300"/>
              </a:spcBef>
              <a:spcAft>
                <a:spcPts val="300"/>
              </a:spcAft>
              <a:buClr>
                <a:srgbClr val="58585B"/>
              </a:buClr>
              <a:buFont typeface="Arial" charset="0"/>
              <a:buChar char="•"/>
            </a:pPr>
            <a:r>
              <a:rPr lang="en-US" altLang="ja-JP" sz="1400" dirty="0">
                <a:solidFill>
                  <a:srgbClr val="000000"/>
                </a:solidFill>
                <a:latin typeface="Arial"/>
                <a:ea typeface="ＭＳ Ｐゴシック" charset="0"/>
              </a:rPr>
              <a:t>Ask the class “How often do you check the Windows Task Manager and the Event Viewer looking for malicious activity on your computer?”  Answers will vary but elicit a common consensus that most of us use these tools only when there is reason to (e.g., performance problems on a host).</a:t>
            </a:r>
          </a:p>
          <a:p>
            <a:pPr marL="358775" lvl="1" indent="-215900" defTabSz="684213" fontAlgn="base">
              <a:spcBef>
                <a:spcPts val="300"/>
              </a:spcBef>
              <a:spcAft>
                <a:spcPts val="300"/>
              </a:spcAft>
              <a:buClr>
                <a:srgbClr val="58585B"/>
              </a:buClr>
              <a:buFont typeface="Arial" charset="0"/>
              <a:buChar char="•"/>
            </a:pPr>
            <a:r>
              <a:rPr lang="en-US" altLang="ja-JP" sz="1400" dirty="0">
                <a:solidFill>
                  <a:srgbClr val="000000"/>
                </a:solidFill>
                <a:latin typeface="Arial"/>
                <a:ea typeface="ＭＳ Ｐゴシック" charset="0"/>
              </a:rPr>
              <a:t>Follow-up and ask, “What do we rely on to detect and resolve malicious activity on host?” Elicit antimalware software, Windows Defender Firewall, and more.</a:t>
            </a:r>
          </a:p>
          <a:p>
            <a:pPr marL="358775" lvl="1" indent="-215900" defTabSz="684213" fontAlgn="base">
              <a:spcBef>
                <a:spcPts val="300"/>
              </a:spcBef>
              <a:spcAft>
                <a:spcPts val="300"/>
              </a:spcAft>
              <a:buClr>
                <a:srgbClr val="58585B"/>
              </a:buClr>
              <a:buFont typeface="Arial" charset="0"/>
              <a:buChar char="•"/>
            </a:pPr>
            <a:r>
              <a:rPr lang="en-US" altLang="ja-JP" sz="1400" dirty="0">
                <a:solidFill>
                  <a:srgbClr val="000000"/>
                </a:solidFill>
                <a:latin typeface="Arial"/>
                <a:ea typeface="ＭＳ Ｐゴシック" charset="0"/>
              </a:rPr>
              <a:t>Ask the class “How often do you think an organization checks syslog, SNMP, NetFlow logs looking for malicious network activity? Elicit the answer that organizations refer to these logs when there is reason to.</a:t>
            </a:r>
          </a:p>
          <a:p>
            <a:pPr marL="358775" lvl="1" indent="-215900" defTabSz="684213" fontAlgn="base">
              <a:spcBef>
                <a:spcPts val="300"/>
              </a:spcBef>
              <a:spcAft>
                <a:spcPts val="300"/>
              </a:spcAft>
              <a:buClr>
                <a:srgbClr val="58585B"/>
              </a:buClr>
              <a:buFont typeface="Arial" charset="0"/>
              <a:buChar char="•"/>
            </a:pPr>
            <a:r>
              <a:rPr lang="en-US" altLang="ja-JP" sz="1400" dirty="0">
                <a:solidFill>
                  <a:srgbClr val="000000"/>
                </a:solidFill>
                <a:latin typeface="Arial"/>
                <a:ea typeface="ＭＳ Ｐゴシック" charset="0"/>
              </a:rPr>
              <a:t>Follow-up and ask, “What do organizations rely on to detect and resolve malicious activity on a network?” Elicit intrusion prevention detection (IDS) and intrusion prevention systems (IPS). </a:t>
            </a:r>
            <a:endParaRPr lang="en-US" sz="1200" dirty="0"/>
          </a:p>
        </p:txBody>
      </p:sp>
      <p:sp>
        <p:nvSpPr>
          <p:cNvPr id="25" name="Slide Number Placeholder 24"/>
          <p:cNvSpPr>
            <a:spLocks noGrp="1"/>
          </p:cNvSpPr>
          <p:nvPr>
            <p:ph type="sldNum" sz="quarter" idx="4294967295"/>
          </p:nvPr>
        </p:nvSpPr>
        <p:spPr>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noFill/>
          <a:ln/>
        </p:spPr>
        <p:txBody>
          <a:bodyPr wrap="square" rtlCol="0"/>
          <a:lstStyle/>
          <a:p>
            <a:r>
              <a:rPr lang="en-US" dirty="0"/>
              <a:t>Module 11: Best Practices (Cont.)</a:t>
            </a:r>
          </a:p>
        </p:txBody>
      </p:sp>
      <p:sp>
        <p:nvSpPr>
          <p:cNvPr id="3" name="Object2"/>
          <p:cNvSpPr/>
          <p:nvPr/>
        </p:nvSpPr>
        <p:spPr>
          <a:xfrm>
            <a:off x="-1" y="457200"/>
            <a:ext cx="8857129" cy="4629150"/>
          </a:xfrm>
          <a:prstGeom prst="rect">
            <a:avLst/>
          </a:prstGeom>
          <a:noFill/>
          <a:ln/>
        </p:spPr>
        <p:txBody>
          <a:bodyPr wrap="square" rtlCol="0" anchor="t"/>
          <a:lstStyle/>
          <a:p>
            <a:pPr lvl="0" defTabSz="684213" fontAlgn="base">
              <a:lnSpc>
                <a:spcPct val="85000"/>
              </a:lnSpc>
              <a:spcBef>
                <a:spcPct val="30000"/>
              </a:spcBef>
              <a:spcAft>
                <a:spcPts val="600"/>
              </a:spcAft>
              <a:buClr>
                <a:srgbClr val="58585B"/>
              </a:buClr>
              <a:buSzPct val="90000"/>
            </a:pPr>
            <a:r>
              <a:rPr lang="en-US" sz="1600" dirty="0">
                <a:solidFill>
                  <a:srgbClr val="000000"/>
                </a:solidFill>
                <a:latin typeface="Arial"/>
                <a:ea typeface="ＭＳ Ｐゴシック" charset="0"/>
              </a:rPr>
              <a:t>Topic 11.2</a:t>
            </a:r>
          </a:p>
          <a:p>
            <a:pPr marL="358775" lvl="1" indent="-215900" defTabSz="684213" fontAlgn="base">
              <a:spcBef>
                <a:spcPts val="300"/>
              </a:spcBef>
              <a:spcAft>
                <a:spcPts val="300"/>
              </a:spcAft>
              <a:buClr>
                <a:srgbClr val="58585B"/>
              </a:buClr>
              <a:buFont typeface="Arial" charset="0"/>
              <a:buChar char="•"/>
            </a:pPr>
            <a:r>
              <a:rPr lang="en-US" altLang="ja-JP" sz="1400" dirty="0">
                <a:solidFill>
                  <a:srgbClr val="000000"/>
                </a:solidFill>
                <a:latin typeface="Arial" panose="020B0604020202020204" pitchFamily="34" charset="0"/>
                <a:ea typeface="ＭＳ Ｐゴシック" charset="0"/>
                <a:cs typeface="Arial" panose="020B0604020202020204" pitchFamily="34" charset="0"/>
              </a:rPr>
              <a:t>Tell the class that there are network-based IPS and host-based IPS.” </a:t>
            </a:r>
          </a:p>
          <a:p>
            <a:pPr marL="358775" lvl="1" indent="-215900" defTabSz="684213" fontAlgn="base">
              <a:spcBef>
                <a:spcPts val="300"/>
              </a:spcBef>
              <a:spcAft>
                <a:spcPts val="300"/>
              </a:spcAft>
              <a:buClr>
                <a:srgbClr val="58585B"/>
              </a:buClr>
              <a:buFont typeface="Arial" charset="0"/>
              <a:buChar char="•"/>
            </a:pPr>
            <a:r>
              <a:rPr lang="en-US" altLang="ja-JP" sz="1400" dirty="0">
                <a:solidFill>
                  <a:srgbClr val="000000"/>
                </a:solidFill>
                <a:latin typeface="Arial" panose="020B0604020202020204" pitchFamily="34" charset="0"/>
                <a:ea typeface="ＭＳ Ｐゴシック" charset="0"/>
                <a:cs typeface="Arial" panose="020B0604020202020204" pitchFamily="34" charset="0"/>
              </a:rPr>
              <a:t>Ask the class “Can they provide examples of HIPS?” Elicit Windows Defender and Snort IDS/IPS on Linux hosts.</a:t>
            </a:r>
            <a:endParaRPr lang="en-US" sz="1200" dirty="0">
              <a:latin typeface="Arial" panose="020B0604020202020204" pitchFamily="34" charset="0"/>
              <a:cs typeface="Arial" panose="020B0604020202020204" pitchFamily="34" charset="0"/>
            </a:endParaRPr>
          </a:p>
          <a:p>
            <a:pPr marL="358775" lvl="1" indent="-215900" defTabSz="684213" fontAlgn="base">
              <a:spcBef>
                <a:spcPts val="300"/>
              </a:spcBef>
              <a:spcAft>
                <a:spcPts val="300"/>
              </a:spcAft>
              <a:buClr>
                <a:srgbClr val="58585B"/>
              </a:buClr>
              <a:buFont typeface="Arial" charset="0"/>
              <a:buChar char="•"/>
            </a:pPr>
            <a:r>
              <a:rPr lang="en-US" sz="1400" dirty="0">
                <a:solidFill>
                  <a:srgbClr val="000000"/>
                </a:solidFill>
                <a:latin typeface="Arial" panose="020B0604020202020204" pitchFamily="34" charset="0"/>
                <a:ea typeface="ＭＳ Ｐゴシック" charset="0"/>
                <a:cs typeface="Arial" panose="020B0604020202020204" pitchFamily="34" charset="0"/>
              </a:rPr>
              <a:t>Tell the class “An IPS is deployed in an inline mode while an IDS is deployed in promiscuous (or passive) mode.”</a:t>
            </a:r>
          </a:p>
          <a:p>
            <a:pPr marL="358775" lvl="1" indent="-215900" defTabSz="684213" fontAlgn="base">
              <a:spcBef>
                <a:spcPts val="300"/>
              </a:spcBef>
              <a:spcAft>
                <a:spcPts val="300"/>
              </a:spcAft>
              <a:buClr>
                <a:srgbClr val="58585B"/>
              </a:buClr>
              <a:buFont typeface="Arial" charset="0"/>
              <a:buChar char="•"/>
            </a:pPr>
            <a:r>
              <a:rPr lang="en-US" sz="1400" dirty="0">
                <a:solidFill>
                  <a:srgbClr val="000000"/>
                </a:solidFill>
                <a:latin typeface="Arial" panose="020B0604020202020204" pitchFamily="34" charset="0"/>
                <a:ea typeface="ＭＳ Ｐゴシック" charset="0"/>
                <a:cs typeface="Arial" panose="020B0604020202020204" pitchFamily="34" charset="0"/>
              </a:rPr>
              <a:t>Ask the class “What does inline mode mean?” “What does promiscuous mode mean?” Explain that inline mode means that the device is in the path of traffic and therefore traffic must enter and exit the device. Promiscuous mode means that traffic flowing between two interfaces is copied to another interface.  The device is not in the path of traffic.   </a:t>
            </a:r>
          </a:p>
          <a:p>
            <a:pPr marL="142875" lvl="1" defTabSz="684213" fontAlgn="base">
              <a:spcBef>
                <a:spcPts val="300"/>
              </a:spcBef>
              <a:spcAft>
                <a:spcPts val="300"/>
              </a:spcAft>
              <a:buClr>
                <a:srgbClr val="58585B"/>
              </a:buClr>
            </a:pPr>
            <a:endParaRPr lang="en-US" sz="1400" dirty="0">
              <a:solidFill>
                <a:srgbClr val="000000"/>
              </a:solidFill>
              <a:latin typeface="Arial" panose="020B0604020202020204" pitchFamily="34" charset="0"/>
              <a:ea typeface="ＭＳ Ｐゴシック" charset="0"/>
              <a:cs typeface="Arial" panose="020B0604020202020204" pitchFamily="34" charset="0"/>
            </a:endParaRPr>
          </a:p>
          <a:p>
            <a:pPr lvl="0" defTabSz="684213" fontAlgn="base">
              <a:lnSpc>
                <a:spcPct val="85000"/>
              </a:lnSpc>
              <a:spcBef>
                <a:spcPct val="30000"/>
              </a:spcBef>
              <a:spcAft>
                <a:spcPts val="600"/>
              </a:spcAft>
              <a:buClr>
                <a:srgbClr val="58585B"/>
              </a:buClr>
              <a:buSzPct val="90000"/>
            </a:pPr>
            <a:r>
              <a:rPr lang="en-US" sz="1600" dirty="0">
                <a:solidFill>
                  <a:srgbClr val="000000"/>
                </a:solidFill>
                <a:latin typeface="Arial" panose="020B0604020202020204" pitchFamily="34" charset="0"/>
                <a:ea typeface="ＭＳ Ｐゴシック" charset="0"/>
                <a:cs typeface="Arial" panose="020B0604020202020204" pitchFamily="34" charset="0"/>
              </a:rPr>
              <a:t>Topic 11.3</a:t>
            </a:r>
          </a:p>
          <a:p>
            <a:pPr marL="358775" lvl="1" indent="-215900" defTabSz="684213" fontAlgn="base">
              <a:spcBef>
                <a:spcPts val="300"/>
              </a:spcBef>
              <a:spcAft>
                <a:spcPts val="300"/>
              </a:spcAft>
              <a:buClr>
                <a:srgbClr val="58585B"/>
              </a:buClr>
              <a:buFont typeface="Arial" charset="0"/>
              <a:buChar char="•"/>
            </a:pPr>
            <a:r>
              <a:rPr lang="en-US" altLang="ja-JP" sz="1400" dirty="0">
                <a:solidFill>
                  <a:srgbClr val="000000"/>
                </a:solidFill>
                <a:latin typeface="Arial" panose="020B0604020202020204" pitchFamily="34" charset="0"/>
                <a:ea typeface="ＭＳ Ｐゴシック" charset="0"/>
                <a:cs typeface="Arial" panose="020B0604020202020204" pitchFamily="34" charset="0"/>
              </a:rPr>
              <a:t>Ask the class “Can anyone tell me what Snort IPS is?” Explain that it is the new method of configuring IPS services on an ISR 4000.  Tell the class that Snort IPS replaces the older and obsolete Cisco IOS IPS feature.</a:t>
            </a:r>
            <a:endParaRPr lang="en-US" sz="1200" dirty="0">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pPr/>
              <a:t>8</a:t>
            </a:fld>
            <a:endParaRPr lang="en-US" dirty="0"/>
          </a:p>
        </p:txBody>
      </p:sp>
    </p:spTree>
    <p:extLst>
      <p:ext uri="{BB962C8B-B14F-4D97-AF65-F5344CB8AC3E}">
        <p14:creationId xmlns:p14="http://schemas.microsoft.com/office/powerpoint/2010/main" val="3027923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noFill/>
          <a:ln/>
        </p:spPr>
        <p:txBody>
          <a:bodyPr wrap="square" rtlCol="0"/>
          <a:lstStyle/>
          <a:p>
            <a:r>
              <a:rPr lang="en-US" dirty="0"/>
              <a:t>Module 11: Best Practices (Cont.)</a:t>
            </a:r>
          </a:p>
        </p:txBody>
      </p:sp>
      <p:sp>
        <p:nvSpPr>
          <p:cNvPr id="3" name="Object2"/>
          <p:cNvSpPr/>
          <p:nvPr/>
        </p:nvSpPr>
        <p:spPr>
          <a:xfrm>
            <a:off x="-1" y="457200"/>
            <a:ext cx="8857129" cy="4629150"/>
          </a:xfrm>
          <a:prstGeom prst="rect">
            <a:avLst/>
          </a:prstGeom>
          <a:noFill/>
          <a:ln/>
        </p:spPr>
        <p:txBody>
          <a:bodyPr wrap="square" rtlCol="0" anchor="t"/>
          <a:lstStyle/>
          <a:p>
            <a:pPr lvl="0" defTabSz="684213" fontAlgn="base">
              <a:lnSpc>
                <a:spcPct val="85000"/>
              </a:lnSpc>
              <a:spcBef>
                <a:spcPct val="30000"/>
              </a:spcBef>
              <a:spcAft>
                <a:spcPts val="600"/>
              </a:spcAft>
              <a:buClr>
                <a:srgbClr val="58585B"/>
              </a:buClr>
              <a:buSzPct val="90000"/>
            </a:pPr>
            <a:r>
              <a:rPr lang="en-US" sz="1600" dirty="0">
                <a:solidFill>
                  <a:srgbClr val="000000"/>
                </a:solidFill>
                <a:latin typeface="Arial"/>
                <a:ea typeface="ＭＳ Ｐゴシック" charset="0"/>
              </a:rPr>
              <a:t>Topic 11.4</a:t>
            </a:r>
          </a:p>
          <a:p>
            <a:pPr marL="358775" lvl="1" indent="-215900" defTabSz="684213" fontAlgn="base">
              <a:spcBef>
                <a:spcPts val="300"/>
              </a:spcBef>
              <a:spcAft>
                <a:spcPts val="300"/>
              </a:spcAft>
              <a:buClr>
                <a:srgbClr val="58585B"/>
              </a:buClr>
              <a:buFont typeface="Arial" charset="0"/>
              <a:buChar char="•"/>
            </a:pPr>
            <a:r>
              <a:rPr lang="en-US" altLang="ja-JP" sz="1400" dirty="0">
                <a:solidFill>
                  <a:srgbClr val="000000"/>
                </a:solidFill>
                <a:latin typeface="Arial" panose="020B0604020202020204" pitchFamily="34" charset="0"/>
                <a:ea typeface="ＭＳ Ｐゴシック" charset="0"/>
                <a:cs typeface="Arial" panose="020B0604020202020204" pitchFamily="34" charset="0"/>
              </a:rPr>
              <a:t>Ask the class “How do you think a promiscuous port work on a switch?” Elicit that traffic coming in one port and exiting another port is also sent to the promiscuous port.</a:t>
            </a:r>
          </a:p>
          <a:p>
            <a:pPr marL="358775" lvl="1" indent="-215900" defTabSz="684213" fontAlgn="base">
              <a:spcBef>
                <a:spcPts val="300"/>
              </a:spcBef>
              <a:spcAft>
                <a:spcPts val="300"/>
              </a:spcAft>
              <a:buClr>
                <a:srgbClr val="58585B"/>
              </a:buClr>
              <a:buFont typeface="Arial" charset="0"/>
              <a:buChar char="•"/>
            </a:pPr>
            <a:r>
              <a:rPr lang="en-US" altLang="ja-JP" sz="1400" dirty="0">
                <a:solidFill>
                  <a:srgbClr val="000000"/>
                </a:solidFill>
                <a:latin typeface="Arial" panose="020B0604020202020204" pitchFamily="34" charset="0"/>
                <a:ea typeface="ＭＳ Ｐゴシック" charset="0"/>
                <a:cs typeface="Arial" panose="020B0604020202020204" pitchFamily="34" charset="0"/>
              </a:rPr>
              <a:t>Tell the class “There are actually methods that we can send traffic to an IDS.  We can use </a:t>
            </a:r>
            <a:r>
              <a:rPr lang="en-CA" altLang="ja-JP" sz="1400" dirty="0">
                <a:solidFill>
                  <a:srgbClr val="000000"/>
                </a:solidFill>
                <a:latin typeface="Arial" panose="020B0604020202020204" pitchFamily="34" charset="0"/>
                <a:ea typeface="ＭＳ Ｐゴシック" charset="0"/>
                <a:cs typeface="Arial" panose="020B0604020202020204" pitchFamily="34" charset="0"/>
              </a:rPr>
              <a:t>Network taps, sometimes known as test access points (TAPs) or configure the Switch Port Analyzer (SPAN) feature on a Cisco switch.”</a:t>
            </a:r>
            <a:endParaRPr lang="en-US" sz="1400" dirty="0">
              <a:latin typeface="Arial" panose="020B0604020202020204" pitchFamily="34" charset="0"/>
              <a:cs typeface="Arial" panose="020B0604020202020204" pitchFamily="34" charset="0"/>
            </a:endParaRPr>
          </a:p>
          <a:p>
            <a:pPr marL="358775" lvl="1" indent="-215900" defTabSz="684213" fontAlgn="base">
              <a:spcBef>
                <a:spcPts val="300"/>
              </a:spcBef>
              <a:spcAft>
                <a:spcPts val="300"/>
              </a:spcAft>
              <a:buClr>
                <a:srgbClr val="58585B"/>
              </a:buClr>
              <a:buFont typeface="Arial" charset="0"/>
              <a:buChar char="•"/>
            </a:pPr>
            <a:endParaRPr lang="en-US" sz="1200" dirty="0"/>
          </a:p>
        </p:txBody>
      </p:sp>
      <p:sp>
        <p:nvSpPr>
          <p:cNvPr id="25" name="Slide Number Placeholder 24"/>
          <p:cNvSpPr>
            <a:spLocks noGrp="1"/>
          </p:cNvSpPr>
          <p:nvPr>
            <p:ph type="sldNum" sz="quarter" idx="4294967295"/>
          </p:nvPr>
        </p:nvSpPr>
        <p:spPr>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pPr/>
              <a:t>9</a:t>
            </a:fld>
            <a:endParaRPr lang="en-US" dirty="0"/>
          </a:p>
        </p:txBody>
      </p:sp>
    </p:spTree>
    <p:extLst>
      <p:ext uri="{BB962C8B-B14F-4D97-AF65-F5344CB8AC3E}">
        <p14:creationId xmlns:p14="http://schemas.microsoft.com/office/powerpoint/2010/main" val="234524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11: IPS Technologies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IPS Technologies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Explain how network-based Intrusion Prevention Systems are used to help secure a network. </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77213631"/>
              </p:ext>
            </p:extLst>
          </p:nvPr>
        </p:nvGraphicFramePr>
        <p:xfrm>
          <a:off x="423333" y="1625600"/>
          <a:ext cx="8263467" cy="1279012"/>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100" b="1" dirty="0">
                          <a:effectLst/>
                          <a:latin typeface="Arial" panose="020B0604020202020204" pitchFamily="34" charset="0"/>
                          <a:ea typeface="Calibri" panose="020F0502020204030204" pitchFamily="34" charset="0"/>
                          <a:cs typeface="Arial" panose="020B0604020202020204" pitchFamily="34" charset="0"/>
                        </a:rPr>
                        <a:t>IDS and IPS Characteristics</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Explain the functions and operations of IDS and IPS systems.</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cs typeface="Arial" panose="020B0604020202020204" pitchFamily="34" charset="0"/>
                        </a:rPr>
                        <a:t>IPS Implementations</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Explain how network-based IPS are implemented.</a:t>
                      </a:r>
                    </a:p>
                  </a:txBody>
                  <a:tcPr marL="60168" marR="60168" marT="0" marB="0"/>
                </a:tc>
                <a:extLst>
                  <a:ext uri="{0D108BD9-81ED-4DB2-BD59-A6C34878D82A}">
                    <a16:rowId xmlns:a16="http://schemas.microsoft.com/office/drawing/2014/main" val="662892947"/>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IPS on Cisco ISRs</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Describe the IPS technologies that are available on Cisco ISR routers.</a:t>
                      </a:r>
                    </a:p>
                  </a:txBody>
                  <a:tcPr marL="60168" marR="60168" marT="0" marB="0"/>
                </a:tc>
                <a:extLst>
                  <a:ext uri="{0D108BD9-81ED-4DB2-BD59-A6C34878D82A}">
                    <a16:rowId xmlns:a16="http://schemas.microsoft.com/office/drawing/2014/main" val="724516786"/>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Cisco Switched Port Analyzer</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Configure Cisco SPAN.</a:t>
                      </a:r>
                    </a:p>
                  </a:txBody>
                  <a:tcPr marL="60168" marR="60168" marT="0" marB="0"/>
                </a:tc>
                <a:extLst>
                  <a:ext uri="{0D108BD9-81ED-4DB2-BD59-A6C34878D82A}">
                    <a16:rowId xmlns:a16="http://schemas.microsoft.com/office/drawing/2014/main" val="298268992"/>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11.1 IDS and IPS Characteristics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IDS and IPS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Zero-Day Attacks</a:t>
            </a:r>
          </a:p>
        </p:txBody>
      </p:sp>
      <p:sp>
        <p:nvSpPr>
          <p:cNvPr id="5" name="Object4"/>
          <p:cNvSpPr/>
          <p:nvPr/>
        </p:nvSpPr>
        <p:spPr>
          <a:xfrm>
            <a:off x="0" y="760095"/>
            <a:ext cx="9039225" cy="80010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 zero-day attack is a cyberattack that tries to exploit software vulnerabilities that are unknown or undisclosed by the software vendor. The term zero-day describes the moment when a previously unknown threat is identified.</a:t>
            </a:r>
            <a:endParaRPr lang="en-US" sz="1400" dirty="0"/>
          </a:p>
        </p:txBody>
      </p:sp>
      <p:pic>
        <p:nvPicPr>
          <p:cNvPr id="4" name="Picture 3">
            <a:extLst>
              <a:ext uri="{FF2B5EF4-FFF2-40B4-BE49-F238E27FC236}">
                <a16:creationId xmlns:a16="http://schemas.microsoft.com/office/drawing/2014/main" id="{6C3999E1-E2D2-4D3B-A71F-CF3FE24AC41E}"/>
              </a:ext>
            </a:extLst>
          </p:cNvPr>
          <p:cNvPicPr>
            <a:picLocks noChangeAspect="1"/>
          </p:cNvPicPr>
          <p:nvPr/>
        </p:nvPicPr>
        <p:blipFill>
          <a:blip r:embed="rId3"/>
          <a:stretch>
            <a:fillRect/>
          </a:stretch>
        </p:blipFill>
        <p:spPr>
          <a:xfrm>
            <a:off x="104775" y="1558132"/>
            <a:ext cx="4025717" cy="2402363"/>
          </a:xfrm>
          <a:prstGeom prst="rect">
            <a:avLst/>
          </a:prstGeom>
        </p:spPr>
      </p:pic>
      <p:sp>
        <p:nvSpPr>
          <p:cNvPr id="7" name="TextBox 6">
            <a:extLst>
              <a:ext uri="{FF2B5EF4-FFF2-40B4-BE49-F238E27FC236}">
                <a16:creationId xmlns:a16="http://schemas.microsoft.com/office/drawing/2014/main" id="{40FC0CFF-27B4-451B-9904-7448116C0CEE}"/>
              </a:ext>
            </a:extLst>
          </p:cNvPr>
          <p:cNvSpPr txBox="1"/>
          <p:nvPr/>
        </p:nvSpPr>
        <p:spPr>
          <a:xfrm>
            <a:off x="5013510" y="2126943"/>
            <a:ext cx="3489160" cy="276999"/>
          </a:xfrm>
          <a:prstGeom prst="rect">
            <a:avLst/>
          </a:prstGeom>
          <a:noFill/>
        </p:spPr>
        <p:txBody>
          <a:bodyPr wrap="none" rtlCol="0">
            <a:spAutoFit/>
          </a:bodyPr>
          <a:lstStyle/>
          <a:p>
            <a:r>
              <a:rPr lang="en-US" sz="1200" dirty="0">
                <a:latin typeface="Arial" panose="020B0604020202020204" pitchFamily="34" charset="0"/>
                <a:cs typeface="Arial" panose="020B0604020202020204" pitchFamily="34" charset="0"/>
              </a:rPr>
              <a:t>Microsoft Internet Explore Zero-Day Vulnerability</a:t>
            </a:r>
          </a:p>
        </p:txBody>
      </p:sp>
      <p:pic>
        <p:nvPicPr>
          <p:cNvPr id="6" name="Picture 5">
            <a:extLst>
              <a:ext uri="{FF2B5EF4-FFF2-40B4-BE49-F238E27FC236}">
                <a16:creationId xmlns:a16="http://schemas.microsoft.com/office/drawing/2014/main" id="{FB781C0F-D765-400D-9F50-68ABA2DB2CD4}"/>
              </a:ext>
            </a:extLst>
          </p:cNvPr>
          <p:cNvPicPr>
            <a:picLocks noChangeAspect="1"/>
          </p:cNvPicPr>
          <p:nvPr/>
        </p:nvPicPr>
        <p:blipFill>
          <a:blip r:embed="rId4"/>
          <a:stretch>
            <a:fillRect/>
          </a:stretch>
        </p:blipFill>
        <p:spPr>
          <a:xfrm>
            <a:off x="4303724" y="2571750"/>
            <a:ext cx="4735502" cy="188959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IDS and IPS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Monitor for Attacks</a:t>
            </a:r>
          </a:p>
        </p:txBody>
      </p:sp>
      <p:sp>
        <p:nvSpPr>
          <p:cNvPr id="5" name="Object4"/>
          <p:cNvSpPr/>
          <p:nvPr/>
        </p:nvSpPr>
        <p:spPr>
          <a:xfrm>
            <a:off x="0" y="914400"/>
            <a:ext cx="4048125"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Intrusion Detection Systems (IDS) were implemented to passively monitor the traffic on a network. The figure shows that an IDS-enabled device copies the traffic stream and analyzes the copied traffic rather than the actual forwarded packets. A better solution is to use a device that can immediately detect and stop an attack. An Intrusion Prevention System (IPS) performs this function.</a:t>
            </a:r>
          </a:p>
          <a:p>
            <a:pPr>
              <a:lnSpc>
                <a:spcPts val="2000"/>
              </a:lnSpc>
            </a:pPr>
            <a:endParaRPr lang="en-US" sz="1400" dirty="0">
              <a:solidFill>
                <a:srgbClr val="000000"/>
              </a:solidFill>
              <a:latin typeface="Arial" pitchFamily="34" charset="0"/>
              <a:cs typeface="Arial" pitchFamily="34" charset="-120"/>
            </a:endParaRPr>
          </a:p>
          <a:p>
            <a:pPr>
              <a:lnSpc>
                <a:spcPts val="2000"/>
              </a:lnSpc>
            </a:pPr>
            <a:endParaRPr lang="en-US" sz="1400" dirty="0"/>
          </a:p>
        </p:txBody>
      </p:sp>
      <p:pic>
        <p:nvPicPr>
          <p:cNvPr id="4" name="Picture 3">
            <a:extLst>
              <a:ext uri="{FF2B5EF4-FFF2-40B4-BE49-F238E27FC236}">
                <a16:creationId xmlns:a16="http://schemas.microsoft.com/office/drawing/2014/main" id="{425013F0-64EE-4190-9DEC-FAEFB25FEC11}"/>
              </a:ext>
            </a:extLst>
          </p:cNvPr>
          <p:cNvPicPr>
            <a:picLocks noChangeAspect="1"/>
          </p:cNvPicPr>
          <p:nvPr/>
        </p:nvPicPr>
        <p:blipFill>
          <a:blip r:embed="rId3"/>
          <a:stretch>
            <a:fillRect/>
          </a:stretch>
        </p:blipFill>
        <p:spPr>
          <a:xfrm>
            <a:off x="4572000" y="914400"/>
            <a:ext cx="3646834" cy="350538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IDS and IPS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Intrusion Prevention and Detection Devices</a:t>
            </a:r>
          </a:p>
        </p:txBody>
      </p:sp>
      <p:pic>
        <p:nvPicPr>
          <p:cNvPr id="4" name="Picture 3">
            <a:extLst>
              <a:ext uri="{FF2B5EF4-FFF2-40B4-BE49-F238E27FC236}">
                <a16:creationId xmlns:a16="http://schemas.microsoft.com/office/drawing/2014/main" id="{B2096D81-DFD0-4D63-BBDF-2DCB7D0E23D8}"/>
              </a:ext>
            </a:extLst>
          </p:cNvPr>
          <p:cNvPicPr>
            <a:picLocks noChangeAspect="1"/>
          </p:cNvPicPr>
          <p:nvPr/>
        </p:nvPicPr>
        <p:blipFill>
          <a:blip r:embed="rId3"/>
          <a:stretch>
            <a:fillRect/>
          </a:stretch>
        </p:blipFill>
        <p:spPr>
          <a:xfrm>
            <a:off x="1325619" y="649399"/>
            <a:ext cx="5286956" cy="417215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IDS and IPS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Advantages and Disadvantages of IDS and IPS</a:t>
            </a:r>
          </a:p>
        </p:txBody>
      </p:sp>
      <p:graphicFrame>
        <p:nvGraphicFramePr>
          <p:cNvPr id="13" name="Table 12"/>
          <p:cNvGraphicFramePr>
            <a:graphicFrameLocks noGrp="1"/>
          </p:cNvGraphicFramePr>
          <p:nvPr>
            <p:extLst>
              <p:ext uri="{D42A27DB-BD31-4B8C-83A1-F6EECF244321}">
                <p14:modId xmlns:p14="http://schemas.microsoft.com/office/powerpoint/2010/main" val="2450008016"/>
              </p:ext>
            </p:extLst>
          </p:nvPr>
        </p:nvGraphicFramePr>
        <p:xfrm>
          <a:off x="91440" y="1371600"/>
          <a:ext cx="8961120" cy="1508760"/>
        </p:xfrm>
        <a:graphic>
          <a:graphicData uri="http://schemas.openxmlformats.org/drawingml/2006/table">
            <a:tbl>
              <a:tblPr/>
              <a:tblGrid>
                <a:gridCol w="991925">
                  <a:extLst>
                    <a:ext uri="{9D8B030D-6E8A-4147-A177-3AD203B41FA5}">
                      <a16:colId xmlns:a16="http://schemas.microsoft.com/office/drawing/2014/main" val="20000"/>
                    </a:ext>
                  </a:extLst>
                </a:gridCol>
                <a:gridCol w="3538331">
                  <a:extLst>
                    <a:ext uri="{9D8B030D-6E8A-4147-A177-3AD203B41FA5}">
                      <a16:colId xmlns:a16="http://schemas.microsoft.com/office/drawing/2014/main" val="20001"/>
                    </a:ext>
                  </a:extLst>
                </a:gridCol>
                <a:gridCol w="4430864">
                  <a:extLst>
                    <a:ext uri="{9D8B030D-6E8A-4147-A177-3AD203B41FA5}">
                      <a16:colId xmlns:a16="http://schemas.microsoft.com/office/drawing/2014/main" val="20002"/>
                    </a:ext>
                  </a:extLst>
                </a:gridCol>
              </a:tblGrid>
              <a:tr h="0">
                <a:tc>
                  <a:txBody>
                    <a:bodyPr/>
                    <a:lstStyle/>
                    <a:p>
                      <a:r>
                        <a:rPr lang="en-US" sz="1200" dirty="0">
                          <a:solidFill>
                            <a:srgbClr val="FFFFFF"/>
                          </a:solidFill>
                        </a:rPr>
                        <a:t>Solution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Advantages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Disadvantages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latin typeface="Arial" panose="020B0604020202020204" pitchFamily="34" charset="0"/>
                          <a:cs typeface="Arial" panose="020B0604020202020204" pitchFamily="34" charset="0"/>
                        </a:rPr>
                        <a:t>IDS</a:t>
                      </a:r>
                      <a:endParaRPr lang="en-US" sz="12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latin typeface="Arial" panose="020B0604020202020204" pitchFamily="34" charset="0"/>
                          <a:cs typeface="Arial" panose="020B0604020202020204" pitchFamily="34" charset="0"/>
                        </a:rPr>
                        <a:t>No Impact on network (latency, jitter)</a:t>
                      </a: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solidFill>
                            <a:srgbClr val="58585B"/>
                          </a:solidFill>
                          <a:latin typeface="Arial" panose="020B0604020202020204" pitchFamily="34" charset="0"/>
                          <a:cs typeface="Arial" panose="020B0604020202020204" pitchFamily="34" charset="0"/>
                        </a:rPr>
                        <a:t>No Network impact if there is a sensor failure</a:t>
                      </a: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solidFill>
                            <a:srgbClr val="58585B"/>
                          </a:solidFill>
                          <a:latin typeface="Arial" panose="020B0604020202020204" pitchFamily="34" charset="0"/>
                          <a:cs typeface="Arial" panose="020B0604020202020204" pitchFamily="34" charset="0"/>
                        </a:rPr>
                        <a:t>No network impact if there is sensor overload</a:t>
                      </a:r>
                      <a:endParaRPr lang="en-US" sz="12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latin typeface="Arial" panose="020B0604020202020204" pitchFamily="34" charset="0"/>
                          <a:cs typeface="Arial" panose="020B0604020202020204" pitchFamily="34" charset="0"/>
                        </a:rPr>
                        <a:t>Response action cannot stop trigger packets</a:t>
                      </a: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solidFill>
                            <a:srgbClr val="58585B"/>
                          </a:solidFill>
                          <a:latin typeface="Arial" panose="020B0604020202020204" pitchFamily="34" charset="0"/>
                          <a:cs typeface="Arial" panose="020B0604020202020204" pitchFamily="34" charset="0"/>
                        </a:rPr>
                        <a:t>Correct tuning required for response actions</a:t>
                      </a: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solidFill>
                            <a:srgbClr val="58585B"/>
                          </a:solidFill>
                          <a:latin typeface="Arial" panose="020B0604020202020204" pitchFamily="34" charset="0"/>
                          <a:cs typeface="Arial" panose="020B0604020202020204" pitchFamily="34" charset="0"/>
                        </a:rPr>
                        <a:t>More vulnerable to network security evasion techniques</a:t>
                      </a:r>
                      <a:endParaRPr lang="en-US" sz="12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latin typeface="Arial" panose="020B0604020202020204" pitchFamily="34" charset="0"/>
                          <a:cs typeface="Arial" panose="020B0604020202020204" pitchFamily="34" charset="0"/>
                        </a:rPr>
                        <a:t>IPS</a:t>
                      </a:r>
                      <a:endParaRPr lang="en-US" sz="12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latin typeface="Arial" panose="020B0604020202020204" pitchFamily="34" charset="0"/>
                          <a:cs typeface="Arial" panose="020B0604020202020204" pitchFamily="34" charset="0"/>
                        </a:rPr>
                        <a:t>Stops trigger packets</a:t>
                      </a: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solidFill>
                            <a:srgbClr val="58585B"/>
                          </a:solidFill>
                          <a:latin typeface="Arial" panose="020B0604020202020204" pitchFamily="34" charset="0"/>
                          <a:cs typeface="Arial" panose="020B0604020202020204" pitchFamily="34" charset="0"/>
                        </a:rPr>
                        <a:t>Can use stream normalization techniques</a:t>
                      </a:r>
                      <a:endParaRPr lang="en-US" sz="12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latin typeface="Arial" panose="020B0604020202020204" pitchFamily="34" charset="0"/>
                          <a:cs typeface="Arial" panose="020B0604020202020204" pitchFamily="34" charset="0"/>
                        </a:rPr>
                        <a:t>Sensor issues might affect network traffic</a:t>
                      </a: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solidFill>
                            <a:srgbClr val="58585B"/>
                          </a:solidFill>
                          <a:latin typeface="Arial" panose="020B0604020202020204" pitchFamily="34" charset="0"/>
                          <a:cs typeface="Arial" panose="020B0604020202020204" pitchFamily="34" charset="0"/>
                        </a:rPr>
                        <a:t>Sensor overloading impacts the network</a:t>
                      </a: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solidFill>
                            <a:srgbClr val="58585B"/>
                          </a:solidFill>
                          <a:latin typeface="Arial" panose="020B0604020202020204" pitchFamily="34" charset="0"/>
                          <a:cs typeface="Arial" panose="020B0604020202020204" pitchFamily="34" charset="0"/>
                        </a:rPr>
                        <a:t>Some impact on network (latency, jitter)</a:t>
                      </a:r>
                      <a:endParaRPr lang="en-US" sz="12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11.2 IPS Implementations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Implementations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IPS</a:t>
            </a:r>
          </a:p>
        </p:txBody>
      </p:sp>
      <p:sp>
        <p:nvSpPr>
          <p:cNvPr id="4" name="Rectangle 3">
            <a:extLst>
              <a:ext uri="{FF2B5EF4-FFF2-40B4-BE49-F238E27FC236}">
                <a16:creationId xmlns:a16="http://schemas.microsoft.com/office/drawing/2014/main" id="{914D5229-62C9-42A2-BB81-55526A79B5CB}"/>
              </a:ext>
            </a:extLst>
          </p:cNvPr>
          <p:cNvSpPr/>
          <p:nvPr/>
        </p:nvSpPr>
        <p:spPr>
          <a:xfrm>
            <a:off x="0" y="778609"/>
            <a:ext cx="4238625" cy="3539430"/>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There are two primary kinds of IPS available: host-based IPS (HIPS) and network-based IPS.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HIPS can be thought of as a combination of antivirus software, antimalware software, and a firewall. An example of a HIPS is Windows Defender. It provides a range of protection measures for Windows hosts.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A network-based IPS can be implemented using a dedicated or non-dedicated IPS device such as a router. Network-based IPS implementations are a critical component of intrusion prevention. Host-based IDS/IPS solutions must be integrated with a network-based IPS implementation to ensure a robust security architecture.</a:t>
            </a:r>
          </a:p>
        </p:txBody>
      </p:sp>
      <p:sp>
        <p:nvSpPr>
          <p:cNvPr id="6" name="TextBox 5">
            <a:extLst>
              <a:ext uri="{FF2B5EF4-FFF2-40B4-BE49-F238E27FC236}">
                <a16:creationId xmlns:a16="http://schemas.microsoft.com/office/drawing/2014/main" id="{ACBD7A30-E477-43A8-9DAC-235B347830B9}"/>
              </a:ext>
            </a:extLst>
          </p:cNvPr>
          <p:cNvSpPr txBox="1"/>
          <p:nvPr/>
        </p:nvSpPr>
        <p:spPr>
          <a:xfrm>
            <a:off x="5286451" y="895350"/>
            <a:ext cx="2754280"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Sample IPS Sensor Deployment</a:t>
            </a:r>
          </a:p>
        </p:txBody>
      </p:sp>
      <p:pic>
        <p:nvPicPr>
          <p:cNvPr id="5" name="Picture 4">
            <a:extLst>
              <a:ext uri="{FF2B5EF4-FFF2-40B4-BE49-F238E27FC236}">
                <a16:creationId xmlns:a16="http://schemas.microsoft.com/office/drawing/2014/main" id="{3BB29CB3-6DA2-455D-9294-C9713E8713D1}"/>
              </a:ext>
            </a:extLst>
          </p:cNvPr>
          <p:cNvPicPr>
            <a:picLocks noChangeAspect="1"/>
          </p:cNvPicPr>
          <p:nvPr/>
        </p:nvPicPr>
        <p:blipFill>
          <a:blip r:embed="rId3"/>
          <a:stretch>
            <a:fillRect/>
          </a:stretch>
        </p:blipFill>
        <p:spPr>
          <a:xfrm>
            <a:off x="4238625" y="1463040"/>
            <a:ext cx="4849933" cy="263856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Implementations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Network-Based IPS</a:t>
            </a:r>
          </a:p>
        </p:txBody>
      </p:sp>
      <p:sp>
        <p:nvSpPr>
          <p:cNvPr id="5" name="Object4"/>
          <p:cNvSpPr/>
          <p:nvPr/>
        </p:nvSpPr>
        <p:spPr>
          <a:xfrm>
            <a:off x="398275" y="881531"/>
            <a:ext cx="8229600" cy="3465744"/>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Network-based IPS Sensors can be implemented in several ways: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On a Cisco Firepower appliance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On an ASA firewall device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On an ISR router</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As an NGIPSv for VMware</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The hardware of all network-based sensors includes three components: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NIC</a:t>
            </a:r>
            <a:r>
              <a:rPr lang="en-US" sz="1400" dirty="0">
                <a:solidFill>
                  <a:srgbClr val="000000"/>
                </a:solidFill>
                <a:latin typeface="Arial" pitchFamily="34" charset="0"/>
                <a:ea typeface="Arial" pitchFamily="34" charset="-122"/>
                <a:cs typeface="Arial" pitchFamily="34" charset="-120"/>
              </a:rPr>
              <a:t> - The network-based IPS must be able to connect to any network, such as Ethernet, Fast Ethernet, and Gigabit Ethernet.</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Processor</a:t>
            </a:r>
            <a:r>
              <a:rPr lang="en-US" sz="1400" dirty="0">
                <a:solidFill>
                  <a:srgbClr val="000000"/>
                </a:solidFill>
                <a:latin typeface="Arial" pitchFamily="34" charset="0"/>
                <a:ea typeface="Arial" pitchFamily="34" charset="-122"/>
                <a:cs typeface="Arial" pitchFamily="34" charset="-120"/>
              </a:rPr>
              <a:t> - Intrusion prevention requires CPU power to perform intrusion detection analysis and pattern matching.</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Memory</a:t>
            </a:r>
            <a:r>
              <a:rPr lang="en-US" sz="1400" dirty="0">
                <a:solidFill>
                  <a:srgbClr val="000000"/>
                </a:solidFill>
                <a:latin typeface="Arial" pitchFamily="34" charset="0"/>
                <a:ea typeface="Arial" pitchFamily="34" charset="-122"/>
                <a:cs typeface="Arial" pitchFamily="34" charset="-120"/>
              </a:rPr>
              <a:t> - Intrusion detection analysis is memory-intensive. Memory directly affects the ability of a network-based IPS to efficiently and accurately detect an attack.)</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Implementations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Modes of Deployment</a:t>
            </a:r>
          </a:p>
        </p:txBody>
      </p:sp>
      <p:sp>
        <p:nvSpPr>
          <p:cNvPr id="5" name="Object4"/>
          <p:cNvSpPr/>
          <p:nvPr/>
        </p:nvSpPr>
        <p:spPr>
          <a:xfrm>
            <a:off x="114300" y="731520"/>
            <a:ext cx="2171700" cy="60198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IDS and IPS sensors can operate in inline mode (also known as inline interface pair mode) or promiscuous mode (also known as passive mode).</a:t>
            </a:r>
            <a:endParaRPr lang="en-US" sz="1400" dirty="0"/>
          </a:p>
        </p:txBody>
      </p:sp>
      <p:sp>
        <p:nvSpPr>
          <p:cNvPr id="6" name="TextBox 5">
            <a:extLst>
              <a:ext uri="{FF2B5EF4-FFF2-40B4-BE49-F238E27FC236}">
                <a16:creationId xmlns:a16="http://schemas.microsoft.com/office/drawing/2014/main" id="{43E99BF7-2FEB-4F11-834E-7A34D8B24638}"/>
              </a:ext>
            </a:extLst>
          </p:cNvPr>
          <p:cNvSpPr txBox="1"/>
          <p:nvPr/>
        </p:nvSpPr>
        <p:spPr>
          <a:xfrm>
            <a:off x="5449498" y="577631"/>
            <a:ext cx="1109599"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Inline Mode</a:t>
            </a:r>
          </a:p>
        </p:txBody>
      </p:sp>
      <p:pic>
        <p:nvPicPr>
          <p:cNvPr id="4" name="Picture 3">
            <a:extLst>
              <a:ext uri="{FF2B5EF4-FFF2-40B4-BE49-F238E27FC236}">
                <a16:creationId xmlns:a16="http://schemas.microsoft.com/office/drawing/2014/main" id="{A2646865-F1A0-4B04-9477-C10F521B2F60}"/>
              </a:ext>
            </a:extLst>
          </p:cNvPr>
          <p:cNvPicPr>
            <a:picLocks noChangeAspect="1"/>
          </p:cNvPicPr>
          <p:nvPr/>
        </p:nvPicPr>
        <p:blipFill>
          <a:blip r:embed="rId3"/>
          <a:stretch>
            <a:fillRect/>
          </a:stretch>
        </p:blipFill>
        <p:spPr>
          <a:xfrm>
            <a:off x="2978896" y="914019"/>
            <a:ext cx="6050804" cy="830652"/>
          </a:xfrm>
          <a:prstGeom prst="rect">
            <a:avLst/>
          </a:prstGeom>
          <a:solidFill>
            <a:schemeClr val="tx1"/>
          </a:solidFill>
          <a:ln>
            <a:solidFill>
              <a:schemeClr val="tx1"/>
            </a:solidFill>
          </a:ln>
        </p:spPr>
      </p:pic>
      <p:sp>
        <p:nvSpPr>
          <p:cNvPr id="10" name="TextBox 9">
            <a:extLst>
              <a:ext uri="{FF2B5EF4-FFF2-40B4-BE49-F238E27FC236}">
                <a16:creationId xmlns:a16="http://schemas.microsoft.com/office/drawing/2014/main" id="{8DCDA28D-0825-469A-803B-15961DDA45E6}"/>
              </a:ext>
            </a:extLst>
          </p:cNvPr>
          <p:cNvSpPr txBox="1"/>
          <p:nvPr/>
        </p:nvSpPr>
        <p:spPr>
          <a:xfrm>
            <a:off x="2978896" y="3018309"/>
            <a:ext cx="1220206" cy="523220"/>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Promiscuous</a:t>
            </a:r>
          </a:p>
          <a:p>
            <a:r>
              <a:rPr lang="en-US" sz="1400" dirty="0">
                <a:latin typeface="Arial" panose="020B0604020202020204" pitchFamily="34" charset="0"/>
                <a:cs typeface="Arial" panose="020B0604020202020204" pitchFamily="34" charset="0"/>
              </a:rPr>
              <a:t>Mode</a:t>
            </a:r>
          </a:p>
        </p:txBody>
      </p:sp>
      <p:pic>
        <p:nvPicPr>
          <p:cNvPr id="7" name="Picture 6">
            <a:extLst>
              <a:ext uri="{FF2B5EF4-FFF2-40B4-BE49-F238E27FC236}">
                <a16:creationId xmlns:a16="http://schemas.microsoft.com/office/drawing/2014/main" id="{2293F7E1-BE2A-4231-AD73-1AF03FA804D2}"/>
              </a:ext>
            </a:extLst>
          </p:cNvPr>
          <p:cNvPicPr>
            <a:picLocks noChangeAspect="1"/>
          </p:cNvPicPr>
          <p:nvPr/>
        </p:nvPicPr>
        <p:blipFill>
          <a:blip r:embed="rId4"/>
          <a:stretch>
            <a:fillRect/>
          </a:stretch>
        </p:blipFill>
        <p:spPr>
          <a:xfrm>
            <a:off x="4323419" y="1955869"/>
            <a:ext cx="4591981" cy="2648100"/>
          </a:xfrm>
          <a:prstGeom prst="rect">
            <a:avLst/>
          </a:prstGeom>
          <a:ln>
            <a:solidFill>
              <a:schemeClr val="tx1"/>
            </a:solidFill>
          </a:ln>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11.3 IPS on Cisco ISRs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on Cisco ISRs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IPS Components</a:t>
            </a:r>
          </a:p>
        </p:txBody>
      </p:sp>
      <p:sp>
        <p:nvSpPr>
          <p:cNvPr id="5" name="Object4"/>
          <p:cNvSpPr/>
          <p:nvPr/>
        </p:nvSpPr>
        <p:spPr>
          <a:xfrm>
            <a:off x="0" y="914400"/>
            <a:ext cx="400547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An IPS sensor has two components: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IPS detection and enforcement engine </a:t>
            </a:r>
            <a:r>
              <a:rPr lang="en-US" sz="1400" dirty="0">
                <a:solidFill>
                  <a:srgbClr val="000000"/>
                </a:solidFill>
                <a:latin typeface="Arial" pitchFamily="34" charset="0"/>
                <a:ea typeface="Arial" pitchFamily="34" charset="-122"/>
                <a:cs typeface="Arial" pitchFamily="34" charset="-120"/>
              </a:rPr>
              <a:t>- To validate traffic, the detection engine compares incoming traffic with known attack signatures that are included in the IPS attack signature package.</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IPS attack signatures package </a:t>
            </a:r>
            <a:r>
              <a:rPr lang="en-US" sz="1400" dirty="0">
                <a:solidFill>
                  <a:srgbClr val="000000"/>
                </a:solidFill>
                <a:latin typeface="Arial" pitchFamily="34" charset="0"/>
                <a:ea typeface="Arial" pitchFamily="34" charset="-122"/>
                <a:cs typeface="Arial" pitchFamily="34" charset="-120"/>
              </a:rPr>
              <a:t>- This is a list of known attack signatures that are contained in one file. The signature pack is updated frequently as new attacks are discovered. Network traffic is analyzed for matches to these signatures.</a:t>
            </a:r>
          </a:p>
        </p:txBody>
      </p:sp>
      <p:sp>
        <p:nvSpPr>
          <p:cNvPr id="6" name="Object4">
            <a:extLst>
              <a:ext uri="{FF2B5EF4-FFF2-40B4-BE49-F238E27FC236}">
                <a16:creationId xmlns:a16="http://schemas.microsoft.com/office/drawing/2014/main" id="{7823D708-17F8-474F-830E-DDDFD1064073}"/>
              </a:ext>
            </a:extLst>
          </p:cNvPr>
          <p:cNvSpPr/>
          <p:nvPr/>
        </p:nvSpPr>
        <p:spPr>
          <a:xfrm>
            <a:off x="4333462" y="407504"/>
            <a:ext cx="4641574"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IPS detection and enforcement engine that can be implemented depends on the router platform:</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Cisco IOS Intrusion Prevention System (IPS)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Cisco Snort IPS </a:t>
            </a:r>
            <a:endParaRPr lang="en-US" sz="1400" dirty="0"/>
          </a:p>
        </p:txBody>
      </p:sp>
      <p:pic>
        <p:nvPicPr>
          <p:cNvPr id="7" name="Picture 6">
            <a:extLst>
              <a:ext uri="{FF2B5EF4-FFF2-40B4-BE49-F238E27FC236}">
                <a16:creationId xmlns:a16="http://schemas.microsoft.com/office/drawing/2014/main" id="{E98019CE-744A-4AEA-B506-CA28198B58A2}"/>
              </a:ext>
            </a:extLst>
          </p:cNvPr>
          <p:cNvPicPr>
            <a:picLocks noChangeAspect="1"/>
          </p:cNvPicPr>
          <p:nvPr/>
        </p:nvPicPr>
        <p:blipFill>
          <a:blip r:embed="rId3"/>
          <a:stretch>
            <a:fillRect/>
          </a:stretch>
        </p:blipFill>
        <p:spPr>
          <a:xfrm>
            <a:off x="4333462" y="1826315"/>
            <a:ext cx="4216617" cy="260998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on Cisco ISRs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Cisco IOS IPS</a:t>
            </a:r>
          </a:p>
        </p:txBody>
      </p:sp>
      <p:sp>
        <p:nvSpPr>
          <p:cNvPr id="5" name="Object4"/>
          <p:cNvSpPr/>
          <p:nvPr/>
        </p:nvSpPr>
        <p:spPr>
          <a:xfrm>
            <a:off x="-1" y="914400"/>
            <a:ext cx="5911985"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network administrator could configure the Cisco IOS IPS to choose the appropriate response to various threats. For example, when packets in a session matched a signature, Cisco IOS IPS could be configured to respond as follows: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Send an alarm to a syslog server or a centralized management interface.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Drop the packet.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Reset the connection.</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Deny traffic from the source IP address of the threat for a specified amount of time.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Deny traffic on the connection for which the signature was seen for a specified amount of time.</a:t>
            </a:r>
            <a:endParaRPr lang="en-US" sz="1400" dirty="0"/>
          </a:p>
        </p:txBody>
      </p:sp>
      <p:pic>
        <p:nvPicPr>
          <p:cNvPr id="6" name="Picture 5">
            <a:extLst>
              <a:ext uri="{FF2B5EF4-FFF2-40B4-BE49-F238E27FC236}">
                <a16:creationId xmlns:a16="http://schemas.microsoft.com/office/drawing/2014/main" id="{62F8FA1E-B62F-4440-8623-E2963669DA16}"/>
              </a:ext>
            </a:extLst>
          </p:cNvPr>
          <p:cNvPicPr>
            <a:picLocks noChangeAspect="1"/>
          </p:cNvPicPr>
          <p:nvPr/>
        </p:nvPicPr>
        <p:blipFill>
          <a:blip r:embed="rId3"/>
          <a:stretch>
            <a:fillRect/>
          </a:stretch>
        </p:blipFill>
        <p:spPr>
          <a:xfrm>
            <a:off x="5911984" y="1377448"/>
            <a:ext cx="2774815" cy="210870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on Cisco ISRs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Snort IPS</a:t>
            </a:r>
          </a:p>
        </p:txBody>
      </p:sp>
      <p:sp>
        <p:nvSpPr>
          <p:cNvPr id="5" name="Object4"/>
          <p:cNvSpPr/>
          <p:nvPr/>
        </p:nvSpPr>
        <p:spPr>
          <a:xfrm>
            <a:off x="0" y="695739"/>
            <a:ext cx="6172200" cy="2790411"/>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Many of the devices that supported Cisco IOS IPS are no longer available, or no longer supported. The newer Cisco 4000 Series Integrated Services Routers (ISR) provide IPS services using the Snort IPS feature. Snort is an open source network IPS that performs real-time traffic analysis and generates alerts when threats are detected on IP networks. It can also perform protocol analysis, content searching or matching, and detect a variety of attacks and probes, such as buffer overflows, stealth port scans, etc.</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The Snort engine runs in a virtual service container on Cisco 4000 Series ISRs. A virtual service container is a virtual machine that runs on the ISR router operating system. Service containers are applications that can be hosted directly on Cisco IOS XE routing platforms. The Snort container is distributed as an Open Virtualization Appliance (OVA) file that is installed on the router.</a:t>
            </a: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pic>
        <p:nvPicPr>
          <p:cNvPr id="6" name="Picture 5">
            <a:extLst>
              <a:ext uri="{FF2B5EF4-FFF2-40B4-BE49-F238E27FC236}">
                <a16:creationId xmlns:a16="http://schemas.microsoft.com/office/drawing/2014/main" id="{2EC7F241-550D-4423-9125-9E95CB1EA993}"/>
              </a:ext>
            </a:extLst>
          </p:cNvPr>
          <p:cNvPicPr>
            <a:picLocks noChangeAspect="1"/>
          </p:cNvPicPr>
          <p:nvPr/>
        </p:nvPicPr>
        <p:blipFill>
          <a:blip r:embed="rId3"/>
          <a:stretch>
            <a:fillRect/>
          </a:stretch>
        </p:blipFill>
        <p:spPr>
          <a:xfrm>
            <a:off x="6085695" y="1444537"/>
            <a:ext cx="2601104" cy="197211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on Cisco ISRs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Snort Operation </a:t>
            </a:r>
          </a:p>
        </p:txBody>
      </p:sp>
      <p:sp>
        <p:nvSpPr>
          <p:cNvPr id="5" name="Object4"/>
          <p:cNvSpPr/>
          <p:nvPr/>
        </p:nvSpPr>
        <p:spPr>
          <a:xfrm>
            <a:off x="371959" y="91440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Snort IPS signatures are delivered automatically to the ISR by Cisco Talos. Snort can customize rule sets and provide centralized deployment and management capabilities for 4000 Series ISRs.</a:t>
            </a:r>
          </a:p>
          <a:p>
            <a:pPr>
              <a:lnSpc>
                <a:spcPts val="2000"/>
              </a:lnSpc>
            </a:pPr>
            <a:r>
              <a:rPr lang="en-US" sz="1400" dirty="0">
                <a:solidFill>
                  <a:srgbClr val="000000"/>
                </a:solidFill>
                <a:latin typeface="Arial" pitchFamily="34" charset="0"/>
                <a:ea typeface="Arial" pitchFamily="34" charset="-122"/>
                <a:cs typeface="Arial" pitchFamily="34" charset="-120"/>
              </a:rPr>
              <a:t>Snort can be enabled in IDS mode or IPS mode:</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IDS mode </a:t>
            </a:r>
            <a:r>
              <a:rPr lang="en-US" sz="1400" dirty="0">
                <a:solidFill>
                  <a:srgbClr val="000000"/>
                </a:solidFill>
                <a:latin typeface="Arial" pitchFamily="34" charset="0"/>
                <a:ea typeface="Arial" pitchFamily="34" charset="-122"/>
                <a:cs typeface="Arial" pitchFamily="34" charset="-120"/>
              </a:rPr>
              <a:t>- Snort inspects the traffic and reports alerts but does not take any action to prevent attacks.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IPS mode </a:t>
            </a:r>
            <a:r>
              <a:rPr lang="en-US" sz="1400" dirty="0">
                <a:solidFill>
                  <a:srgbClr val="000000"/>
                </a:solidFill>
                <a:latin typeface="Arial" pitchFamily="34" charset="0"/>
                <a:ea typeface="Arial" pitchFamily="34" charset="-122"/>
                <a:cs typeface="Arial" pitchFamily="34" charset="-120"/>
              </a:rPr>
              <a:t>- In addition to intrusion detection, actions are taken to prevent attacks.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In the network intrusion detection and prevention mode, Snort performs the following actions: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Monitors network traffic and analyzes against a defined rule set.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Performs attack classification.</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Invokes actions against matched rules.</a:t>
            </a: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on Cisco ISRs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Snort Features</a:t>
            </a:r>
          </a:p>
        </p:txBody>
      </p:sp>
      <p:sp>
        <p:nvSpPr>
          <p:cNvPr id="5" name="Rectangle 4">
            <a:extLst>
              <a:ext uri="{FF2B5EF4-FFF2-40B4-BE49-F238E27FC236}">
                <a16:creationId xmlns:a16="http://schemas.microsoft.com/office/drawing/2014/main" id="{817F3B31-CF95-4F81-88F1-0118B4B2D22A}"/>
              </a:ext>
            </a:extLst>
          </p:cNvPr>
          <p:cNvSpPr/>
          <p:nvPr/>
        </p:nvSpPr>
        <p:spPr>
          <a:xfrm>
            <a:off x="0" y="731520"/>
            <a:ext cx="4572000" cy="307777"/>
          </a:xfrm>
          <a:prstGeom prst="rect">
            <a:avLst/>
          </a:prstGeom>
        </p:spPr>
        <p:txBody>
          <a:bodyPr>
            <a:spAutoFit/>
          </a:bodyPr>
          <a:lstStyle/>
          <a:p>
            <a:r>
              <a:rPr lang="en-US" sz="1400" dirty="0">
                <a:latin typeface="Arial" panose="020B0604020202020204" pitchFamily="34" charset="0"/>
                <a:cs typeface="Arial" panose="020B0604020202020204" pitchFamily="34" charset="0"/>
              </a:rPr>
              <a:t>The table lists the features and benefits of Snort IPS.</a:t>
            </a:r>
          </a:p>
        </p:txBody>
      </p:sp>
      <p:graphicFrame>
        <p:nvGraphicFramePr>
          <p:cNvPr id="25" name="Table 24"/>
          <p:cNvGraphicFramePr>
            <a:graphicFrameLocks noGrp="1"/>
          </p:cNvGraphicFramePr>
          <p:nvPr>
            <p:extLst>
              <p:ext uri="{D42A27DB-BD31-4B8C-83A1-F6EECF244321}">
                <p14:modId xmlns:p14="http://schemas.microsoft.com/office/powerpoint/2010/main" val="4258844964"/>
              </p:ext>
            </p:extLst>
          </p:nvPr>
        </p:nvGraphicFramePr>
        <p:xfrm>
          <a:off x="91440" y="1039297"/>
          <a:ext cx="8961120" cy="3017520"/>
        </p:xfrm>
        <a:graphic>
          <a:graphicData uri="http://schemas.openxmlformats.org/drawingml/2006/table">
            <a:tbl>
              <a:tblPr/>
              <a:tblGrid>
                <a:gridCol w="3307743">
                  <a:extLst>
                    <a:ext uri="{9D8B030D-6E8A-4147-A177-3AD203B41FA5}">
                      <a16:colId xmlns:a16="http://schemas.microsoft.com/office/drawing/2014/main" val="20000"/>
                    </a:ext>
                  </a:extLst>
                </a:gridCol>
                <a:gridCol w="5653377">
                  <a:extLst>
                    <a:ext uri="{9D8B030D-6E8A-4147-A177-3AD203B41FA5}">
                      <a16:colId xmlns:a16="http://schemas.microsoft.com/office/drawing/2014/main" val="20001"/>
                    </a:ext>
                  </a:extLst>
                </a:gridCol>
              </a:tblGrid>
              <a:tr h="0">
                <a:tc>
                  <a:txBody>
                    <a:bodyPr/>
                    <a:lstStyle/>
                    <a:p>
                      <a:r>
                        <a:rPr lang="en-US" sz="1200" dirty="0">
                          <a:solidFill>
                            <a:srgbClr val="FFFFFF"/>
                          </a:solidFill>
                        </a:rPr>
                        <a:t>Feature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Benefit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Signature-based intrusion detection system (IDS) and intrusion prevention system (IPS)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Snort open-source IPS, capable of performing real-time traffic analysis and packet logging on IP networks, runs on the 4000 Series ISR service container without the need to deploy an additional device at the branch.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Snort rule set updates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Snort rule set updates for 4000 Series ISRs are generated by Cisco Talos, a group of leading-edge network security experts who work around the clock to proactively discover, assess, and respond to the latest trends in hacking activities, intrusion attempts, malware, and vulnerabilities.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Snort rule set pull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 router will be able to download rule sets directly from cisco.com or snort.org to a local server, using one-time commands or periodic automated updates.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Snort rule set push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A centralized management tool can push the rule sets based on preconfigured policy, instead of the router directly downloading on its own.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Signature allowed listing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Allowed listing allows the disabling of certain signatures from the rule set. Disabled signatures can be reenabled at any time.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on Cisco ISRs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Snort System Requirements</a:t>
            </a:r>
          </a:p>
        </p:txBody>
      </p:sp>
      <p:sp>
        <p:nvSpPr>
          <p:cNvPr id="5" name="Object4"/>
          <p:cNvSpPr/>
          <p:nvPr/>
        </p:nvSpPr>
        <p:spPr>
          <a:xfrm>
            <a:off x="302217" y="844658"/>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 security K9 license (SEC) is required to activate Snort IPS functionality. Customers also need to purchase a yearly subscription for the signature package distributed on cisco.com. To keep current with the latest threat protection, Snort rule sets are term-based subscriptions, available for one or three years.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There are two types of term-based subscriptions: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Community Rule Set </a:t>
            </a:r>
            <a:r>
              <a:rPr lang="en-US" sz="1400" dirty="0">
                <a:solidFill>
                  <a:srgbClr val="000000"/>
                </a:solidFill>
                <a:latin typeface="Arial" pitchFamily="34" charset="0"/>
                <a:ea typeface="Arial" pitchFamily="34" charset="-122"/>
                <a:cs typeface="Arial" pitchFamily="34" charset="-120"/>
              </a:rPr>
              <a:t>- Offers limited coverage against threats, focusing on reactive response to security threats versus proactive research work. There is 30-day delayed access to updated signatures in the Community Rule Set, and this subscription does not entitle the customer to Cisco support.</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Subscriber Rule Set </a:t>
            </a:r>
            <a:r>
              <a:rPr lang="en-US" sz="1400" dirty="0">
                <a:solidFill>
                  <a:srgbClr val="000000"/>
                </a:solidFill>
                <a:latin typeface="Arial" pitchFamily="34" charset="0"/>
                <a:ea typeface="Arial" pitchFamily="34" charset="-122"/>
                <a:cs typeface="Arial" pitchFamily="34" charset="-120"/>
              </a:rPr>
              <a:t>- Offers the best protection against threats. It includes coverage in advance of exploits by using the research work of the Cisco Talos security experts. The Subscriber Rule Set also provides the fastest access to updated signatures in response to a security incident or the proactive discovery of a new threat. This subscription is fully supported by Cisco.</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11.4 Cisco Switched Port Analyzer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Network Monitoring Methods</a:t>
            </a:r>
          </a:p>
        </p:txBody>
      </p:sp>
      <p:sp>
        <p:nvSpPr>
          <p:cNvPr id="5" name="Object4"/>
          <p:cNvSpPr/>
          <p:nvPr/>
        </p:nvSpPr>
        <p:spPr>
          <a:xfrm>
            <a:off x="247973" y="929898"/>
            <a:ext cx="82296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day-to-day operation of a network consists of common patterns of traffic flow, bandwidth usage, and resource access. Together, these patterns identify normal network behavior. Security analysts must be intimately familiar with normal network behavior because abnormal network behavior typically indicates a problem.</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To determine normal network behavior, network monitoring must be implemented using IDS, packet analyzers, SNMP, NetFlow, and other tools. Some of these tools require captured network data. There are two common methods used to capture traffic and send it to network monitoring devices: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    Network taps, sometimes known as test access points (TAPs)</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    Traffic mirroring using Switch Port Analyzer (SPAN) or other port mirroring approaches. </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Network Taps</a:t>
            </a:r>
          </a:p>
        </p:txBody>
      </p:sp>
      <p:sp>
        <p:nvSpPr>
          <p:cNvPr id="5" name="Object4"/>
          <p:cNvSpPr/>
          <p:nvPr/>
        </p:nvSpPr>
        <p:spPr>
          <a:xfrm>
            <a:off x="0" y="914400"/>
            <a:ext cx="3827721" cy="91440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A network tap is typically a passive splitting device implemented inline between a device of interest and the network. A tap forwards all traffic, including physical layer errors, to an analysis device while also allowing the traffic to reach its intended destination. Taps are also typically fail-safe, which means if a tap fails or loses power, traffic between the firewall and internal router is not affected.</a:t>
            </a:r>
            <a:endParaRPr lang="en-US" sz="1600" dirty="0"/>
          </a:p>
        </p:txBody>
      </p:sp>
      <p:pic>
        <p:nvPicPr>
          <p:cNvPr id="4" name="Picture 3">
            <a:extLst>
              <a:ext uri="{FF2B5EF4-FFF2-40B4-BE49-F238E27FC236}">
                <a16:creationId xmlns:a16="http://schemas.microsoft.com/office/drawing/2014/main" id="{8E208B47-B1FD-41D7-8465-D5D24DE08C12}"/>
              </a:ext>
            </a:extLst>
          </p:cNvPr>
          <p:cNvPicPr>
            <a:picLocks noChangeAspect="1"/>
          </p:cNvPicPr>
          <p:nvPr/>
        </p:nvPicPr>
        <p:blipFill>
          <a:blip r:embed="rId3"/>
          <a:stretch>
            <a:fillRect/>
          </a:stretch>
        </p:blipFill>
        <p:spPr>
          <a:xfrm>
            <a:off x="3879336" y="914400"/>
            <a:ext cx="4881003" cy="269191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Traffic Mirroring and SPAN</a:t>
            </a:r>
          </a:p>
        </p:txBody>
      </p:sp>
      <p:graphicFrame>
        <p:nvGraphicFramePr>
          <p:cNvPr id="31" name="Table 30"/>
          <p:cNvGraphicFramePr>
            <a:graphicFrameLocks noGrp="1"/>
          </p:cNvGraphicFramePr>
          <p:nvPr>
            <p:extLst>
              <p:ext uri="{D42A27DB-BD31-4B8C-83A1-F6EECF244321}">
                <p14:modId xmlns:p14="http://schemas.microsoft.com/office/powerpoint/2010/main" val="82132030"/>
              </p:ext>
            </p:extLst>
          </p:nvPr>
        </p:nvGraphicFramePr>
        <p:xfrm>
          <a:off x="1072431" y="2863051"/>
          <a:ext cx="6816256" cy="1661160"/>
        </p:xfrm>
        <a:graphic>
          <a:graphicData uri="http://schemas.openxmlformats.org/drawingml/2006/table">
            <a:tbl>
              <a:tblPr/>
              <a:tblGrid>
                <a:gridCol w="1782690">
                  <a:extLst>
                    <a:ext uri="{9D8B030D-6E8A-4147-A177-3AD203B41FA5}">
                      <a16:colId xmlns:a16="http://schemas.microsoft.com/office/drawing/2014/main" val="20000"/>
                    </a:ext>
                  </a:extLst>
                </a:gridCol>
                <a:gridCol w="5033566">
                  <a:extLst>
                    <a:ext uri="{9D8B030D-6E8A-4147-A177-3AD203B41FA5}">
                      <a16:colId xmlns:a16="http://schemas.microsoft.com/office/drawing/2014/main" val="20001"/>
                    </a:ext>
                  </a:extLst>
                </a:gridCol>
              </a:tblGrid>
              <a:tr h="0">
                <a:tc>
                  <a:txBody>
                    <a:bodyPr/>
                    <a:lstStyle/>
                    <a:p>
                      <a:r>
                        <a:rPr lang="en-US" sz="1200" dirty="0">
                          <a:solidFill>
                            <a:srgbClr val="FFFFFF"/>
                          </a:solidFill>
                        </a:rPr>
                        <a:t>SPAN Term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Ingress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Traffic that enters the switch.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Egress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Traffic that leaves the switch.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dirty="0">
                          <a:solidFill>
                            <a:srgbClr val="58585B"/>
                          </a:solidFill>
                        </a:rPr>
                        <a:t>Source (SPAN) port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Source ports are monitored as traffic entering them is replicated (mirrored) to the destination ports.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Destination (SPAN) port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 port that mirrors source ports. Destination SPAN ports often connect to analysis devices such as a packet analyzer or an IDS.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512F6ECA-2BFB-4971-AA50-CBF493AB9308}"/>
              </a:ext>
            </a:extLst>
          </p:cNvPr>
          <p:cNvSpPr/>
          <p:nvPr/>
        </p:nvSpPr>
        <p:spPr>
          <a:xfrm>
            <a:off x="0" y="726788"/>
            <a:ext cx="8961119" cy="2031325"/>
          </a:xfrm>
          <a:prstGeom prst="rect">
            <a:avLst/>
          </a:prstGeom>
        </p:spPr>
        <p:txBody>
          <a:bodyPr wrap="square">
            <a:spAutoFit/>
          </a:bodyPr>
          <a:lstStyle/>
          <a:p>
            <a:r>
              <a:rPr lang="en-US" dirty="0">
                <a:latin typeface="Arial" panose="020B0604020202020204" pitchFamily="34" charset="0"/>
                <a:cs typeface="Arial" panose="020B0604020202020204" pitchFamily="34" charset="0"/>
              </a:rPr>
              <a:t>Because capturing data for network monitoring requires all traffic to be captured, special techniques must be employed to bypass the network segmentation imposed by network switches. Port mirroring is one of these techniques. Port mirroring enables the switch to copy frames that are received on one or more ports to a Switch Port Analyzer (SPAN) port that is connected to an analysis device.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table identifies and describes terms used by the SPAN feature.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Traffic Mirroring and SPAN (Cont.)</a:t>
            </a:r>
          </a:p>
        </p:txBody>
      </p:sp>
      <p:sp>
        <p:nvSpPr>
          <p:cNvPr id="4" name="Rectangle 3">
            <a:extLst>
              <a:ext uri="{FF2B5EF4-FFF2-40B4-BE49-F238E27FC236}">
                <a16:creationId xmlns:a16="http://schemas.microsoft.com/office/drawing/2014/main" id="{809BC78A-609A-42CF-A366-78DBF409B01F}"/>
              </a:ext>
            </a:extLst>
          </p:cNvPr>
          <p:cNvSpPr/>
          <p:nvPr/>
        </p:nvSpPr>
        <p:spPr>
          <a:xfrm>
            <a:off x="142876" y="865554"/>
            <a:ext cx="4280038"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figure shows a switch that interconnects two hosts and mirrors traffic to an intrusion detection device (IDS) and network management server.</a:t>
            </a:r>
          </a:p>
        </p:txBody>
      </p:sp>
      <p:pic>
        <p:nvPicPr>
          <p:cNvPr id="5" name="Picture 4">
            <a:extLst>
              <a:ext uri="{FF2B5EF4-FFF2-40B4-BE49-F238E27FC236}">
                <a16:creationId xmlns:a16="http://schemas.microsoft.com/office/drawing/2014/main" id="{4BF7D586-BB00-48E4-8836-54AFF2D01CAF}"/>
              </a:ext>
            </a:extLst>
          </p:cNvPr>
          <p:cNvPicPr>
            <a:picLocks noChangeAspect="1"/>
          </p:cNvPicPr>
          <p:nvPr/>
        </p:nvPicPr>
        <p:blipFill>
          <a:blip r:embed="rId3"/>
          <a:stretch>
            <a:fillRect/>
          </a:stretch>
        </p:blipFill>
        <p:spPr>
          <a:xfrm>
            <a:off x="4253948" y="622070"/>
            <a:ext cx="4775488" cy="365587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32</a:t>
            </a:fld>
            <a:endParaRPr lang="en-US" dirty="0"/>
          </a:p>
        </p:txBody>
      </p:sp>
    </p:spTree>
    <p:extLst>
      <p:ext uri="{BB962C8B-B14F-4D97-AF65-F5344CB8AC3E}">
        <p14:creationId xmlns:p14="http://schemas.microsoft.com/office/powerpoint/2010/main" val="651672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Cisco SPAN</a:t>
            </a:r>
          </a:p>
        </p:txBody>
      </p:sp>
      <p:sp>
        <p:nvSpPr>
          <p:cNvPr id="5" name="Object4"/>
          <p:cNvSpPr/>
          <p:nvPr/>
        </p:nvSpPr>
        <p:spPr>
          <a:xfrm>
            <a:off x="286719" y="929896"/>
            <a:ext cx="8725545" cy="3571875"/>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SPAN feature on Cisco switches sends a copy of each frame entering the source port out the destination port and toward the packet analyzer or IDS. A session number is used to identify a SPAN session. The figure shows the </a:t>
            </a:r>
            <a:r>
              <a:rPr lang="en-US" sz="1600" b="1" dirty="0">
                <a:solidFill>
                  <a:srgbClr val="000000"/>
                </a:solidFill>
                <a:latin typeface="Arial" pitchFamily="34" charset="0"/>
                <a:ea typeface="Arial" pitchFamily="34" charset="-122"/>
                <a:cs typeface="Arial" pitchFamily="34" charset="-120"/>
              </a:rPr>
              <a:t>monitor session </a:t>
            </a:r>
            <a:r>
              <a:rPr lang="en-US" sz="1600" dirty="0">
                <a:solidFill>
                  <a:srgbClr val="000000"/>
                </a:solidFill>
                <a:latin typeface="Arial" pitchFamily="34" charset="0"/>
                <a:ea typeface="Arial" pitchFamily="34" charset="-122"/>
                <a:cs typeface="Arial" pitchFamily="34" charset="-120"/>
              </a:rPr>
              <a:t>command, used to associate a source port and a destination port with a SPAN session.  A VLAN can be specified instead of a physical port.</a:t>
            </a:r>
            <a:endParaRPr lang="en-US" sz="1600" dirty="0"/>
          </a:p>
        </p:txBody>
      </p:sp>
      <p:pic>
        <p:nvPicPr>
          <p:cNvPr id="7" name="Picture 6">
            <a:extLst>
              <a:ext uri="{FF2B5EF4-FFF2-40B4-BE49-F238E27FC236}">
                <a16:creationId xmlns:a16="http://schemas.microsoft.com/office/drawing/2014/main" id="{712AFB09-DAE6-4CAA-BF78-F003C63B8302}"/>
              </a:ext>
            </a:extLst>
          </p:cNvPr>
          <p:cNvPicPr>
            <a:picLocks noChangeAspect="1"/>
          </p:cNvPicPr>
          <p:nvPr/>
        </p:nvPicPr>
        <p:blipFill>
          <a:blip r:embed="rId3"/>
          <a:stretch>
            <a:fillRect/>
          </a:stretch>
        </p:blipFill>
        <p:spPr>
          <a:xfrm>
            <a:off x="520920" y="2322405"/>
            <a:ext cx="8102160" cy="80177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Cisco SPAN (cont.)</a:t>
            </a:r>
          </a:p>
        </p:txBody>
      </p:sp>
      <p:sp>
        <p:nvSpPr>
          <p:cNvPr id="5" name="Object4"/>
          <p:cNvSpPr/>
          <p:nvPr/>
        </p:nvSpPr>
        <p:spPr>
          <a:xfrm>
            <a:off x="0" y="914399"/>
            <a:ext cx="3091070" cy="3571875"/>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In this example, PCA is connected to F0/1 and an IDS is connected to F0/2. The objective is to capture all the traffic that is sent or received by PCA on port F0/1 and send a copy of those frames to the IDS (or a packet analyzer) on port F0/2. The SPAN session on the switch will copy all the traffic that it sends and receives on source port F0/1 to the destination port F0/2.</a:t>
            </a:r>
            <a:endParaRPr lang="en-US" sz="1600" dirty="0"/>
          </a:p>
        </p:txBody>
      </p:sp>
      <p:pic>
        <p:nvPicPr>
          <p:cNvPr id="6" name="Picture 5">
            <a:extLst>
              <a:ext uri="{FF2B5EF4-FFF2-40B4-BE49-F238E27FC236}">
                <a16:creationId xmlns:a16="http://schemas.microsoft.com/office/drawing/2014/main" id="{B7BE455B-FEA5-437C-8AF9-36739959F0DE}"/>
              </a:ext>
            </a:extLst>
          </p:cNvPr>
          <p:cNvPicPr>
            <a:picLocks noChangeAspect="1"/>
          </p:cNvPicPr>
          <p:nvPr/>
        </p:nvPicPr>
        <p:blipFill>
          <a:blip r:embed="rId3"/>
          <a:stretch>
            <a:fillRect/>
          </a:stretch>
        </p:blipFill>
        <p:spPr>
          <a:xfrm>
            <a:off x="3157967" y="923842"/>
            <a:ext cx="5857840" cy="279090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34</a:t>
            </a:fld>
            <a:endParaRPr lang="en-US" dirty="0"/>
          </a:p>
        </p:txBody>
      </p:sp>
    </p:spTree>
    <p:extLst>
      <p:ext uri="{BB962C8B-B14F-4D97-AF65-F5344CB8AC3E}">
        <p14:creationId xmlns:p14="http://schemas.microsoft.com/office/powerpoint/2010/main" val="33200952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Switched Port Analyzer</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Cisco SPAN (cont.)</a:t>
            </a:r>
          </a:p>
        </p:txBody>
      </p:sp>
      <p:sp>
        <p:nvSpPr>
          <p:cNvPr id="5" name="Object4"/>
          <p:cNvSpPr/>
          <p:nvPr/>
        </p:nvSpPr>
        <p:spPr>
          <a:xfrm>
            <a:off x="805068" y="1581563"/>
            <a:ext cx="3935897" cy="3571875"/>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a:t>
            </a:r>
            <a:r>
              <a:rPr lang="en-US" sz="1600" b="1" dirty="0">
                <a:solidFill>
                  <a:srgbClr val="000000"/>
                </a:solidFill>
                <a:latin typeface="Arial" pitchFamily="34" charset="0"/>
                <a:ea typeface="Arial" pitchFamily="34" charset="-122"/>
                <a:cs typeface="Arial" pitchFamily="34" charset="-120"/>
              </a:rPr>
              <a:t>show monitor </a:t>
            </a:r>
            <a:r>
              <a:rPr lang="en-US" sz="1600" dirty="0">
                <a:solidFill>
                  <a:srgbClr val="000000"/>
                </a:solidFill>
                <a:latin typeface="Arial" pitchFamily="34" charset="0"/>
                <a:ea typeface="Arial" pitchFamily="34" charset="-122"/>
                <a:cs typeface="Arial" pitchFamily="34" charset="-120"/>
              </a:rPr>
              <a:t>command is used to verify the SPAN session.</a:t>
            </a:r>
            <a:endParaRPr lang="en-US" sz="1600" dirty="0"/>
          </a:p>
        </p:txBody>
      </p:sp>
      <p:pic>
        <p:nvPicPr>
          <p:cNvPr id="7" name="Picture 6">
            <a:extLst>
              <a:ext uri="{FF2B5EF4-FFF2-40B4-BE49-F238E27FC236}">
                <a16:creationId xmlns:a16="http://schemas.microsoft.com/office/drawing/2014/main" id="{1A96578A-2BAA-456E-A124-0B38552A98E2}"/>
              </a:ext>
            </a:extLst>
          </p:cNvPr>
          <p:cNvPicPr>
            <a:picLocks noChangeAspect="1"/>
          </p:cNvPicPr>
          <p:nvPr/>
        </p:nvPicPr>
        <p:blipFill>
          <a:blip r:embed="rId3"/>
          <a:stretch>
            <a:fillRect/>
          </a:stretch>
        </p:blipFill>
        <p:spPr>
          <a:xfrm>
            <a:off x="4885688" y="1581563"/>
            <a:ext cx="3308520" cy="231151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35</a:t>
            </a:fld>
            <a:endParaRPr lang="en-US" dirty="0"/>
          </a:p>
        </p:txBody>
      </p:sp>
    </p:spTree>
    <p:extLst>
      <p:ext uri="{BB962C8B-B14F-4D97-AF65-F5344CB8AC3E}">
        <p14:creationId xmlns:p14="http://schemas.microsoft.com/office/powerpoint/2010/main" val="138480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Switched Port Analyzer</a:t>
            </a:r>
          </a:p>
        </p:txBody>
      </p:sp>
      <p:sp>
        <p:nvSpPr>
          <p:cNvPr id="3" name="Object2"/>
          <p:cNvSpPr>
            <a:spLocks noGrp="1"/>
          </p:cNvSpPr>
          <p:nvPr>
            <p:ph type="body" idx="100" hasCustomPrompt="1"/>
          </p:nvPr>
        </p:nvSpPr>
        <p:spPr>
          <a:xfrm>
            <a:off x="0" y="274320"/>
            <a:ext cx="9144000" cy="441297"/>
          </a:xfrm>
          <a:prstGeom prst="rect">
            <a:avLst/>
          </a:prstGeom>
          <a:noFill/>
          <a:ln/>
        </p:spPr>
        <p:txBody>
          <a:bodyPr wrap="square" rtlCol="0"/>
          <a:lstStyle/>
          <a:p>
            <a:pPr marL="0" indent="0">
              <a:buNone/>
            </a:pPr>
            <a:r>
              <a:rPr lang="en-US" dirty="0"/>
              <a:t>Packet Tracer - Implement a Local SPAN</a:t>
            </a:r>
          </a:p>
        </p:txBody>
      </p:sp>
      <p:sp>
        <p:nvSpPr>
          <p:cNvPr id="5" name="Object4"/>
          <p:cNvSpPr/>
          <p:nvPr/>
        </p:nvSpPr>
        <p:spPr>
          <a:xfrm>
            <a:off x="255722" y="914400"/>
            <a:ext cx="82296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In this Packet Tracer, you will complete the following objectives: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    Part 1: Build the Network and Verify Connectivity</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    Part 2: Configure Local SPAN and Capture Copied Traffic with Wireshark</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11.5 Module 11: IPS Technologies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Module 11: IPS Technologies Summary</a:t>
            </a:r>
          </a:p>
        </p:txBody>
      </p:sp>
      <p:sp>
        <p:nvSpPr>
          <p:cNvPr id="3" name="Object2"/>
          <p:cNvSpPr>
            <a:spLocks noGrp="1"/>
          </p:cNvSpPr>
          <p:nvPr>
            <p:ph type="body" idx="100" hasCustomPrompt="1"/>
          </p:nvPr>
        </p:nvSpPr>
        <p:spPr>
          <a:xfrm>
            <a:off x="0" y="274320"/>
            <a:ext cx="9144000" cy="481054"/>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2296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IDS and IPS make up part of a multi-layered approach to network security.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IDS work offline to detect malicious traffic through traffic mirroring.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IPS devices work inline to prevent network attacks, however they can add latency and slow network performance.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IPSs can be host-based (HIPS) or network-based (NIPS).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 HIPS are installed on network hosts.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 NIPS can be deployed in two modes.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In promiscuous mode, a NIPS functions as IDS by monitoring mirrored traffic, alerting personnel and logging information when attacks occur.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In inline mode, NIPS processes all traffic that enters a network and checks that traffic at Layers 3 to 7.</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Enabling IPS functionality on routers at the branch level is a cost-effective way to protect networks with a single device.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For the 4000 Series ISR, the Cisco Snort IPS has replaced the IOS IPS.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Module 11: IPS Technologies Summary</a:t>
            </a:r>
          </a:p>
        </p:txBody>
      </p:sp>
      <p:sp>
        <p:nvSpPr>
          <p:cNvPr id="3" name="Object2"/>
          <p:cNvSpPr>
            <a:spLocks noGrp="1"/>
          </p:cNvSpPr>
          <p:nvPr>
            <p:ph type="body" idx="100" hasCustomPrompt="1"/>
          </p:nvPr>
        </p:nvSpPr>
        <p:spPr>
          <a:xfrm>
            <a:off x="0" y="274320"/>
            <a:ext cx="9144000" cy="481054"/>
          </a:xfrm>
          <a:prstGeom prst="rect">
            <a:avLst/>
          </a:prstGeom>
          <a:noFill/>
          <a:ln/>
        </p:spPr>
        <p:txBody>
          <a:bodyPr wrap="square" rtlCol="0"/>
          <a:lstStyle/>
          <a:p>
            <a:pPr marL="0" indent="0">
              <a:buNone/>
            </a:pPr>
            <a:r>
              <a:rPr lang="en-US" dirty="0"/>
              <a:t>What Did I learn in this Module? (cont.)</a:t>
            </a:r>
          </a:p>
        </p:txBody>
      </p:sp>
      <p:sp>
        <p:nvSpPr>
          <p:cNvPr id="5" name="Object4"/>
          <p:cNvSpPr/>
          <p:nvPr/>
        </p:nvSpPr>
        <p:spPr>
          <a:xfrm>
            <a:off x="0" y="914400"/>
            <a:ext cx="82296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Snort monitors network traffic and analyzes it against a defined-rule set.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Snort can classify attacks by type and can perform actions against the traffic.</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Snort can be configured to automatically update its rules from an internet source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SPAN is a technology that enables network monitoring from source ports or VLANs to a destination port or VLAN that is connected to the monitoring device or IDS.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Source ports carry the traffic that is to be monitored, and destination ports are connected to the monitoring devices.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configuration of SPAN entails defining the source and destination switchports.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39</a:t>
            </a:fld>
            <a:endParaRPr lang="en-US" dirty="0"/>
          </a:p>
        </p:txBody>
      </p:sp>
    </p:spTree>
    <p:extLst>
      <p:ext uri="{BB962C8B-B14F-4D97-AF65-F5344CB8AC3E}">
        <p14:creationId xmlns:p14="http://schemas.microsoft.com/office/powerpoint/2010/main" val="271623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Technologies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New Terms and Commands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75B16E26-71B4-4E4D-B941-1D2AD130789A}"/>
              </a:ext>
            </a:extLst>
          </p:cNvPr>
          <p:cNvGraphicFramePr>
            <a:graphicFrameLocks/>
          </p:cNvGraphicFramePr>
          <p:nvPr>
            <p:extLst>
              <p:ext uri="{D42A27DB-BD31-4B8C-83A1-F6EECF244321}">
                <p14:modId xmlns:p14="http://schemas.microsoft.com/office/powerpoint/2010/main" val="2153253954"/>
              </p:ext>
            </p:extLst>
          </p:nvPr>
        </p:nvGraphicFramePr>
        <p:xfrm>
          <a:off x="294640" y="650450"/>
          <a:ext cx="8458662" cy="4165600"/>
        </p:xfrm>
        <a:graphic>
          <a:graphicData uri="http://schemas.openxmlformats.org/drawingml/2006/table">
            <a:tbl>
              <a:tblPr firstRow="1" bandRow="1">
                <a:tableStyleId>{F5AB1C69-6EDB-4FF4-983F-18BD219EF322}</a:tableStyleId>
              </a:tblPr>
              <a:tblGrid>
                <a:gridCol w="3999424">
                  <a:extLst>
                    <a:ext uri="{9D8B030D-6E8A-4147-A177-3AD203B41FA5}">
                      <a16:colId xmlns:a16="http://schemas.microsoft.com/office/drawing/2014/main" val="2731093094"/>
                    </a:ext>
                  </a:extLst>
                </a:gridCol>
                <a:gridCol w="4459238">
                  <a:extLst>
                    <a:ext uri="{9D8B030D-6E8A-4147-A177-3AD203B41FA5}">
                      <a16:colId xmlns:a16="http://schemas.microsoft.com/office/drawing/2014/main" val="2353496225"/>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zero-day threat</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security operations center (SOC)</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security information and event management (SIEM)</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security orchestration, automation, and response (SOAR)</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intrusion detection systems (IDS) </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intrusion prevention systems (IPS)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Host-based IPS (HIPS) </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Network-based IPS (NIPS)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Switched Port Analyzer (SPAN)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promiscuous mode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inline mode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Snort IPS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IDS mode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IPS mode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community rule set</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subscriber rule set</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network tap</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test access points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ingress traffic</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egress traffic</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monitor</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session</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number</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source</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interface</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interface</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vlan</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vlan</a:t>
                      </a:r>
                      <a:r>
                        <a:rPr lang="en-US" sz="1400" b="0"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monitor</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session</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number</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destination</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interface</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interface</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vlan</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vlan</a:t>
                      </a:r>
                      <a:r>
                        <a:rPr lang="en-US" sz="1400" b="0"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monitor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6456931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459</TotalTime>
  <Words>4151</Words>
  <Application>Microsoft Office PowerPoint</Application>
  <PresentationFormat>On-screen Show (16:9)</PresentationFormat>
  <Paragraphs>435</Paragraphs>
  <Slides>41</Slides>
  <Notes>39</Notes>
  <HiddenSlides>8</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41</vt:i4>
      </vt:variant>
    </vt:vector>
  </HeadingPairs>
  <TitlesOfParts>
    <vt:vector size="49" baseType="lpstr">
      <vt:lpstr>Arial</vt:lpstr>
      <vt:lpstr>Calibri</vt:lpstr>
      <vt:lpstr>CiscoSans ExtraLight</vt:lpstr>
      <vt:lpstr>Wingdings</vt:lpstr>
      <vt:lpstr>Office Theme</vt:lpstr>
      <vt:lpstr>Default Theme</vt:lpstr>
      <vt:lpstr>1_Office Theme</vt:lpstr>
      <vt:lpstr>1_Default Theme</vt:lpstr>
      <vt:lpstr>PowerPoint Presentation</vt:lpstr>
      <vt:lpstr>PowerPoint Presentation</vt:lpstr>
      <vt:lpstr>What to Expect in this Module</vt:lpstr>
      <vt:lpstr>What to Expect in this Module (Cont.)</vt:lpstr>
      <vt:lpstr>PowerPoint Presentation</vt:lpstr>
      <vt:lpstr>PowerPoint Presentation</vt:lpstr>
      <vt:lpstr>PowerPoint Presentation</vt:lpstr>
      <vt:lpstr>PowerPoint Presentation</vt:lpstr>
      <vt:lpstr>PowerPoint Presentation</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 Livingston -X (suliving - UNICON INC at Cisco)</cp:lastModifiedBy>
  <cp:revision>37</cp:revision>
  <dcterms:created xsi:type="dcterms:W3CDTF">2020-12-08T18:27:12Z</dcterms:created>
  <dcterms:modified xsi:type="dcterms:W3CDTF">2021-03-16T14:11:16Z</dcterms:modified>
</cp:coreProperties>
</file>