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notesSlides/notesSlide3.xml" ContentType="application/vnd.openxmlformats-officedocument.presentationml.notesSlide+xml"/>
  <Override PartName="/ppt/notesSlides/notesSlide4.xml" ContentType="application/vnd.openxmlformats-officedocument.presentationml.notesSlide+xml"/>
  <Override PartName="/ppt/tags/tag4.xml" ContentType="application/vnd.openxmlformats-officedocument.presentationml.tags+xml"/>
  <Override PartName="/ppt/notesSlides/notesSlide5.xml" ContentType="application/vnd.openxmlformats-officedocument.presentationml.notesSlide+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tags/tag7.xml" ContentType="application/vnd.openxmlformats-officedocument.presentationml.tags+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 id="2147483655" r:id="rId2"/>
    <p:sldMasterId id="2147483670" r:id="rId3"/>
  </p:sldMasterIdLst>
  <p:notesMasterIdLst>
    <p:notesMasterId r:id="rId50"/>
  </p:notesMasterIdLst>
  <p:sldIdLst>
    <p:sldId id="256" r:id="rId4"/>
    <p:sldId id="295" r:id="rId5"/>
    <p:sldId id="1070" r:id="rId6"/>
    <p:sldId id="1071" r:id="rId7"/>
    <p:sldId id="880" r:id="rId8"/>
    <p:sldId id="1072" r:id="rId9"/>
    <p:sldId id="1080" r:id="rId10"/>
    <p:sldId id="1081" r:id="rId11"/>
    <p:sldId id="262" r:id="rId12"/>
    <p:sldId id="925" r:id="rId13"/>
    <p:sldId id="263" r:id="rId14"/>
    <p:sldId id="264" r:id="rId15"/>
    <p:sldId id="265" r:id="rId16"/>
    <p:sldId id="266" r:id="rId17"/>
    <p:sldId id="267" r:id="rId18"/>
    <p:sldId id="1073" r:id="rId19"/>
    <p:sldId id="268" r:id="rId20"/>
    <p:sldId id="1074" r:id="rId21"/>
    <p:sldId id="270" r:id="rId22"/>
    <p:sldId id="271" r:id="rId23"/>
    <p:sldId id="272" r:id="rId24"/>
    <p:sldId id="273" r:id="rId25"/>
    <p:sldId id="274" r:id="rId26"/>
    <p:sldId id="275" r:id="rId27"/>
    <p:sldId id="276" r:id="rId28"/>
    <p:sldId id="277" r:id="rId29"/>
    <p:sldId id="278" r:id="rId30"/>
    <p:sldId id="1075" r:id="rId31"/>
    <p:sldId id="279" r:id="rId32"/>
    <p:sldId id="1076" r:id="rId33"/>
    <p:sldId id="281" r:id="rId34"/>
    <p:sldId id="282" r:id="rId35"/>
    <p:sldId id="283" r:id="rId36"/>
    <p:sldId id="284" r:id="rId37"/>
    <p:sldId id="285" r:id="rId38"/>
    <p:sldId id="286" r:id="rId39"/>
    <p:sldId id="287" r:id="rId40"/>
    <p:sldId id="1077" r:id="rId41"/>
    <p:sldId id="1078" r:id="rId42"/>
    <p:sldId id="288" r:id="rId43"/>
    <p:sldId id="289" r:id="rId44"/>
    <p:sldId id="292" r:id="rId45"/>
    <p:sldId id="293" r:id="rId46"/>
    <p:sldId id="1082" r:id="rId47"/>
    <p:sldId id="1083" r:id="rId48"/>
    <p:sldId id="291" r:id="rId4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7E9EB"/>
    <a:srgbClr val="CBD0D4"/>
    <a:srgbClr val="D9D9D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81222" autoAdjust="0"/>
  </p:normalViewPr>
  <p:slideViewPr>
    <p:cSldViewPr snapToGrid="0" snapToObjects="1">
      <p:cViewPr varScale="1">
        <p:scale>
          <a:sx n="85" d="100"/>
          <a:sy n="85" d="100"/>
        </p:scale>
        <p:origin x="64"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notesMaster" Target="notesMasters/notesMaster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theme" Target="theme/theme1.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viewProps" Target="viewProps.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8" Type="http://schemas.openxmlformats.org/officeDocument/2006/relationships/slide" Target="slides/slide5.xml"/><Relationship Id="rId51" Type="http://schemas.openxmlformats.org/officeDocument/2006/relationships/presProps" Target="pres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582857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12: IPS Operation and Implementation
</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5</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2400274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18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7</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19368719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7" tIns="0" rIns="18817" bIns="0" anchor="b"/>
          <a:lstStyle>
            <a:lvl1pPr defTabSz="901700" eaLnBrk="0" hangingPunct="0">
              <a:defRPr sz="2400" b="1">
                <a:solidFill>
                  <a:schemeClr val="tx1"/>
                </a:solidFill>
                <a:latin typeface="Arial" charset="0"/>
                <a:cs typeface="Arial" charset="0"/>
              </a:defRPr>
            </a:lvl1pPr>
            <a:lvl2pPr marL="742950" indent="-285750" defTabSz="901700" eaLnBrk="0" hangingPunct="0">
              <a:defRPr sz="2400" b="1">
                <a:solidFill>
                  <a:schemeClr val="tx1"/>
                </a:solidFill>
                <a:latin typeface="Arial" charset="0"/>
                <a:cs typeface="Arial" charset="0"/>
              </a:defRPr>
            </a:lvl2pPr>
            <a:lvl3pPr marL="1143000" indent="-228600" defTabSz="901700" eaLnBrk="0" hangingPunct="0">
              <a:defRPr sz="2400" b="1">
                <a:solidFill>
                  <a:schemeClr val="tx1"/>
                </a:solidFill>
                <a:latin typeface="Arial" charset="0"/>
                <a:cs typeface="Arial" charset="0"/>
              </a:defRPr>
            </a:lvl3pPr>
            <a:lvl4pPr marL="1600200" indent="-228600" defTabSz="901700" eaLnBrk="0" hangingPunct="0">
              <a:defRPr sz="2400" b="1">
                <a:solidFill>
                  <a:schemeClr val="tx1"/>
                </a:solidFill>
                <a:latin typeface="Arial" charset="0"/>
                <a:cs typeface="Arial" charset="0"/>
              </a:defRPr>
            </a:lvl4pPr>
            <a:lvl5pPr marL="2057400" indent="-228600" defTabSz="901700" eaLnBrk="0" hangingPunct="0">
              <a:defRPr sz="2400" b="1">
                <a:solidFill>
                  <a:schemeClr val="tx1"/>
                </a:solidFill>
                <a:latin typeface="Arial" charset="0"/>
                <a:cs typeface="Arial" charset="0"/>
              </a:defRPr>
            </a:lvl5pPr>
            <a:lvl6pPr marL="2514600" indent="-228600" defTabSz="901700" eaLnBrk="0" fontAlgn="base" hangingPunct="0">
              <a:spcBef>
                <a:spcPct val="0"/>
              </a:spcBef>
              <a:spcAft>
                <a:spcPct val="0"/>
              </a:spcAft>
              <a:defRPr sz="2400" b="1">
                <a:solidFill>
                  <a:schemeClr val="tx1"/>
                </a:solidFill>
                <a:latin typeface="Arial" charset="0"/>
                <a:cs typeface="Arial" charset="0"/>
              </a:defRPr>
            </a:lvl6pPr>
            <a:lvl7pPr marL="2971800" indent="-228600" defTabSz="901700" eaLnBrk="0" fontAlgn="base" hangingPunct="0">
              <a:spcBef>
                <a:spcPct val="0"/>
              </a:spcBef>
              <a:spcAft>
                <a:spcPct val="0"/>
              </a:spcAft>
              <a:defRPr sz="2400" b="1">
                <a:solidFill>
                  <a:schemeClr val="tx1"/>
                </a:solidFill>
                <a:latin typeface="Arial" charset="0"/>
                <a:cs typeface="Arial" charset="0"/>
              </a:defRPr>
            </a:lvl7pPr>
            <a:lvl8pPr marL="3429000" indent="-228600" defTabSz="901700" eaLnBrk="0" fontAlgn="base" hangingPunct="0">
              <a:spcBef>
                <a:spcPct val="0"/>
              </a:spcBef>
              <a:spcAft>
                <a:spcPct val="0"/>
              </a:spcAft>
              <a:defRPr sz="2400" b="1">
                <a:solidFill>
                  <a:schemeClr val="tx1"/>
                </a:solidFill>
                <a:latin typeface="Arial" charset="0"/>
                <a:cs typeface="Arial" charset="0"/>
              </a:defRPr>
            </a:lvl8pPr>
            <a:lvl9pPr marL="3886200" indent="-228600" defTabSz="901700"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1700" rtl="0" eaLnBrk="0" fontAlgn="auto" latinLnBrk="0" hangingPunct="0">
              <a:lnSpc>
                <a:spcPct val="100000"/>
              </a:lnSpc>
              <a:spcBef>
                <a:spcPts val="0"/>
              </a:spcBef>
              <a:spcAft>
                <a:spcPts val="0"/>
              </a:spcAft>
              <a:buClrTx/>
              <a:buSzTx/>
              <a:buFontTx/>
              <a:buNone/>
              <a:tabLst/>
              <a:defRPr/>
            </a:pPr>
            <a:fld id="{ACE20BE7-F2F3-4E26-9454-50B18F790A4E}"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1700" rtl="0" eaLnBrk="0" fontAlgn="auto" latinLnBrk="0" hangingPunct="0">
                <a:lnSpc>
                  <a:spcPct val="100000"/>
                </a:lnSpc>
                <a:spcBef>
                  <a:spcPts val="0"/>
                </a:spcBef>
                <a:spcAft>
                  <a:spcPts val="0"/>
                </a:spcAft>
                <a:buClrTx/>
                <a:buSzTx/>
                <a:buFontTx/>
                <a:buNone/>
                <a:tabLst/>
                <a:defRPr/>
              </a:pPr>
              <a:t>8</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1507" name="Rectangle 2"/>
          <p:cNvSpPr>
            <a:spLocks noGrp="1" noRot="1" noChangeAspect="1" noChangeArrowheads="1" noTextEdit="1"/>
          </p:cNvSpPr>
          <p:nvPr>
            <p:ph type="sldImg"/>
          </p:nvPr>
        </p:nvSpPr>
        <p:spPr>
          <a:ln/>
        </p:spPr>
      </p:sp>
      <p:sp>
        <p:nvSpPr>
          <p:cNvPr id="2150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dirty="0"/>
          </a:p>
        </p:txBody>
      </p:sp>
    </p:spTree>
    <p:extLst>
      <p:ext uri="{BB962C8B-B14F-4D97-AF65-F5344CB8AC3E}">
        <p14:creationId xmlns:p14="http://schemas.microsoft.com/office/powerpoint/2010/main" val="9511328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Networking Security (NETSEC)
Module 12: IPS Operation and Implementation
</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11"/>
          <p:cNvSpPr txBox="1">
            <a:spLocks noGrp="1" noChangeArrowheads="1"/>
          </p:cNvSpPr>
          <p:nvPr/>
        </p:nvSpPr>
        <p:spPr bwMode="auto">
          <a:xfrm>
            <a:off x="5929313" y="8680450"/>
            <a:ext cx="812800" cy="287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18819" tIns="0" rIns="18819" bIns="0" anchor="b"/>
          <a:lstStyle>
            <a:lvl1pPr defTabSz="903288" eaLnBrk="0" hangingPunct="0">
              <a:defRPr sz="2400" b="1">
                <a:solidFill>
                  <a:schemeClr val="tx1"/>
                </a:solidFill>
                <a:latin typeface="Arial" charset="0"/>
                <a:cs typeface="Arial" charset="0"/>
              </a:defRPr>
            </a:lvl1pPr>
            <a:lvl2pPr marL="742950" indent="-285750" defTabSz="903288" eaLnBrk="0" hangingPunct="0">
              <a:defRPr sz="2400" b="1">
                <a:solidFill>
                  <a:schemeClr val="tx1"/>
                </a:solidFill>
                <a:latin typeface="Arial" charset="0"/>
                <a:cs typeface="Arial" charset="0"/>
              </a:defRPr>
            </a:lvl2pPr>
            <a:lvl3pPr marL="1143000" indent="-228600" defTabSz="903288" eaLnBrk="0" hangingPunct="0">
              <a:defRPr sz="2400" b="1">
                <a:solidFill>
                  <a:schemeClr val="tx1"/>
                </a:solidFill>
                <a:latin typeface="Arial" charset="0"/>
                <a:cs typeface="Arial" charset="0"/>
              </a:defRPr>
            </a:lvl3pPr>
            <a:lvl4pPr marL="1600200" indent="-228600" defTabSz="903288" eaLnBrk="0" hangingPunct="0">
              <a:defRPr sz="2400" b="1">
                <a:solidFill>
                  <a:schemeClr val="tx1"/>
                </a:solidFill>
                <a:latin typeface="Arial" charset="0"/>
                <a:cs typeface="Arial" charset="0"/>
              </a:defRPr>
            </a:lvl4pPr>
            <a:lvl5pPr marL="2057400" indent="-228600" defTabSz="903288" eaLnBrk="0" hangingPunct="0">
              <a:defRPr sz="2400" b="1">
                <a:solidFill>
                  <a:schemeClr val="tx1"/>
                </a:solidFill>
                <a:latin typeface="Arial" charset="0"/>
                <a:cs typeface="Arial" charset="0"/>
              </a:defRPr>
            </a:lvl5pPr>
            <a:lvl6pPr marL="2514600" indent="-228600" defTabSz="903288" eaLnBrk="0" fontAlgn="base" hangingPunct="0">
              <a:spcBef>
                <a:spcPct val="0"/>
              </a:spcBef>
              <a:spcAft>
                <a:spcPct val="0"/>
              </a:spcAft>
              <a:defRPr sz="2400" b="1">
                <a:solidFill>
                  <a:schemeClr val="tx1"/>
                </a:solidFill>
                <a:latin typeface="Arial" charset="0"/>
                <a:cs typeface="Arial" charset="0"/>
              </a:defRPr>
            </a:lvl6pPr>
            <a:lvl7pPr marL="2971800" indent="-228600" defTabSz="903288" eaLnBrk="0" fontAlgn="base" hangingPunct="0">
              <a:spcBef>
                <a:spcPct val="0"/>
              </a:spcBef>
              <a:spcAft>
                <a:spcPct val="0"/>
              </a:spcAft>
              <a:defRPr sz="2400" b="1">
                <a:solidFill>
                  <a:schemeClr val="tx1"/>
                </a:solidFill>
                <a:latin typeface="Arial" charset="0"/>
                <a:cs typeface="Arial" charset="0"/>
              </a:defRPr>
            </a:lvl7pPr>
            <a:lvl8pPr marL="3429000" indent="-228600" defTabSz="903288" eaLnBrk="0" fontAlgn="base" hangingPunct="0">
              <a:spcBef>
                <a:spcPct val="0"/>
              </a:spcBef>
              <a:spcAft>
                <a:spcPct val="0"/>
              </a:spcAft>
              <a:defRPr sz="2400" b="1">
                <a:solidFill>
                  <a:schemeClr val="tx1"/>
                </a:solidFill>
                <a:latin typeface="Arial" charset="0"/>
                <a:cs typeface="Arial" charset="0"/>
              </a:defRPr>
            </a:lvl8pPr>
            <a:lvl9pPr marL="3886200" indent="-228600" defTabSz="903288" eaLnBrk="0" fontAlgn="base" hangingPunct="0">
              <a:spcBef>
                <a:spcPct val="0"/>
              </a:spcBef>
              <a:spcAft>
                <a:spcPct val="0"/>
              </a:spcAft>
              <a:defRPr sz="2400" b="1">
                <a:solidFill>
                  <a:schemeClr val="tx1"/>
                </a:solidFill>
                <a:latin typeface="Arial" charset="0"/>
                <a:cs typeface="Arial" charset="0"/>
              </a:defRPr>
            </a:lvl9pPr>
          </a:lstStyle>
          <a:p>
            <a:pPr marL="0" marR="0" lvl="0" indent="0" algn="r" defTabSz="903288" rtl="0" eaLnBrk="0" fontAlgn="base" latinLnBrk="0" hangingPunct="0">
              <a:lnSpc>
                <a:spcPct val="100000"/>
              </a:lnSpc>
              <a:spcBef>
                <a:spcPct val="0"/>
              </a:spcBef>
              <a:spcAft>
                <a:spcPct val="0"/>
              </a:spcAft>
              <a:buClrTx/>
              <a:buSzTx/>
              <a:buFontTx/>
              <a:buNone/>
              <a:tabLst/>
              <a:defRPr/>
            </a:pPr>
            <a:fld id="{0A313ED8-785B-4D16-9B17-4143385249B9}" type="slidenum">
              <a:rPr kumimoji="0" lang="en-US" sz="800" b="0" i="0" u="none" strike="noStrike" kern="1200" cap="none" spc="0" normalizeH="0" baseline="0" noProof="0">
                <a:ln>
                  <a:noFill/>
                </a:ln>
                <a:solidFill>
                  <a:prstClr val="black"/>
                </a:solidFill>
                <a:effectLst/>
                <a:uLnTx/>
                <a:uFillTx/>
                <a:latin typeface="Arial" charset="0"/>
                <a:ea typeface="ＭＳ Ｐゴシック" pitchFamily="34" charset="-128"/>
                <a:cs typeface="Arial" charset="0"/>
              </a:rPr>
              <a:pPr marL="0" marR="0" lvl="0" indent="0" algn="r" defTabSz="903288" rtl="0" eaLnBrk="0" fontAlgn="base" latinLnBrk="0" hangingPunct="0">
                <a:lnSpc>
                  <a:spcPct val="100000"/>
                </a:lnSpc>
                <a:spcBef>
                  <a:spcPct val="0"/>
                </a:spcBef>
                <a:spcAft>
                  <a:spcPct val="0"/>
                </a:spcAft>
                <a:buClrTx/>
                <a:buSzTx/>
                <a:buFontTx/>
                <a:buNone/>
                <a:tabLst/>
                <a:defRPr/>
              </a:pPr>
              <a:t>10</a:t>
            </a:fld>
            <a:endParaRPr kumimoji="0" lang="en-US" sz="800" b="0" i="0" u="none" strike="noStrike" kern="1200" cap="none" spc="0" normalizeH="0" baseline="0" noProof="0" dirty="0">
              <a:ln>
                <a:noFill/>
              </a:ln>
              <a:solidFill>
                <a:prstClr val="black"/>
              </a:solidFill>
              <a:effectLst/>
              <a:uLnTx/>
              <a:uFillTx/>
              <a:latin typeface="Arial" charset="0"/>
              <a:ea typeface="ＭＳ Ｐゴシック" pitchFamily="34" charset="-128"/>
              <a:cs typeface="Arial" charset="0"/>
            </a:endParaRPr>
          </a:p>
        </p:txBody>
      </p:sp>
      <p:sp>
        <p:nvSpPr>
          <p:cNvPr id="20483" name="Rectangle 2"/>
          <p:cNvSpPr>
            <a:spLocks noGrp="1" noRot="1" noChangeAspect="1" noChangeArrowheads="1" noTextEdit="1"/>
          </p:cNvSpPr>
          <p:nvPr>
            <p:ph type="sldImg"/>
          </p:nvPr>
        </p:nvSpPr>
        <p:spPr>
          <a:ln/>
        </p:spPr>
      </p:sp>
      <p:sp>
        <p:nvSpPr>
          <p:cNvPr id="20484"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200" b="0" dirty="0"/>
              <a:t>12 – IPS Operation and Implementation</a:t>
            </a:r>
          </a:p>
          <a:p>
            <a:r>
              <a:rPr lang="en-GB" dirty="0"/>
              <a:t>12.0.2 – What will I learn in this module?</a:t>
            </a:r>
          </a:p>
        </p:txBody>
      </p:sp>
    </p:spTree>
    <p:extLst>
      <p:ext uri="{BB962C8B-B14F-4D97-AF65-F5344CB8AC3E}">
        <p14:creationId xmlns:p14="http://schemas.microsoft.com/office/powerpoint/2010/main" val="15879240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12.1.1: IPS Signature Attributes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12.1.2: Types of Signatures 
</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12.1.3: IPS Signature Alarms
</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12.1.4: IPS Signature Actions
</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12.1: IPS Signatures 
12.1.5: Evaluating Alerts
</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1">
            <a:extLst>
              <a:ext uri="{FF2B5EF4-FFF2-40B4-BE49-F238E27FC236}">
                <a16:creationId xmlns:a16="http://schemas.microsoft.com/office/drawing/2014/main" id="{660F3A8B-CD00-467E-B70A-EC85617CD6B5}"/>
              </a:ext>
            </a:extLst>
          </p:cNvPr>
          <p:cNvSpPr>
            <a:spLocks noGrp="1"/>
          </p:cNvSpPr>
          <p:nvPr>
            <p:ph type="body" idx="1"/>
          </p:nvPr>
        </p:nvSpPr>
        <p:spPr>
          <a:xfrm>
            <a:off x="514350" y="4400550"/>
            <a:ext cx="4114800" cy="3600450"/>
          </a:xfrm>
          <a:prstGeom prst="rect">
            <a:avLst/>
          </a:prstGeom>
        </p:spPr>
        <p:txBody>
          <a:bodyPr/>
          <a:lstStyle/>
          <a:p>
            <a:r>
              <a:rPr lang="en-US" dirty="0"/>
              <a:t>12: IPS Operation and Implementation
12.1: IPS Signatures 
12.1.5: Evaluating Alerts</a:t>
            </a:r>
          </a:p>
          <a:p>
            <a:r>
              <a:rPr lang="en-US" dirty="0"/>
              <a:t>12.1.6: Check Your Understanding – IPS Signature Actions</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12.2.1: Cisco IPS
</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12.2.2: NGIPS
</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12.2.3: Snort IPS
</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12.2.4: Snort Components and Rules
</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12.2.5: ISR Container Applications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12.2.6: Snort IPS Rule Alarms
</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12.2.7: Snort IPS Rule Actions
</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12.2.8: Snort IPS Header Rule Options
</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12.2.8: Snort IPS Header Rule Options
</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dirty="0"/>
          </a:p>
        </p:txBody>
      </p:sp>
    </p:spTree>
    <p:extLst>
      <p:ext uri="{BB962C8B-B14F-4D97-AF65-F5344CB8AC3E}">
        <p14:creationId xmlns:p14="http://schemas.microsoft.com/office/powerpoint/2010/main" val="152916690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12.2.9: Snort IPS Operation
</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12.2: Cisco Snort IPS
12.2.9: Snort IPS Operation</a:t>
            </a:r>
          </a:p>
          <a:p>
            <a:r>
              <a:rPr lang="en-US" dirty="0"/>
              <a:t>12.2.10: Check Your Understanding - Snort IPS
</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dirty="0"/>
          </a:p>
        </p:txBody>
      </p:sp>
    </p:spTree>
    <p:extLst>
      <p:ext uri="{BB962C8B-B14F-4D97-AF65-F5344CB8AC3E}">
        <p14:creationId xmlns:p14="http://schemas.microsoft.com/office/powerpoint/2010/main" val="306461396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12.3.1: Snort IPS Configuration Steps
</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12.3.2: Download the Snort OVA File
</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12.3.3: Install the Snort OVA File
</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12.3.4: Configure Virtual Port Group Interfaces 
</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12.3.5: Activate Virtual Services
</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dirty="0"/>
          </a:p>
        </p:txBody>
      </p:sp>
    </p:spTree>
    <p:extLst>
      <p:ext uri="{BB962C8B-B14F-4D97-AF65-F5344CB8AC3E}">
        <p14:creationId xmlns:p14="http://schemas.microsoft.com/office/powerpoint/2010/main" val="40685347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12.3.6: Configure the Snort Specifics
</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dirty="0"/>
          </a:p>
        </p:txBody>
      </p:sp>
    </p:spTree>
    <p:extLst>
      <p:ext uri="{BB962C8B-B14F-4D97-AF65-F5344CB8AC3E}">
        <p14:creationId xmlns:p14="http://schemas.microsoft.com/office/powerpoint/2010/main" val="3878027690"/>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12.3.7: Enable Unified Threat Defense (UTD)
</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12.3: Configure Snort IPS
12.3.8: Verify Snort IPS</a:t>
            </a:r>
          </a:p>
          <a:p>
            <a:r>
              <a:rPr lang="en-US" dirty="0"/>
              <a:t>12.3.9: Syntax Checker - Configure Snort IPS</a:t>
            </a:r>
          </a:p>
          <a:p>
            <a:r>
              <a:rPr lang="en-US" dirty="0"/>
              <a:t>12.3.10: Check Your Understanding - Implementing Snort IPS
</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12.4: IPS Operation and Implementation Summary
</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
12.4: IPS Operation and Implementation Summary
12.4.1: What Did I Learn in this Module?</a:t>
            </a:r>
          </a:p>
          <a:p>
            <a:r>
              <a:rPr lang="en-US" dirty="0"/>
              <a:t>12.4.2: Module Quiz
</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dirty="0"/>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a:t>
            </a:r>
          </a:p>
          <a:p>
            <a:r>
              <a:rPr lang="en-US" dirty="0"/>
              <a:t>New Terms and Commands
</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dirty="0"/>
          </a:p>
        </p:txBody>
      </p:sp>
    </p:spTree>
    <p:extLst>
      <p:ext uri="{BB962C8B-B14F-4D97-AF65-F5344CB8AC3E}">
        <p14:creationId xmlns:p14="http://schemas.microsoft.com/office/powerpoint/2010/main" val="48826716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 IPS Operation and Implementation</a:t>
            </a:r>
          </a:p>
          <a:p>
            <a:r>
              <a:rPr lang="en-US" dirty="0"/>
              <a:t>New Terms and Commands
</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dirty="0"/>
          </a:p>
        </p:txBody>
      </p:sp>
    </p:spTree>
    <p:extLst>
      <p:ext uri="{BB962C8B-B14F-4D97-AF65-F5344CB8AC3E}">
        <p14:creationId xmlns:p14="http://schemas.microsoft.com/office/powerpoint/2010/main" val="171493518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457200" rtl="0" eaLnBrk="1" fontAlgn="base" latinLnBrk="0" hangingPunct="1">
              <a:lnSpc>
                <a:spcPct val="100000"/>
              </a:lnSpc>
              <a:spcBef>
                <a:spcPct val="0"/>
              </a:spcBef>
              <a:spcAft>
                <a:spcPct val="0"/>
              </a:spcAft>
              <a:buClrTx/>
              <a:buSzTx/>
              <a:buFontTx/>
              <a:buNone/>
              <a:tabLst/>
              <a:defRPr/>
            </a:pPr>
            <a:fld id="{5641018C-6CAF-B84E-B92C-ECB119457FBA}" type="slidenum">
              <a:rPr kumimoji="0" lang="en-US" sz="1200" b="0" i="0" u="none" strike="noStrike" kern="1200" cap="none" spc="0" normalizeH="0" baseline="0" noProof="0" smtClean="0">
                <a:ln>
                  <a:noFill/>
                </a:ln>
                <a:solidFill>
                  <a:prstClr val="black"/>
                </a:solidFill>
                <a:effectLst/>
                <a:uLnTx/>
                <a:uFillTx/>
                <a:latin typeface="Arial" charset="0"/>
                <a:ea typeface="ＭＳ Ｐゴシック" pitchFamily="34" charset="-128"/>
                <a:cs typeface="+mn-cs"/>
              </a:rPr>
              <a:pPr marL="0" marR="0" lvl="0" indent="0" algn="r" defTabSz="457200" rtl="0" eaLnBrk="1" fontAlgn="base" latinLnBrk="0" hangingPunct="1">
                <a:lnSpc>
                  <a:spcPct val="100000"/>
                </a:lnSpc>
                <a:spcBef>
                  <a:spcPct val="0"/>
                </a:spcBef>
                <a:spcAft>
                  <a:spcPct val="0"/>
                </a:spcAft>
                <a:buClrTx/>
                <a:buSzTx/>
                <a:buFontTx/>
                <a:buNone/>
                <a:tabLst/>
                <a:defRPr/>
              </a:pPr>
              <a:t>46</a:t>
            </a:fld>
            <a:endParaRPr kumimoji="0" lang="en-US" sz="1200" b="0" i="0" u="none" strike="noStrike" kern="1200" cap="none" spc="0" normalizeH="0" baseline="0" noProof="0" dirty="0">
              <a:ln>
                <a:noFill/>
              </a:ln>
              <a:solidFill>
                <a:prstClr val="black"/>
              </a:solidFill>
              <a:effectLst/>
              <a:uLnTx/>
              <a:uFillTx/>
              <a:latin typeface="Arial" charset="0"/>
              <a:ea typeface="ＭＳ Ｐゴシック" pitchFamily="34" charset="-128"/>
              <a:cs typeface="+mn-cs"/>
            </a:endParaRPr>
          </a:p>
        </p:txBody>
      </p:sp>
    </p:spTree>
    <p:extLst>
      <p:ext uri="{BB962C8B-B14F-4D97-AF65-F5344CB8AC3E}">
        <p14:creationId xmlns:p14="http://schemas.microsoft.com/office/powerpoint/2010/main" val="15913942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INTRO">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lvl1pPr marL="0" indent="0">
              <a:buNone/>
              <a:defRPr lang="en-US" sz="3600" dirty="0">
                <a:solidFill>
                  <a:srgbClr val="AFE8FB"/>
                </a:solidFill>
                <a:latin typeface="Arial" pitchFamily="34" charset="0"/>
                <a:ea typeface="Arial" pitchFamily="34" charset="-122"/>
                <a:cs typeface="Arial" pitchFamily="34" charset="-120"/>
              </a:defRPr>
            </a:lvl1pPr>
          </a:lstStyle>
          <a:p>
            <a:pPr marL="0" indent="0">
              <a:buNone/>
            </a:pPr>
            <a:r>
              <a:rPr lang="en-US" sz="3600" dirty="0">
                <a:solidFill>
                  <a:srgbClr val="AFE8FB"/>
                </a:solidFill>
                <a:latin typeface="Arial" pitchFamily="34" charset="0"/>
                <a:ea typeface="Arial" pitchFamily="34" charset="-122"/>
                <a:cs typeface="Arial" pitchFamily="34" charset="-120"/>
              </a:rPr>
              <a:t>(custom placeholder text!)</a:t>
            </a:r>
            <a:endParaRPr lang="en-US" sz="36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NTRO_AL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lvl1pPr marL="0" indent="0">
              <a:buNone/>
              <a:defRPr lang="en-US" sz="4200" dirty="0">
                <a:solidFill>
                  <a:srgbClr val="AFE8FB"/>
                </a:solidFill>
                <a:latin typeface="Arial" pitchFamily="34" charset="0"/>
                <a:ea typeface="Arial" pitchFamily="34" charset="-122"/>
                <a:cs typeface="Arial" pitchFamily="34" charset="-120"/>
              </a:defRPr>
            </a:lvl1pPr>
          </a:lstStyle>
          <a:p>
            <a:pPr marL="0" indent="0">
              <a:buNone/>
            </a:pPr>
            <a:r>
              <a:rPr lang="en-US" sz="4200" dirty="0">
                <a:solidFill>
                  <a:srgbClr val="AFE8FB"/>
                </a:solidFill>
                <a:latin typeface="Arial" pitchFamily="34" charset="0"/>
                <a:ea typeface="Arial" pitchFamily="34" charset="-122"/>
                <a:cs typeface="Arial" pitchFamily="34" charset="-120"/>
              </a:rPr>
              <a:t>(custom placeholder text!)</a:t>
            </a:r>
            <a:endParaRPr lang="en-US" sz="4200" dirty="0"/>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lvl1pPr marL="0" indent="0">
              <a:buNone/>
              <a:defRPr lang="en-US" sz="1200" dirty="0">
                <a:solidFill>
                  <a:srgbClr val="AFE8FB"/>
                </a:solidFill>
                <a:latin typeface="Arial" pitchFamily="34" charset="0"/>
                <a:ea typeface="Arial" pitchFamily="34" charset="-122"/>
                <a:cs typeface="Arial" pitchFamily="34" charset="-120"/>
              </a:defRPr>
            </a:lvl1pPr>
          </a:lstStyle>
          <a:p>
            <a:pPr marL="0" indent="0">
              <a:buNone/>
            </a:pPr>
            <a:r>
              <a:rPr lang="en-US" sz="1200" dirty="0">
                <a:solidFill>
                  <a:srgbClr val="AFE8FB"/>
                </a:solidFill>
                <a:latin typeface="Arial" pitchFamily="34" charset="0"/>
                <a:ea typeface="Arial" pitchFamily="34" charset="-122"/>
                <a:cs typeface="Arial" pitchFamily="34" charset="-120"/>
              </a:rPr>
              <a:t>(custom placeholder text!)</a:t>
            </a:r>
            <a:endParaRPr lang="en-US" sz="1200" dirty="0"/>
          </a:p>
        </p:txBody>
      </p:sp>
      <p:pic>
        <p:nvPicPr>
          <p:cNvPr id="4" name="Object 3" descr="/Users/phillipball/Projects/Cisco/Netacad 3/netacad-vudu/src/pptx/assets/Cisco_logo.png"/>
          <p:cNvPicPr>
            <a:picLocks noChangeAspect="1"/>
          </p:cNvPicPr>
          <p:nvPr/>
        </p:nvPicPr>
        <p:blipFill>
          <a:blip r:embed="rId3"/>
          <a:srcRect t="-33333" b="-33333"/>
          <a:stretch/>
        </p:blipFill>
        <p:spPr>
          <a:xfrm>
            <a:off x="457200" y="257175"/>
            <a:ext cx="914400" cy="9144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INST_INTRO">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OCK">
    <p:bg>
      <p:bgPr>
        <a:solidFill>
          <a:srgbClr val="00394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lvl1pPr marL="0" indent="0">
              <a:buNone/>
              <a:defRPr lang="en-US" sz="4600" dirty="0">
                <a:solidFill>
                  <a:srgbClr val="B1E8FA"/>
                </a:solidFill>
                <a:latin typeface="Arial" pitchFamily="34" charset="0"/>
                <a:ea typeface="Arial" pitchFamily="34" charset="-122"/>
                <a:cs typeface="Arial" pitchFamily="34" charset="-120"/>
              </a:defRPr>
            </a:lvl1pPr>
          </a:lstStyle>
          <a:p>
            <a:pPr marL="0" indent="0">
              <a:buNone/>
            </a:pPr>
            <a:r>
              <a:rPr lang="en-US" sz="4600" dirty="0">
                <a:solidFill>
                  <a:srgbClr val="B1E8FA"/>
                </a:solidFill>
                <a:latin typeface="Arial" pitchFamily="34" charset="0"/>
                <a:ea typeface="Arial" pitchFamily="34" charset="-122"/>
                <a:cs typeface="Arial" pitchFamily="34" charset="-120"/>
              </a:rPr>
              <a:t>(custom placeholder text!)</a:t>
            </a:r>
            <a:endParaRPr lang="en-US" sz="4600" dirty="0"/>
          </a:p>
        </p:txBody>
      </p:sp>
      <p:sp>
        <p:nvSpPr>
          <p:cNvPr id="3" name="Object2"/>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4" name="Object 3" descr="/Users/phillipball/Projects/Cisco/Netacad 3/netacad-vudu/src/pptx/assets/Cisco_logo_sm.png"/>
          <p:cNvPicPr>
            <a:picLocks noChangeAspect="1"/>
          </p:cNvPicPr>
          <p:nvPr/>
        </p:nvPicPr>
        <p:blipFill>
          <a:blip r:embed="rId2"/>
          <a:srcRect t="-16667" b="-16667"/>
          <a:stretch/>
        </p:blipFill>
        <p:spPr>
          <a:xfrm>
            <a:off x="457200" y="4629150"/>
            <a:ext cx="365760" cy="36576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HUNK">
    <p:bg>
      <p:bgPr>
        <a:solidFill>
          <a:srgbClr val="FFFFFF"/>
        </a:solidFill>
        <a:effectLst/>
      </p:bgPr>
    </p:bg>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274320"/>
            <a:ext cx="9144000" cy="914400"/>
          </a:xfrm>
          <a:prstGeom prst="rect">
            <a:avLst/>
          </a:prstGeom>
          <a:noFill/>
          <a:ln/>
        </p:spPr>
        <p:txBody>
          <a:bodyPr wrap="square" rtlCol="0"/>
          <a:lstStyle>
            <a:lvl1pPr marL="0" indent="0">
              <a:buNone/>
              <a:defRPr lang="en-US" sz="2200" dirty="0">
                <a:solidFill>
                  <a:srgbClr val="024C69"/>
                </a:solidFill>
                <a:latin typeface="Arial" pitchFamily="34" charset="0"/>
                <a:ea typeface="Arial" pitchFamily="34" charset="-122"/>
                <a:cs typeface="Arial" pitchFamily="34" charset="-120"/>
              </a:defRPr>
            </a:lvl1pPr>
          </a:lstStyle>
          <a:p>
            <a:pPr marL="0" indent="0">
              <a:buNone/>
            </a:pPr>
            <a:r>
              <a:rPr lang="en-US" sz="2200" dirty="0">
                <a:solidFill>
                  <a:srgbClr val="024C69"/>
                </a:solidFill>
                <a:latin typeface="Arial" pitchFamily="34" charset="0"/>
                <a:ea typeface="Arial" pitchFamily="34" charset="-122"/>
                <a:cs typeface="Arial" pitchFamily="34" charset="-120"/>
              </a:rPr>
              <a:t>(custom placeholder text!)</a:t>
            </a:r>
            <a:endParaRPr lang="en-US" sz="2200" dirty="0"/>
          </a:p>
        </p:txBody>
      </p:sp>
      <p:sp>
        <p:nvSpPr>
          <p:cNvPr id="3" name="Object2"/>
          <p:cNvSpPr>
            <a:spLocks noGrp="1"/>
          </p:cNvSpPr>
          <p:nvPr>
            <p:ph type="body" idx="101" hasCustomPrompt="1"/>
          </p:nvPr>
        </p:nvSpPr>
        <p:spPr>
          <a:xfrm>
            <a:off x="0" y="0"/>
            <a:ext cx="9144000" cy="274320"/>
          </a:xfrm>
          <a:prstGeom prst="rect">
            <a:avLst/>
          </a:prstGeom>
          <a:noFill/>
          <a:ln/>
        </p:spPr>
        <p:txBody>
          <a:bodyPr wrap="square" rtlCol="0"/>
          <a:lstStyle>
            <a:lvl1pPr marL="0" indent="0">
              <a:buNone/>
              <a:defRPr lang="en-US" sz="1600" dirty="0">
                <a:solidFill>
                  <a:srgbClr val="024C69"/>
                </a:solidFill>
                <a:latin typeface="Arial" pitchFamily="34" charset="0"/>
                <a:ea typeface="Arial" pitchFamily="34" charset="-122"/>
                <a:cs typeface="Arial" pitchFamily="34" charset="-120"/>
              </a:defRPr>
            </a:lvl1pPr>
          </a:lstStyle>
          <a:p>
            <a:pPr marL="0" indent="0">
              <a:buNone/>
            </a:pPr>
            <a:r>
              <a:rPr lang="en-US" sz="1600" dirty="0">
                <a:solidFill>
                  <a:srgbClr val="024C69"/>
                </a:solidFill>
                <a:latin typeface="Arial" pitchFamily="34" charset="0"/>
                <a:ea typeface="Arial" pitchFamily="34" charset="-122"/>
                <a:cs typeface="Arial" pitchFamily="34" charset="-120"/>
              </a:rPr>
              <a:t>(custom placeholder text!)</a:t>
            </a:r>
            <a:endParaRPr lang="en-US" sz="1600" dirty="0"/>
          </a:p>
        </p:txBody>
      </p:sp>
      <p:sp>
        <p:nvSpPr>
          <p:cNvPr id="4" name="Object3"/>
          <p:cNvSpPr/>
          <p:nvPr/>
        </p:nvSpPr>
        <p:spPr>
          <a:xfrm>
            <a:off x="914400" y="4629150"/>
            <a:ext cx="7772400" cy="228600"/>
          </a:xfrm>
          <a:prstGeom prst="rect">
            <a:avLst/>
          </a:prstGeom>
          <a:noFill/>
          <a:ln/>
        </p:spPr>
        <p:txBody>
          <a:bodyPr wrap="square" rtlCol="0" anchor="t">
            <a:normAutofit/>
          </a:bodyPr>
          <a:lstStyle/>
          <a:p>
            <a:pPr algn="r"/>
            <a:r>
              <a:rPr lang="en-US" sz="600" dirty="0">
                <a:solidFill>
                  <a:srgbClr val="D9D9D9"/>
                </a:solidFill>
              </a:rPr>
              <a:t>© 2021 Cisco and/or its affiliates. All rights reserved.   Cisco Confidential</a:t>
            </a:r>
            <a:endParaRPr lang="en-US" sz="600" dirty="0"/>
          </a:p>
        </p:txBody>
      </p:sp>
      <p:pic>
        <p:nvPicPr>
          <p:cNvPr id="5" name="Object 4" descr="/Users/phillipball/Projects/Cisco/Netacad 3/netacad-vudu/src/pptx/assets/Cisco_logo_sm.png"/>
          <p:cNvPicPr>
            <a:picLocks noChangeAspect="1"/>
          </p:cNvPicPr>
          <p:nvPr/>
        </p:nvPicPr>
        <p:blipFill>
          <a:blip r:embed="rId2"/>
          <a:stretch>
            <a:fillRect/>
          </a:stretch>
        </p:blipFill>
        <p:spPr>
          <a:xfrm>
            <a:off x="457200" y="4629150"/>
            <a:ext cx="365760" cy="182880"/>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455626356"/>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100244495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dirty="0"/>
              <a:t>Click to edit Master subtitle style</a:t>
            </a:r>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dirty="0"/>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dirty="0"/>
              <a:t>Click to edit Master title style</a:t>
            </a:r>
          </a:p>
        </p:txBody>
      </p:sp>
    </p:spTree>
    <p:extLst>
      <p:ext uri="{BB962C8B-B14F-4D97-AF65-F5344CB8AC3E}">
        <p14:creationId xmlns:p14="http://schemas.microsoft.com/office/powerpoint/2010/main" val="43201160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dirty="0"/>
              <a:t>Click to edit Master title style</a:t>
            </a:r>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2021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142761412"/>
      </p:ext>
    </p:extLst>
  </p:cSld>
  <p:clrMapOvr>
    <a:masterClrMapping/>
  </p:clrMapOvr>
  <p:transition spd="slow">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dirty="0"/>
              <a:t>Click to edit Master title style</a:t>
            </a:r>
            <a:endParaRPr lang="en-GB" dirty="0"/>
          </a:p>
        </p:txBody>
      </p:sp>
    </p:spTree>
    <p:extLst>
      <p:ext uri="{BB962C8B-B14F-4D97-AF65-F5344CB8AC3E}">
        <p14:creationId xmlns:p14="http://schemas.microsoft.com/office/powerpoint/2010/main" val="23254475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43916233"/>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2523642856"/>
      </p:ext>
    </p:extLst>
  </p:cSld>
  <p:clrMapOvr>
    <a:masterClrMapping/>
  </p:clrMapOvr>
  <p:transition spd="slow">
    <p:wip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dirty="0"/>
              <a:t>Click to edit Master title style</a:t>
            </a:r>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1623826304"/>
      </p:ext>
    </p:extLst>
  </p:cSld>
  <p:clrMapOvr>
    <a:masterClrMapping/>
  </p:clrMapOvr>
  <p:transition spd="slow">
    <p:wipe/>
  </p:transition>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dirty="0"/>
              <a:t>Click to edit Master title style</a:t>
            </a:r>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548839976"/>
      </p:ext>
    </p:extLst>
  </p:cSld>
  <p:clrMapOvr>
    <a:masterClrMapping/>
  </p:clrMapOvr>
  <p:transition spd="slow">
    <p:wipe/>
  </p:transition>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1327227"/>
      </p:ext>
    </p:extLst>
  </p:cSld>
  <p:clrMapOvr>
    <a:masterClrMapping/>
  </p:clrMapOvr>
  <p:transition spd="slow">
    <p:wipe/>
  </p:transition>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231738867"/>
      </p:ext>
    </p:extLst>
  </p:cSld>
  <p:clrMapOvr>
    <a:masterClrMapping/>
  </p:clrMapOvr>
  <p:transition spd="slow">
    <p:wip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4251208374"/>
      </p:ext>
    </p:extLst>
  </p:cSld>
  <p:clrMapOvr>
    <a:masterClrMapping/>
  </p:clrMapOvr>
  <p:transition spd="slow">
    <p:wipe/>
  </p:transition>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4" name="Slide Number Placeholder 6"/>
          <p:cNvSpPr>
            <a:spLocks noGrp="1"/>
          </p:cNvSpPr>
          <p:nvPr>
            <p:ph type="sldNum" sz="quarter" idx="4"/>
          </p:nvPr>
        </p:nvSpPr>
        <p:spPr>
          <a:xfrm>
            <a:off x="8473441" y="4954263"/>
            <a:ext cx="676910" cy="189238"/>
          </a:xfrm>
          <a:prstGeom prst="rect">
            <a:avLst/>
          </a:prstGeom>
        </p:spPr>
        <p:txBody>
          <a:bodyPr vert="horz" lIns="91440" tIns="45720" rIns="91440" bIns="45720" rtlCol="0" anchor="ctr"/>
          <a:lstStyle>
            <a:lvl1pPr algn="r">
              <a:defRPr sz="525">
                <a:solidFill>
                  <a:schemeClr val="tx2"/>
                </a:solidFill>
              </a:defRPr>
            </a:lvl1pPr>
          </a:lstStyle>
          <a:p>
            <a:pPr defTabSz="385763">
              <a:defRPr/>
            </a:pPr>
            <a:fld id="{2F5CCB13-0A32-4557-88E9-079F0C330695}" type="slidenum">
              <a:rPr lang="en-US" kern="0" smtClean="0">
                <a:solidFill>
                  <a:srgbClr val="595959"/>
                </a:solidFill>
              </a:rPr>
              <a:pPr defTabSz="385763">
                <a:defRPr/>
              </a:pPr>
              <a:t>‹#›</a:t>
            </a:fld>
            <a:endParaRPr lang="en-US" kern="0" dirty="0">
              <a:solidFill>
                <a:srgbClr val="595959"/>
              </a:solidFill>
            </a:endParaRPr>
          </a:p>
        </p:txBody>
      </p:sp>
      <p:sp>
        <p:nvSpPr>
          <p:cNvPr id="5" name="Rectangle 3"/>
          <p:cNvSpPr>
            <a:spLocks noGrp="1" noChangeArrowheads="1"/>
          </p:cNvSpPr>
          <p:nvPr>
            <p:ph idx="1"/>
          </p:nvPr>
        </p:nvSpPr>
        <p:spPr bwMode="auto">
          <a:xfrm>
            <a:off x="144065" y="798944"/>
            <a:ext cx="8853286" cy="415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nSpc>
                <a:spcPct val="100000"/>
              </a:lnSpc>
              <a:spcBef>
                <a:spcPts val="600"/>
              </a:spcBef>
              <a:spcAft>
                <a:spcPts val="600"/>
              </a:spcAft>
              <a:buFont typeface="Wingdings" panose="05000000000000000000" pitchFamily="2" charset="2"/>
              <a:buChar char="§"/>
              <a:defRPr>
                <a:solidFill>
                  <a:srgbClr val="000000"/>
                </a:solidFill>
              </a:defRPr>
            </a:lvl1pPr>
            <a:lvl2pPr>
              <a:lnSpc>
                <a:spcPct val="100000"/>
              </a:lnSpc>
              <a:spcBef>
                <a:spcPts val="300"/>
              </a:spcBef>
              <a:spcAft>
                <a:spcPts val="300"/>
              </a:spcAft>
              <a:defRPr>
                <a:solidFill>
                  <a:srgbClr val="000000"/>
                </a:solidFill>
              </a:defRPr>
            </a:lvl2pPr>
            <a:lvl3pPr>
              <a:lnSpc>
                <a:spcPct val="100000"/>
              </a:lnSpc>
              <a:spcBef>
                <a:spcPts val="300"/>
              </a:spcBef>
              <a:spcAft>
                <a:spcPts val="300"/>
              </a:spcAft>
              <a:defRPr>
                <a:solidFill>
                  <a:srgbClr val="000000"/>
                </a:solidFill>
              </a:defRPr>
            </a:lvl3pPr>
            <a:lvl4pPr>
              <a:lnSpc>
                <a:spcPct val="100000"/>
              </a:lnSpc>
              <a:spcBef>
                <a:spcPts val="300"/>
              </a:spcBef>
              <a:spcAft>
                <a:spcPts val="300"/>
              </a:spcAft>
              <a:defRPr>
                <a:solidFill>
                  <a:srgbClr val="000000"/>
                </a:solidFill>
              </a:defRPr>
            </a:lvl4pPr>
          </a:lstStyle>
          <a:p>
            <a:pPr lvl="0"/>
            <a:r>
              <a:rPr lang="en-US" dirty="0">
                <a:sym typeface="Arial" pitchFamily="34" charset="0"/>
              </a:rPr>
              <a:t>Click to edit Master text styles</a:t>
            </a:r>
          </a:p>
          <a:p>
            <a:pPr lvl="1"/>
            <a:r>
              <a:rPr lang="en-US" dirty="0">
                <a:sym typeface="Arial" pitchFamily="34" charset="0"/>
              </a:rPr>
              <a:t>Second level</a:t>
            </a:r>
          </a:p>
          <a:p>
            <a:pPr lvl="2"/>
            <a:r>
              <a:rPr lang="en-US" dirty="0">
                <a:sym typeface="Arial" pitchFamily="34" charset="0"/>
              </a:rPr>
              <a:t>Third level</a:t>
            </a:r>
          </a:p>
          <a:p>
            <a:pPr lvl="3"/>
            <a:r>
              <a:rPr lang="en-US" dirty="0">
                <a:sym typeface="Arial" pitchFamily="34" charset="0"/>
              </a:rPr>
              <a:t>Fourth level</a:t>
            </a:r>
          </a:p>
        </p:txBody>
      </p:sp>
      <p:sp>
        <p:nvSpPr>
          <p:cNvPr id="6" name="Rectangle 2"/>
          <p:cNvSpPr>
            <a:spLocks noGrp="1" noChangeArrowheads="1"/>
          </p:cNvSpPr>
          <p:nvPr>
            <p:ph type="title"/>
          </p:nvPr>
        </p:nvSpPr>
        <p:spPr bwMode="auto">
          <a:xfrm>
            <a:off x="1" y="41393"/>
            <a:ext cx="9144000" cy="7575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lvl1pPr>
              <a:lnSpc>
                <a:spcPct val="100000"/>
              </a:lnSpc>
              <a:defRPr sz="2400"/>
            </a:lvl1pPr>
          </a:lstStyle>
          <a:p>
            <a:pPr lvl="0"/>
            <a:r>
              <a:rPr lang="en-US" dirty="0">
                <a:sym typeface="Arial" pitchFamily="34" charset="0"/>
              </a:rPr>
              <a:t>Click to edit Master title style</a:t>
            </a:r>
          </a:p>
        </p:txBody>
      </p:sp>
    </p:spTree>
    <p:extLst>
      <p:ext uri="{BB962C8B-B14F-4D97-AF65-F5344CB8AC3E}">
        <p14:creationId xmlns:p14="http://schemas.microsoft.com/office/powerpoint/2010/main" val="1503827246"/>
      </p:ext>
    </p:extLst>
  </p:cSld>
  <p:clrMapOvr>
    <a:masterClrMapping/>
  </p:clrMapOvr>
  <p:transition/>
</p:sldLayout>
</file>

<file path=ppt/slideLayouts/slideLayout20.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84612082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3_Title Slide-animated gradient">
    <p:bg>
      <p:bgPr>
        <a:solidFill>
          <a:schemeClr val="accent5"/>
        </a:solidFill>
        <a:effectLst/>
      </p:bgPr>
    </p:bg>
    <p:spTree>
      <p:nvGrpSpPr>
        <p:cNvPr id="1" name=""/>
        <p:cNvGrpSpPr/>
        <p:nvPr/>
      </p:nvGrpSpPr>
      <p:grpSpPr>
        <a:xfrm>
          <a:off x="0" y="0"/>
          <a:ext cx="0" cy="0"/>
          <a:chOff x="0" y="0"/>
          <a:chExt cx="0" cy="0"/>
        </a:xfrm>
      </p:grpSpPr>
      <p:pic>
        <p:nvPicPr>
          <p:cNvPr id="3" name="Picture 2"/>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0"/>
            <a:ext cx="9144000" cy="5143500"/>
          </a:xfrm>
          <a:prstGeom prst="rect">
            <a:avLst/>
          </a:prstGeom>
        </p:spPr>
      </p:pic>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2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60132787"/>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5_Title Slide-animated gradient">
    <p:bg>
      <p:bgPr>
        <a:solidFill>
          <a:schemeClr val="accent5"/>
        </a:solidFill>
        <a:effectLst/>
      </p:bgPr>
    </p:bg>
    <p:spTree>
      <p:nvGrpSpPr>
        <p:cNvPr id="1" name=""/>
        <p:cNvGrpSpPr/>
        <p:nvPr/>
      </p:nvGrpSpPr>
      <p:grpSpPr>
        <a:xfrm>
          <a:off x="0" y="0"/>
          <a:ext cx="0" cy="0"/>
          <a:chOff x="0" y="0"/>
          <a:chExt cx="0" cy="0"/>
        </a:xfrm>
      </p:grpSpPr>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1"/>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1"/>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rgbClr val="004C69"/>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accent1"/>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chemeClr val="accent1"/>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406811078"/>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6_Title Slide-animated gradient">
    <p:bg>
      <p:bgPr>
        <a:solidFill>
          <a:schemeClr val="accent5"/>
        </a:solidFill>
        <a:effectLst/>
      </p:bgPr>
    </p:bg>
    <p:spTree>
      <p:nvGrpSpPr>
        <p:cNvPr id="1" name=""/>
        <p:cNvGrpSpPr/>
        <p:nvPr/>
      </p:nvGrpSpPr>
      <p:grpSpPr>
        <a:xfrm>
          <a:off x="0" y="0"/>
          <a:ext cx="0" cy="0"/>
          <a:chOff x="0" y="0"/>
          <a:chExt cx="0" cy="0"/>
        </a:xfrm>
      </p:grpSpPr>
      <p:sp>
        <p:nvSpPr>
          <p:cNvPr id="2" name="Rectangle 1"/>
          <p:cNvSpPr/>
          <p:nvPr userDrawn="1"/>
        </p:nvSpPr>
        <p:spPr>
          <a:xfrm>
            <a:off x="0" y="0"/>
            <a:ext cx="9144000" cy="5143500"/>
          </a:xfrm>
          <a:prstGeom prst="rect">
            <a:avLst/>
          </a:prstGeom>
          <a:solidFill>
            <a:schemeClr val="accent1"/>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Subtitle 2"/>
          <p:cNvSpPr>
            <a:spLocks noGrp="1"/>
          </p:cNvSpPr>
          <p:nvPr>
            <p:ph type="subTitle" idx="1"/>
          </p:nvPr>
        </p:nvSpPr>
        <p:spPr>
          <a:xfrm>
            <a:off x="469496" y="3809526"/>
            <a:ext cx="4319105" cy="288131"/>
          </a:xfrm>
          <a:prstGeom prst="rect">
            <a:avLst/>
          </a:prstGeom>
        </p:spPr>
        <p:txBody>
          <a:bodyPr lIns="91420" tIns="45710" rIns="91420" bIns="45710" anchor="b" anchorCtr="0">
            <a:noAutofit/>
          </a:bodyPr>
          <a:lstStyle>
            <a:lvl1pPr marL="0" indent="0" algn="l">
              <a:buNone/>
              <a:defRPr sz="1200" b="0" i="0">
                <a:solidFill>
                  <a:schemeClr val="accent5"/>
                </a:solidFill>
                <a:latin typeface="+mn-lt"/>
                <a:cs typeface="CiscoSans"/>
              </a:defRPr>
            </a:lvl1pPr>
            <a:lvl2pPr marL="342856" indent="0" algn="ctr">
              <a:buNone/>
              <a:defRPr>
                <a:solidFill>
                  <a:schemeClr val="tx1">
                    <a:tint val="75000"/>
                  </a:schemeClr>
                </a:solidFill>
              </a:defRPr>
            </a:lvl2pPr>
            <a:lvl3pPr marL="685720" indent="0" algn="ctr">
              <a:buNone/>
              <a:defRPr>
                <a:solidFill>
                  <a:schemeClr val="tx1">
                    <a:tint val="75000"/>
                  </a:schemeClr>
                </a:solidFill>
              </a:defRPr>
            </a:lvl3pPr>
            <a:lvl4pPr marL="1028579" indent="0" algn="ctr">
              <a:buNone/>
              <a:defRPr>
                <a:solidFill>
                  <a:schemeClr val="tx1">
                    <a:tint val="75000"/>
                  </a:schemeClr>
                </a:solidFill>
              </a:defRPr>
            </a:lvl4pPr>
            <a:lvl5pPr marL="1371441" indent="0" algn="ctr">
              <a:buNone/>
              <a:defRPr>
                <a:solidFill>
                  <a:schemeClr val="tx1">
                    <a:tint val="75000"/>
                  </a:schemeClr>
                </a:solidFill>
              </a:defRPr>
            </a:lvl5pPr>
            <a:lvl6pPr marL="1714297" indent="0" algn="ctr">
              <a:buNone/>
              <a:defRPr>
                <a:solidFill>
                  <a:schemeClr val="tx1">
                    <a:tint val="75000"/>
                  </a:schemeClr>
                </a:solidFill>
              </a:defRPr>
            </a:lvl6pPr>
            <a:lvl7pPr marL="2057161" indent="0" algn="ctr">
              <a:buNone/>
              <a:defRPr>
                <a:solidFill>
                  <a:schemeClr val="tx1">
                    <a:tint val="75000"/>
                  </a:schemeClr>
                </a:solidFill>
              </a:defRPr>
            </a:lvl7pPr>
            <a:lvl8pPr marL="2400020" indent="0" algn="ctr">
              <a:buNone/>
              <a:defRPr>
                <a:solidFill>
                  <a:schemeClr val="tx1">
                    <a:tint val="75000"/>
                  </a:schemeClr>
                </a:solidFill>
              </a:defRPr>
            </a:lvl8pPr>
            <a:lvl9pPr marL="2742882" indent="0" algn="ctr">
              <a:buNone/>
              <a:defRPr>
                <a:solidFill>
                  <a:schemeClr val="tx1">
                    <a:tint val="75000"/>
                  </a:schemeClr>
                </a:solidFill>
              </a:defRPr>
            </a:lvl9pPr>
          </a:lstStyle>
          <a:p>
            <a:r>
              <a:rPr lang="en-US"/>
              <a:t>Click to edit Master subtitle style</a:t>
            </a:r>
            <a:endParaRPr lang="en-US" dirty="0"/>
          </a:p>
        </p:txBody>
      </p:sp>
      <p:sp>
        <p:nvSpPr>
          <p:cNvPr id="17" name="Text Placeholder 38"/>
          <p:cNvSpPr>
            <a:spLocks noGrp="1"/>
          </p:cNvSpPr>
          <p:nvPr>
            <p:ph type="body" sz="quarter" idx="11"/>
          </p:nvPr>
        </p:nvSpPr>
        <p:spPr>
          <a:xfrm>
            <a:off x="469496" y="4049523"/>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sp>
        <p:nvSpPr>
          <p:cNvPr id="18" name="Text Placeholder 40"/>
          <p:cNvSpPr>
            <a:spLocks noGrp="1"/>
          </p:cNvSpPr>
          <p:nvPr>
            <p:ph type="body" sz="quarter" idx="12"/>
          </p:nvPr>
        </p:nvSpPr>
        <p:spPr>
          <a:xfrm>
            <a:off x="469496" y="4289520"/>
            <a:ext cx="4319105" cy="288131"/>
          </a:xfrm>
          <a:prstGeom prst="rect">
            <a:avLst/>
          </a:prstGeom>
        </p:spPr>
        <p:txBody>
          <a:bodyPr lIns="91420" tIns="45710" rIns="91420" bIns="45710"/>
          <a:lstStyle>
            <a:lvl1pPr marL="0" indent="0" algn="l">
              <a:buFontTx/>
              <a:buNone/>
              <a:defRPr lang="en-US" sz="1200" b="0" i="0" kern="1200" dirty="0" smtClean="0">
                <a:solidFill>
                  <a:schemeClr val="accent5"/>
                </a:solidFill>
                <a:latin typeface="+mn-lt"/>
                <a:ea typeface="+mn-ea"/>
                <a:cs typeface="CiscoSans ExtraLight" pitchFamily="34" charset="0"/>
              </a:defRPr>
            </a:lvl1pPr>
            <a:lvl2pPr>
              <a:buFontTx/>
              <a:buNone/>
              <a:defRPr lang="en-US" sz="1500" kern="1200" dirty="0" smtClean="0">
                <a:solidFill>
                  <a:schemeClr val="bg1"/>
                </a:solidFill>
                <a:latin typeface="+mj-lt"/>
                <a:ea typeface="+mn-ea"/>
                <a:cs typeface="+mn-cs"/>
              </a:defRPr>
            </a:lvl2pPr>
            <a:lvl3pPr>
              <a:buFontTx/>
              <a:buNone/>
              <a:defRPr lang="en-US" sz="1500" kern="1200" dirty="0" smtClean="0">
                <a:solidFill>
                  <a:schemeClr val="bg1"/>
                </a:solidFill>
                <a:latin typeface="+mj-lt"/>
                <a:ea typeface="+mn-ea"/>
                <a:cs typeface="+mn-cs"/>
              </a:defRPr>
            </a:lvl3pPr>
            <a:lvl4pPr>
              <a:buFontTx/>
              <a:buNone/>
              <a:defRPr lang="en-US" sz="1500" kern="1200" dirty="0" smtClean="0">
                <a:solidFill>
                  <a:schemeClr val="bg1"/>
                </a:solidFill>
                <a:latin typeface="+mj-lt"/>
                <a:ea typeface="+mn-ea"/>
                <a:cs typeface="+mn-cs"/>
              </a:defRPr>
            </a:lvl4pPr>
            <a:lvl5pPr>
              <a:buFontTx/>
              <a:buNone/>
              <a:defRPr lang="en-US" sz="1500" kern="1200" dirty="0" smtClean="0">
                <a:solidFill>
                  <a:schemeClr val="bg1"/>
                </a:solidFill>
                <a:latin typeface="+mj-lt"/>
                <a:ea typeface="+mn-ea"/>
                <a:cs typeface="+mn-cs"/>
              </a:defRPr>
            </a:lvl5pPr>
          </a:lstStyle>
          <a:p>
            <a:pPr lvl="0"/>
            <a:r>
              <a:rPr lang="en-US"/>
              <a:t>Click to edit Master text styles</a:t>
            </a:r>
          </a:p>
        </p:txBody>
      </p:sp>
      <p:grpSp>
        <p:nvGrpSpPr>
          <p:cNvPr id="6" name="Group 4"/>
          <p:cNvGrpSpPr>
            <a:grpSpLocks noChangeAspect="1"/>
          </p:cNvGrpSpPr>
          <p:nvPr userDrawn="1"/>
        </p:nvGrpSpPr>
        <p:grpSpPr bwMode="auto">
          <a:xfrm>
            <a:off x="492125" y="395288"/>
            <a:ext cx="796924" cy="423863"/>
            <a:chOff x="310" y="249"/>
            <a:chExt cx="502" cy="267"/>
          </a:xfrm>
          <a:solidFill>
            <a:schemeClr val="accent5"/>
          </a:solidFill>
        </p:grpSpPr>
        <p:sp>
          <p:nvSpPr>
            <p:cNvPr id="9"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
        <p:nvSpPr>
          <p:cNvPr id="29" name="Text Placeholder 2"/>
          <p:cNvSpPr>
            <a:spLocks noGrp="1"/>
          </p:cNvSpPr>
          <p:nvPr>
            <p:ph type="body" sz="quarter" idx="13"/>
          </p:nvPr>
        </p:nvSpPr>
        <p:spPr>
          <a:xfrm>
            <a:off x="463292" y="2872236"/>
            <a:ext cx="5925246" cy="299001"/>
          </a:xfrm>
          <a:prstGeom prst="rect">
            <a:avLst/>
          </a:prstGeom>
        </p:spPr>
        <p:txBody>
          <a:bodyPr lIns="91420" tIns="45710" rIns="91420" bIns="45710"/>
          <a:lstStyle>
            <a:lvl1pPr marL="0" indent="0">
              <a:buFont typeface="Arial" panose="020B0604020202020204" pitchFamily="34" charset="0"/>
              <a:buNone/>
              <a:defRPr sz="2000" baseline="0">
                <a:solidFill>
                  <a:schemeClr val="bg2"/>
                </a:solidFill>
                <a:latin typeface="+mj-lt"/>
              </a:defRPr>
            </a:lvl1pPr>
            <a:lvl2pPr marL="304781" indent="0">
              <a:buNone/>
              <a:defRPr/>
            </a:lvl2pPr>
            <a:lvl3pPr marL="427401" indent="0">
              <a:buNone/>
              <a:defRPr/>
            </a:lvl3pPr>
            <a:lvl4pPr marL="516694" indent="0">
              <a:buNone/>
              <a:defRPr/>
            </a:lvl4pPr>
            <a:lvl5pPr marL="601221" indent="0">
              <a:buNone/>
              <a:defRPr/>
            </a:lvl5pPr>
          </a:lstStyle>
          <a:p>
            <a:pPr lvl="0"/>
            <a:r>
              <a:rPr lang="en-US"/>
              <a:t>Click to edit Master text styles</a:t>
            </a:r>
          </a:p>
        </p:txBody>
      </p:sp>
      <p:sp>
        <p:nvSpPr>
          <p:cNvPr id="30" name="Title 1"/>
          <p:cNvSpPr>
            <a:spLocks noGrp="1"/>
          </p:cNvSpPr>
          <p:nvPr>
            <p:ph type="ctrTitle"/>
          </p:nvPr>
        </p:nvSpPr>
        <p:spPr>
          <a:xfrm>
            <a:off x="425765" y="2300750"/>
            <a:ext cx="5955513" cy="644730"/>
          </a:xfrm>
          <a:prstGeom prst="rect">
            <a:avLst/>
          </a:prstGeom>
        </p:spPr>
        <p:txBody>
          <a:bodyPr anchor="b"/>
          <a:lstStyle>
            <a:lvl1pPr marL="0" indent="0" algn="l">
              <a:lnSpc>
                <a:spcPct val="90000"/>
              </a:lnSpc>
              <a:buFont typeface="Arial" panose="020B0604020202020204" pitchFamily="34" charset="0"/>
              <a:buNone/>
              <a:defRPr sz="3600" b="0" i="0" spc="0" baseline="0">
                <a:solidFill>
                  <a:srgbClr val="38C6F4"/>
                </a:solidFill>
                <a:latin typeface="+mj-lt"/>
                <a:cs typeface="CiscoSans Thin"/>
              </a:defRPr>
            </a:lvl1pPr>
          </a:lstStyle>
          <a:p>
            <a:r>
              <a:rPr lang="en-US"/>
              <a:t>Click to edit Master title style</a:t>
            </a:r>
            <a:endParaRPr lang="en-US" dirty="0"/>
          </a:p>
        </p:txBody>
      </p:sp>
    </p:spTree>
    <p:extLst>
      <p:ext uri="{BB962C8B-B14F-4D97-AF65-F5344CB8AC3E}">
        <p14:creationId xmlns:p14="http://schemas.microsoft.com/office/powerpoint/2010/main" val="857997012"/>
      </p:ext>
    </p:extLst>
  </p:cSld>
  <p:clrMapOvr>
    <a:masterClrMapping/>
  </p:clrMapOvr>
  <p:transition spd="slow">
    <p:wipe/>
  </p:transition>
  <p:extLst>
    <p:ext uri="{DCECCB84-F9BA-43D5-87BE-67443E8EF086}">
      <p15:sldGuideLst xmlns:p15="http://schemas.microsoft.com/office/powerpoint/2012/main">
        <p15:guide id="1" orient="horz" pos="228">
          <p15:clr>
            <a:srgbClr val="FBAE40"/>
          </p15:clr>
        </p15:guide>
        <p15:guide id="2" pos="360">
          <p15:clr>
            <a:srgbClr val="FBAE40"/>
          </p15:clr>
        </p15:guide>
        <p15:guide id="3" orient="horz" pos="518">
          <p15:clr>
            <a:srgbClr val="FBAE40"/>
          </p15:clr>
        </p15:guide>
        <p15:guide id="4" pos="812">
          <p15:clr>
            <a:srgbClr val="FBAE40"/>
          </p15:clr>
        </p15:guide>
        <p15:guide id="5" pos="311">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p:cSld name="3_Segue">
    <p:bg>
      <p:bgPr>
        <a:solidFill>
          <a:schemeClr val="bg1"/>
        </a:solidFill>
        <a:effectLst/>
      </p:bgPr>
    </p:bg>
    <p:spTree>
      <p:nvGrpSpPr>
        <p:cNvPr id="1" name=""/>
        <p:cNvGrpSpPr/>
        <p:nvPr/>
      </p:nvGrpSpPr>
      <p:grpSpPr>
        <a:xfrm>
          <a:off x="0" y="0"/>
          <a:ext cx="0" cy="0"/>
          <a:chOff x="0" y="0"/>
          <a:chExt cx="0" cy="0"/>
        </a:xfrm>
      </p:grpSpPr>
      <p:sp>
        <p:nvSpPr>
          <p:cNvPr id="7" name="Rectangle 6"/>
          <p:cNvSpPr/>
          <p:nvPr userDrawn="1"/>
        </p:nvSpPr>
        <p:spPr>
          <a:xfrm>
            <a:off x="0" y="0"/>
            <a:ext cx="9144000" cy="5143499"/>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Title 1"/>
          <p:cNvSpPr>
            <a:spLocks noGrp="1"/>
          </p:cNvSpPr>
          <p:nvPr>
            <p:ph type="ctrTitle"/>
          </p:nvPr>
        </p:nvSpPr>
        <p:spPr>
          <a:xfrm>
            <a:off x="416425" y="915409"/>
            <a:ext cx="7598042" cy="2569946"/>
          </a:xfrm>
          <a:prstGeom prst="rect">
            <a:avLst/>
          </a:prstGeom>
        </p:spPr>
        <p:txBody>
          <a:bodyPr anchor="b">
            <a:noAutofit/>
          </a:bodyPr>
          <a:lstStyle>
            <a:lvl1pPr marL="0" indent="0" algn="l">
              <a:lnSpc>
                <a:spcPct val="90000"/>
              </a:lnSpc>
              <a:buFont typeface="Arial" panose="020B0604020202020204" pitchFamily="34" charset="0"/>
              <a:buNone/>
              <a:defRPr sz="4600" b="0" i="0" spc="0" baseline="0">
                <a:solidFill>
                  <a:schemeClr val="accent5"/>
                </a:solidFill>
                <a:latin typeface="+mj-lt"/>
                <a:cs typeface="CiscoSans Thin"/>
              </a:defRPr>
            </a:lvl1pPr>
          </a:lstStyle>
          <a:p>
            <a:r>
              <a:rPr lang="en-US"/>
              <a:t>Click to edit Master title style</a:t>
            </a:r>
            <a:endParaRPr lang="en-US" dirty="0"/>
          </a:p>
        </p:txBody>
      </p:sp>
      <p:sp>
        <p:nvSpPr>
          <p:cNvPr id="8" name="Rectangle 7"/>
          <p:cNvSpPr>
            <a:spLocks noChangeArrowheads="1"/>
          </p:cNvSpPr>
          <p:nvPr userDrawn="1"/>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5">
                    <a:lumMod val="50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5">
                  <a:lumMod val="50000"/>
                </a:schemeClr>
              </a:solidFill>
              <a:latin typeface="+mn-lt"/>
              <a:ea typeface="+mn-ea"/>
              <a:cs typeface="CiscoSans Thin"/>
            </a:endParaRPr>
          </a:p>
        </p:txBody>
      </p:sp>
      <p:sp>
        <p:nvSpPr>
          <p:cNvPr id="9" name="Rectangle 4"/>
          <p:cNvSpPr>
            <a:spLocks noChangeArrowheads="1"/>
          </p:cNvSpPr>
          <p:nvPr userDrawn="1"/>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5">
                    <a:lumMod val="50000"/>
                  </a:schemeClr>
                </a:solidFill>
                <a:latin typeface="+mn-lt"/>
                <a:ea typeface="+mn-ea"/>
                <a:cs typeface="CiscoSans Thin"/>
              </a:rPr>
              <a:t>© 2016  Cisco and/or its affiliates. All rights reserved.   Cisco Confidential</a:t>
            </a:r>
          </a:p>
        </p:txBody>
      </p:sp>
      <p:grpSp>
        <p:nvGrpSpPr>
          <p:cNvPr id="11" name="Group 4"/>
          <p:cNvGrpSpPr>
            <a:grpSpLocks noChangeAspect="1"/>
          </p:cNvGrpSpPr>
          <p:nvPr userDrawn="1"/>
        </p:nvGrpSpPr>
        <p:grpSpPr bwMode="auto">
          <a:xfrm>
            <a:off x="508039" y="4715197"/>
            <a:ext cx="340257" cy="180974"/>
            <a:chOff x="310" y="249"/>
            <a:chExt cx="502" cy="267"/>
          </a:xfrm>
          <a:solidFill>
            <a:srgbClr val="086D8E"/>
          </a:solidFill>
        </p:grpSpPr>
        <p:sp>
          <p:nvSpPr>
            <p:cNvPr id="12"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3"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4"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5"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494482907"/>
      </p:ext>
    </p:extLst>
  </p:cSld>
  <p:clrMapOvr>
    <a:masterClrMapping/>
  </p:clrMapOvr>
  <p:transition spd="slow">
    <p:wipe/>
  </p:transition>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Multi_Slide">
    <p:spTree>
      <p:nvGrpSpPr>
        <p:cNvPr id="1" name=""/>
        <p:cNvGrpSpPr/>
        <p:nvPr/>
      </p:nvGrpSpPr>
      <p:grpSpPr>
        <a:xfrm>
          <a:off x="0" y="0"/>
          <a:ext cx="0" cy="0"/>
          <a:chOff x="0" y="0"/>
          <a:chExt cx="0" cy="0"/>
        </a:xfrm>
      </p:grpSpPr>
      <p:sp>
        <p:nvSpPr>
          <p:cNvPr id="5" name="Content Placeholder 2"/>
          <p:cNvSpPr>
            <a:spLocks noGrp="1"/>
          </p:cNvSpPr>
          <p:nvPr>
            <p:ph idx="1"/>
          </p:nvPr>
        </p:nvSpPr>
        <p:spPr>
          <a:xfrm>
            <a:off x="474662" y="1347788"/>
            <a:ext cx="8280057" cy="3073946"/>
          </a:xfrm>
          <a:prstGeom prst="rect">
            <a:avLst/>
          </a:prstGeom>
        </p:spPr>
        <p:txBody>
          <a:bodyPr lIns="91420" tIns="45710" rIns="91420" bIns="45710">
            <a:noAutofit/>
          </a:bodyPr>
          <a:lstStyle>
            <a:lvl1pPr marL="285690" marR="0" indent="-285690" algn="ctr" defTabSz="457105" rtl="0" eaLnBrk="1" fontAlgn="auto" latinLnBrk="0" hangingPunct="1">
              <a:lnSpc>
                <a:spcPct val="100000"/>
              </a:lnSpc>
              <a:spcBef>
                <a:spcPct val="20000"/>
              </a:spcBef>
              <a:spcAft>
                <a:spcPts val="0"/>
              </a:spcAft>
              <a:buClrTx/>
              <a:buSzTx/>
              <a:buFont typeface="Arial"/>
              <a:buNone/>
              <a:tabLst/>
              <a:defRPr sz="2000" b="0" i="0" baseline="0">
                <a:solidFill>
                  <a:schemeClr val="bg1"/>
                </a:solidFill>
                <a:latin typeface="+mn-lt"/>
                <a:cs typeface="CiscoSans ExtraLight"/>
              </a:defRPr>
            </a:lvl1pPr>
          </a:lstStyle>
          <a:p>
            <a:pPr lvl="0"/>
            <a:r>
              <a:rPr lang="en-US"/>
              <a:t>Click to edit Master text styles</a:t>
            </a:r>
          </a:p>
        </p:txBody>
      </p:sp>
      <p:sp>
        <p:nvSpPr>
          <p:cNvPr id="4" name="Title Placeholder 5"/>
          <p:cNvSpPr>
            <a:spLocks noGrp="1"/>
          </p:cNvSpPr>
          <p:nvPr>
            <p:ph type="title"/>
          </p:nvPr>
        </p:nvSpPr>
        <p:spPr bwMode="auto">
          <a:xfrm>
            <a:off x="437766"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rgbClr val="004C69"/>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5144721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xmlns:p14="http://schemas.microsoft.com/office/powerpoint/2010/mai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39104477"/>
      </p:ext>
    </p:extLst>
  </p:cSld>
  <p:clrMapOvr>
    <a:overrideClrMapping bg1="lt1" tx1="dk1" bg2="lt2" tx2="dk2" accent1="accent1" accent2="accent2" accent3="accent3" accent4="accent4" accent5="accent5" accent6="accent6" hlink="hlink" folHlink="folHlink"/>
  </p:clrMapOvr>
  <p:transition spd="med">
    <p:fade/>
  </p:transition>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2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0" y="2552550"/>
            <a:ext cx="698624" cy="698624"/>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FFFFFF"/>
              </a:solidFill>
              <a:cs typeface="Arial"/>
            </a:endParaRPr>
          </a:p>
        </p:txBody>
      </p:sp>
      <p:sp>
        <p:nvSpPr>
          <p:cNvPr id="15" name="Oval 14"/>
          <p:cNvSpPr/>
          <p:nvPr/>
        </p:nvSpPr>
        <p:spPr>
          <a:xfrm>
            <a:off x="575610" y="1426607"/>
            <a:ext cx="698624" cy="698624"/>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bg1"/>
              </a:solidFill>
              <a:cs typeface="Arial"/>
            </a:endParaRPr>
          </a:p>
        </p:txBody>
      </p:sp>
      <p:sp>
        <p:nvSpPr>
          <p:cNvPr id="22" name="Oval 21"/>
          <p:cNvSpPr/>
          <p:nvPr/>
        </p:nvSpPr>
        <p:spPr>
          <a:xfrm>
            <a:off x="575610" y="3653093"/>
            <a:ext cx="698624" cy="698624"/>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solidFill>
                <a:srgbClr val="049FD9"/>
              </a:solidFill>
              <a:cs typeface="Arial"/>
            </a:endParaRPr>
          </a:p>
        </p:txBody>
      </p:sp>
      <p:sp>
        <p:nvSpPr>
          <p:cNvPr id="24" name="Text Placeholder 17"/>
          <p:cNvSpPr>
            <a:spLocks noGrp="1"/>
          </p:cNvSpPr>
          <p:nvPr>
            <p:ph type="body" sz="quarter" idx="13"/>
          </p:nvPr>
        </p:nvSpPr>
        <p:spPr>
          <a:xfrm>
            <a:off x="1365250" y="1432522"/>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365250" y="25577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365250" y="3653093"/>
            <a:ext cx="5473700" cy="693381"/>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8" name="Text Placeholder 17"/>
          <p:cNvSpPr>
            <a:spLocks noGrp="1"/>
          </p:cNvSpPr>
          <p:nvPr>
            <p:ph type="body" sz="quarter" idx="17" hasCustomPrompt="1"/>
          </p:nvPr>
        </p:nvSpPr>
        <p:spPr>
          <a:xfrm>
            <a:off x="575610" y="2552550"/>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1" y="3651140"/>
            <a:ext cx="698624" cy="693381"/>
          </a:xfrm>
          <a:prstGeom prst="rect">
            <a:avLst/>
          </a:prstGeom>
          <a:ln>
            <a:noFill/>
          </a:ln>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Text Placeholder 17"/>
          <p:cNvSpPr>
            <a:spLocks noGrp="1"/>
          </p:cNvSpPr>
          <p:nvPr>
            <p:ph type="body" sz="quarter" idx="19" hasCustomPrompt="1"/>
          </p:nvPr>
        </p:nvSpPr>
        <p:spPr>
          <a:xfrm>
            <a:off x="575610" y="1427248"/>
            <a:ext cx="698624" cy="693381"/>
          </a:xfrm>
          <a:prstGeom prst="rect">
            <a:avLst/>
          </a:prstGeom>
        </p:spPr>
        <p:txBody>
          <a:bodyPr lIns="91420" tIns="45710" rIns="91420" bIns="45710" anchor="ctr" anchorCtr="0">
            <a:noAutofit/>
          </a:bodyPr>
          <a:lstStyle>
            <a:lvl1pPr marL="0" indent="0" algn="ctr">
              <a:buNone/>
              <a:defRPr sz="4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Tree>
    <p:extLst>
      <p:ext uri="{BB962C8B-B14F-4D97-AF65-F5344CB8AC3E}">
        <p14:creationId xmlns:p14="http://schemas.microsoft.com/office/powerpoint/2010/main" val="3422009281"/>
      </p:ext>
    </p:extLst>
  </p:cSld>
  <p:clrMapOvr>
    <a:masterClrMapping/>
  </p:clrMapOvr>
  <p:transition spd="slow">
    <p:wipe/>
  </p:transition>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5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chemeClr val="accent1"/>
                </a:solidFill>
              </a:defRPr>
            </a:lvl1pPr>
          </a:lstStyle>
          <a:p>
            <a:r>
              <a:rPr lang="en-US"/>
              <a:t>Click to edit Master title style</a:t>
            </a:r>
            <a:endParaRPr lang="en-US" dirty="0"/>
          </a:p>
        </p:txBody>
      </p:sp>
      <p:sp>
        <p:nvSpPr>
          <p:cNvPr id="12" name="Oval 1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5" name="Oval 14"/>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2" name="Oval 21"/>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24" name="Text Placeholder 17"/>
          <p:cNvSpPr>
            <a:spLocks noGrp="1"/>
          </p:cNvSpPr>
          <p:nvPr>
            <p:ph type="body" sz="quarter" idx="13"/>
          </p:nvPr>
        </p:nvSpPr>
        <p:spPr>
          <a:xfrm>
            <a:off x="1172384" y="1334842"/>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5" name="Text Placeholder 17"/>
          <p:cNvSpPr>
            <a:spLocks noGrp="1"/>
          </p:cNvSpPr>
          <p:nvPr>
            <p:ph type="body" sz="quarter" idx="14"/>
          </p:nvPr>
        </p:nvSpPr>
        <p:spPr>
          <a:xfrm>
            <a:off x="1172385" y="198456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6" name="Text Placeholder 17"/>
          <p:cNvSpPr>
            <a:spLocks noGrp="1"/>
          </p:cNvSpPr>
          <p:nvPr>
            <p:ph type="body" sz="quarter" idx="15"/>
          </p:nvPr>
        </p:nvSpPr>
        <p:spPr>
          <a:xfrm>
            <a:off x="1172385" y="262744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27"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28"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29"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13" name="Oval 12"/>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4" name="Text Placeholder 17"/>
          <p:cNvSpPr>
            <a:spLocks noGrp="1"/>
          </p:cNvSpPr>
          <p:nvPr>
            <p:ph type="body" sz="quarter" idx="19"/>
          </p:nvPr>
        </p:nvSpPr>
        <p:spPr>
          <a:xfrm>
            <a:off x="1172386" y="3274581"/>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6"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17" name="Oval 16"/>
          <p:cNvSpPr/>
          <p:nvPr/>
        </p:nvSpPr>
        <p:spPr>
          <a:xfrm>
            <a:off x="575613" y="3921716"/>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4000" dirty="0">
              <a:ln>
                <a:solidFill>
                  <a:schemeClr val="bg2"/>
                </a:solidFill>
              </a:ln>
              <a:solidFill>
                <a:schemeClr val="accent5"/>
              </a:solidFill>
              <a:cs typeface="Arial"/>
            </a:endParaRPr>
          </a:p>
        </p:txBody>
      </p:sp>
      <p:sp>
        <p:nvSpPr>
          <p:cNvPr id="18" name="Text Placeholder 17"/>
          <p:cNvSpPr>
            <a:spLocks noGrp="1"/>
          </p:cNvSpPr>
          <p:nvPr>
            <p:ph type="body" sz="quarter" idx="21"/>
          </p:nvPr>
        </p:nvSpPr>
        <p:spPr>
          <a:xfrm>
            <a:off x="1172387" y="3921716"/>
            <a:ext cx="5678748" cy="461327"/>
          </a:xfrm>
          <a:prstGeom prst="rect">
            <a:avLst/>
          </a:prstGeom>
        </p:spPr>
        <p:txBody>
          <a:bodyPr lIns="91420" tIns="45710" rIns="91420" bIns="45710" anchor="ctr" anchorCtr="0">
            <a:noAutofit/>
          </a:bodyPr>
          <a:lstStyle>
            <a:lvl1pPr marL="0" indent="0" algn="l">
              <a:buNone/>
              <a:defRPr sz="2000" b="0" i="0" baseline="0">
                <a:solidFill>
                  <a:schemeClr val="accent1"/>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19" name="Text Placeholder 17"/>
          <p:cNvSpPr>
            <a:spLocks noGrp="1"/>
          </p:cNvSpPr>
          <p:nvPr>
            <p:ph type="body" sz="quarter" idx="22" hasCustomPrompt="1"/>
          </p:nvPr>
        </p:nvSpPr>
        <p:spPr>
          <a:xfrm>
            <a:off x="575614" y="3919763"/>
            <a:ext cx="464815" cy="461327"/>
          </a:xfrm>
          <a:prstGeom prst="rect">
            <a:avLst/>
          </a:prstGeom>
          <a:ln>
            <a:noFill/>
          </a:ln>
        </p:spPr>
        <p:txBody>
          <a:bodyPr lIns="91420" tIns="45710" rIns="91420" bIns="45710" anchor="ctr" anchorCtr="0">
            <a:noAutofit/>
          </a:bodyPr>
          <a:lstStyle>
            <a:lvl1pPr marL="0" indent="0" algn="ctr">
              <a:buNone/>
              <a:defRPr sz="20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Tree>
    <p:extLst>
      <p:ext uri="{BB962C8B-B14F-4D97-AF65-F5344CB8AC3E}">
        <p14:creationId xmlns:p14="http://schemas.microsoft.com/office/powerpoint/2010/main" val="2399514972"/>
      </p:ext>
    </p:extLst>
  </p:cSld>
  <p:clrMapOvr>
    <a:masterClrMapping/>
  </p:clrMapOvr>
  <p:transition spd="slow">
    <p:wip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6_Circled_Bullet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solidFill>
                  <a:srgbClr val="004C69"/>
                </a:solidFill>
              </a:defRPr>
            </a:lvl1pPr>
          </a:lstStyle>
          <a:p>
            <a:r>
              <a:rPr lang="en-US"/>
              <a:t>Click to edit Master title style</a:t>
            </a:r>
            <a:endParaRPr lang="en-US" dirty="0"/>
          </a:p>
        </p:txBody>
      </p:sp>
      <p:sp>
        <p:nvSpPr>
          <p:cNvPr id="42" name="Oval 41"/>
          <p:cNvSpPr/>
          <p:nvPr/>
        </p:nvSpPr>
        <p:spPr>
          <a:xfrm>
            <a:off x="575611" y="1979318"/>
            <a:ext cx="464815" cy="464815"/>
          </a:xfrm>
          <a:prstGeom prst="ellipse">
            <a:avLst/>
          </a:prstGeom>
          <a:solidFill>
            <a:srgbClr val="38C6F4"/>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3" name="Oval 42"/>
          <p:cNvSpPr/>
          <p:nvPr/>
        </p:nvSpPr>
        <p:spPr>
          <a:xfrm>
            <a:off x="575610" y="1328927"/>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rgbClr val="FFFFFF"/>
              </a:solidFill>
              <a:cs typeface="Arial"/>
            </a:endParaRPr>
          </a:p>
        </p:txBody>
      </p:sp>
      <p:sp>
        <p:nvSpPr>
          <p:cNvPr id="44" name="Oval 43"/>
          <p:cNvSpPr/>
          <p:nvPr/>
        </p:nvSpPr>
        <p:spPr>
          <a:xfrm>
            <a:off x="575611" y="2627446"/>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45" name="Text Placeholder 17"/>
          <p:cNvSpPr>
            <a:spLocks noGrp="1"/>
          </p:cNvSpPr>
          <p:nvPr>
            <p:ph type="body" sz="quarter" idx="13"/>
          </p:nvPr>
        </p:nvSpPr>
        <p:spPr>
          <a:xfrm>
            <a:off x="1172384" y="133484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6" name="Text Placeholder 17"/>
          <p:cNvSpPr>
            <a:spLocks noGrp="1"/>
          </p:cNvSpPr>
          <p:nvPr>
            <p:ph type="body" sz="quarter" idx="14"/>
          </p:nvPr>
        </p:nvSpPr>
        <p:spPr>
          <a:xfrm>
            <a:off x="1172385" y="198456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7" name="Text Placeholder 17"/>
          <p:cNvSpPr>
            <a:spLocks noGrp="1"/>
          </p:cNvSpPr>
          <p:nvPr>
            <p:ph type="body" sz="quarter" idx="15"/>
          </p:nvPr>
        </p:nvSpPr>
        <p:spPr>
          <a:xfrm>
            <a:off x="1172385" y="262744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48" name="Text Placeholder 17"/>
          <p:cNvSpPr>
            <a:spLocks noGrp="1"/>
          </p:cNvSpPr>
          <p:nvPr>
            <p:ph type="body" sz="quarter" idx="16" hasCustomPrompt="1"/>
          </p:nvPr>
        </p:nvSpPr>
        <p:spPr>
          <a:xfrm>
            <a:off x="575611" y="1327521"/>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a:t>
            </a:r>
          </a:p>
        </p:txBody>
      </p:sp>
      <p:sp>
        <p:nvSpPr>
          <p:cNvPr id="49" name="Text Placeholder 17"/>
          <p:cNvSpPr>
            <a:spLocks noGrp="1"/>
          </p:cNvSpPr>
          <p:nvPr>
            <p:ph type="body" sz="quarter" idx="17" hasCustomPrompt="1"/>
          </p:nvPr>
        </p:nvSpPr>
        <p:spPr>
          <a:xfrm>
            <a:off x="575611" y="197931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2</a:t>
            </a:r>
          </a:p>
        </p:txBody>
      </p:sp>
      <p:sp>
        <p:nvSpPr>
          <p:cNvPr id="50" name="Text Placeholder 17"/>
          <p:cNvSpPr>
            <a:spLocks noGrp="1"/>
          </p:cNvSpPr>
          <p:nvPr>
            <p:ph type="body" sz="quarter" idx="18" hasCustomPrompt="1"/>
          </p:nvPr>
        </p:nvSpPr>
        <p:spPr>
          <a:xfrm>
            <a:off x="575612" y="262549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3</a:t>
            </a:r>
          </a:p>
        </p:txBody>
      </p:sp>
      <p:sp>
        <p:nvSpPr>
          <p:cNvPr id="51" name="Oval 50"/>
          <p:cNvSpPr/>
          <p:nvPr/>
        </p:nvSpPr>
        <p:spPr>
          <a:xfrm>
            <a:off x="575612" y="3274581"/>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2" name="Text Placeholder 17"/>
          <p:cNvSpPr>
            <a:spLocks noGrp="1"/>
          </p:cNvSpPr>
          <p:nvPr>
            <p:ph type="body" sz="quarter" idx="19"/>
          </p:nvPr>
        </p:nvSpPr>
        <p:spPr>
          <a:xfrm>
            <a:off x="1172386" y="3274581"/>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3" name="Text Placeholder 17"/>
          <p:cNvSpPr>
            <a:spLocks noGrp="1"/>
          </p:cNvSpPr>
          <p:nvPr>
            <p:ph type="body" sz="quarter" idx="20" hasCustomPrompt="1"/>
          </p:nvPr>
        </p:nvSpPr>
        <p:spPr>
          <a:xfrm>
            <a:off x="575613" y="3272628"/>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4</a:t>
            </a:r>
          </a:p>
        </p:txBody>
      </p:sp>
      <p:sp>
        <p:nvSpPr>
          <p:cNvPr id="54" name="Oval 53"/>
          <p:cNvSpPr/>
          <p:nvPr/>
        </p:nvSpPr>
        <p:spPr>
          <a:xfrm>
            <a:off x="575613" y="3921716"/>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5" name="Text Placeholder 17"/>
          <p:cNvSpPr>
            <a:spLocks noGrp="1"/>
          </p:cNvSpPr>
          <p:nvPr>
            <p:ph type="body" sz="quarter" idx="21"/>
          </p:nvPr>
        </p:nvSpPr>
        <p:spPr>
          <a:xfrm>
            <a:off x="1172387" y="3921716"/>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56" name="Text Placeholder 17"/>
          <p:cNvSpPr>
            <a:spLocks noGrp="1"/>
          </p:cNvSpPr>
          <p:nvPr>
            <p:ph type="body" sz="quarter" idx="22" hasCustomPrompt="1"/>
          </p:nvPr>
        </p:nvSpPr>
        <p:spPr>
          <a:xfrm>
            <a:off x="575614" y="3919763"/>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5</a:t>
            </a:r>
          </a:p>
        </p:txBody>
      </p:sp>
      <p:sp>
        <p:nvSpPr>
          <p:cNvPr id="57" name="Oval 56"/>
          <p:cNvSpPr/>
          <p:nvPr/>
        </p:nvSpPr>
        <p:spPr>
          <a:xfrm>
            <a:off x="4414576" y="1983084"/>
            <a:ext cx="464815" cy="464815"/>
          </a:xfrm>
          <a:prstGeom prst="ellipse">
            <a:avLst/>
          </a:prstGeom>
          <a:solidFill>
            <a:schemeClr val="accent6"/>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8" name="Oval 57"/>
          <p:cNvSpPr/>
          <p:nvPr/>
        </p:nvSpPr>
        <p:spPr>
          <a:xfrm>
            <a:off x="4414575" y="1332693"/>
            <a:ext cx="464815" cy="464815"/>
          </a:xfrm>
          <a:prstGeom prst="ellipse">
            <a:avLst/>
          </a:prstGeom>
          <a:solidFill>
            <a:srgbClr val="00394F"/>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59" name="Oval 58"/>
          <p:cNvSpPr/>
          <p:nvPr/>
        </p:nvSpPr>
        <p:spPr>
          <a:xfrm>
            <a:off x="4414576" y="2631212"/>
            <a:ext cx="464815" cy="464815"/>
          </a:xfrm>
          <a:prstGeom prst="ellipse">
            <a:avLst/>
          </a:prstGeom>
          <a:solidFill>
            <a:schemeClr val="accent5"/>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0" name="Text Placeholder 17"/>
          <p:cNvSpPr>
            <a:spLocks noGrp="1"/>
          </p:cNvSpPr>
          <p:nvPr>
            <p:ph type="body" sz="quarter" idx="23"/>
          </p:nvPr>
        </p:nvSpPr>
        <p:spPr>
          <a:xfrm>
            <a:off x="5011349" y="1338608"/>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1" name="Text Placeholder 17"/>
          <p:cNvSpPr>
            <a:spLocks noGrp="1"/>
          </p:cNvSpPr>
          <p:nvPr>
            <p:ph type="body" sz="quarter" idx="24"/>
          </p:nvPr>
        </p:nvSpPr>
        <p:spPr>
          <a:xfrm>
            <a:off x="5011350" y="198832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2" name="Text Placeholder 17"/>
          <p:cNvSpPr>
            <a:spLocks noGrp="1"/>
          </p:cNvSpPr>
          <p:nvPr>
            <p:ph type="body" sz="quarter" idx="25"/>
          </p:nvPr>
        </p:nvSpPr>
        <p:spPr>
          <a:xfrm>
            <a:off x="5011350" y="263121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3" name="Text Placeholder 17"/>
          <p:cNvSpPr>
            <a:spLocks noGrp="1"/>
          </p:cNvSpPr>
          <p:nvPr>
            <p:ph type="body" sz="quarter" idx="26" hasCustomPrompt="1"/>
          </p:nvPr>
        </p:nvSpPr>
        <p:spPr>
          <a:xfrm>
            <a:off x="4414576" y="1331287"/>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6</a:t>
            </a:r>
          </a:p>
        </p:txBody>
      </p:sp>
      <p:sp>
        <p:nvSpPr>
          <p:cNvPr id="64" name="Text Placeholder 17"/>
          <p:cNvSpPr>
            <a:spLocks noGrp="1"/>
          </p:cNvSpPr>
          <p:nvPr>
            <p:ph type="body" sz="quarter" idx="27" hasCustomPrompt="1"/>
          </p:nvPr>
        </p:nvSpPr>
        <p:spPr>
          <a:xfrm>
            <a:off x="4414576" y="198308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7</a:t>
            </a:r>
          </a:p>
        </p:txBody>
      </p:sp>
      <p:sp>
        <p:nvSpPr>
          <p:cNvPr id="65" name="Text Placeholder 17"/>
          <p:cNvSpPr>
            <a:spLocks noGrp="1"/>
          </p:cNvSpPr>
          <p:nvPr>
            <p:ph type="body" sz="quarter" idx="28" hasCustomPrompt="1"/>
          </p:nvPr>
        </p:nvSpPr>
        <p:spPr>
          <a:xfrm>
            <a:off x="4414577" y="262925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8</a:t>
            </a:r>
          </a:p>
        </p:txBody>
      </p:sp>
      <p:sp>
        <p:nvSpPr>
          <p:cNvPr id="66" name="Oval 65"/>
          <p:cNvSpPr/>
          <p:nvPr/>
        </p:nvSpPr>
        <p:spPr>
          <a:xfrm>
            <a:off x="4414577" y="3278347"/>
            <a:ext cx="464815" cy="464815"/>
          </a:xfrm>
          <a:prstGeom prst="ellipse">
            <a:avLst/>
          </a:prstGeom>
          <a:solidFill>
            <a:schemeClr val="bg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67" name="Text Placeholder 17"/>
          <p:cNvSpPr>
            <a:spLocks noGrp="1"/>
          </p:cNvSpPr>
          <p:nvPr>
            <p:ph type="body" sz="quarter" idx="29"/>
          </p:nvPr>
        </p:nvSpPr>
        <p:spPr>
          <a:xfrm>
            <a:off x="5011351" y="3278347"/>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68" name="Text Placeholder 17"/>
          <p:cNvSpPr>
            <a:spLocks noGrp="1"/>
          </p:cNvSpPr>
          <p:nvPr>
            <p:ph type="body" sz="quarter" idx="30" hasCustomPrompt="1"/>
          </p:nvPr>
        </p:nvSpPr>
        <p:spPr>
          <a:xfrm>
            <a:off x="4414578" y="3276394"/>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9</a:t>
            </a:r>
          </a:p>
        </p:txBody>
      </p:sp>
      <p:sp>
        <p:nvSpPr>
          <p:cNvPr id="69" name="Oval 68"/>
          <p:cNvSpPr/>
          <p:nvPr/>
        </p:nvSpPr>
        <p:spPr>
          <a:xfrm>
            <a:off x="4414578" y="3925482"/>
            <a:ext cx="464815" cy="464815"/>
          </a:xfrm>
          <a:prstGeom prst="ellipse">
            <a:avLst/>
          </a:prstGeom>
          <a:solidFill>
            <a:schemeClr val="accent1">
              <a:lumMod val="7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bIns="91440" rtlCol="0" anchor="ctr" anchorCtr="0"/>
          <a:lstStyle/>
          <a:p>
            <a:pPr algn="ctr"/>
            <a:endParaRPr lang="en-US" sz="1800" dirty="0">
              <a:ln>
                <a:solidFill>
                  <a:schemeClr val="bg2"/>
                </a:solidFill>
              </a:ln>
              <a:solidFill>
                <a:schemeClr val="bg2"/>
              </a:solidFill>
              <a:cs typeface="Arial"/>
            </a:endParaRPr>
          </a:p>
        </p:txBody>
      </p:sp>
      <p:sp>
        <p:nvSpPr>
          <p:cNvPr id="70" name="Text Placeholder 17"/>
          <p:cNvSpPr>
            <a:spLocks noGrp="1"/>
          </p:cNvSpPr>
          <p:nvPr>
            <p:ph type="body" sz="quarter" idx="31"/>
          </p:nvPr>
        </p:nvSpPr>
        <p:spPr>
          <a:xfrm>
            <a:off x="5011352" y="3925482"/>
            <a:ext cx="2175886" cy="461327"/>
          </a:xfrm>
          <a:prstGeom prst="rect">
            <a:avLst/>
          </a:prstGeom>
        </p:spPr>
        <p:txBody>
          <a:bodyPr lIns="91420" tIns="45710" rIns="91420" bIns="45710" anchor="ctr" anchorCtr="0">
            <a:noAutofit/>
          </a:bodyPr>
          <a:lstStyle>
            <a:lvl1pPr marL="0" indent="0" algn="l">
              <a:buNone/>
              <a:defRPr sz="1800" b="0" i="0" baseline="0">
                <a:solidFill>
                  <a:srgbClr val="004C69"/>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a:t>Click to edit Master text styles</a:t>
            </a:r>
          </a:p>
        </p:txBody>
      </p:sp>
      <p:sp>
        <p:nvSpPr>
          <p:cNvPr id="71" name="Text Placeholder 17"/>
          <p:cNvSpPr>
            <a:spLocks noGrp="1"/>
          </p:cNvSpPr>
          <p:nvPr>
            <p:ph type="body" sz="quarter" idx="32" hasCustomPrompt="1"/>
          </p:nvPr>
        </p:nvSpPr>
        <p:spPr>
          <a:xfrm>
            <a:off x="4414579" y="3923529"/>
            <a:ext cx="464815" cy="461327"/>
          </a:xfrm>
          <a:prstGeom prst="rect">
            <a:avLst/>
          </a:prstGeom>
          <a:noFill/>
          <a:ln>
            <a:noFill/>
          </a:ln>
        </p:spPr>
        <p:txBody>
          <a:bodyPr lIns="91420" tIns="45710" rIns="91420" bIns="45710" anchor="ctr" anchorCtr="0">
            <a:noAutofit/>
          </a:bodyPr>
          <a:lstStyle>
            <a:lvl1pPr marL="0" indent="0" algn="ctr">
              <a:buNone/>
              <a:defRPr sz="1800" b="0" i="0" baseline="0">
                <a:ln>
                  <a:solidFill>
                    <a:srgbClr val="FFFFFF"/>
                  </a:solidFill>
                </a:ln>
                <a:solidFill>
                  <a:srgbClr val="FFFFFF"/>
                </a:solidFill>
                <a:latin typeface="+mn-lt"/>
                <a:cs typeface="CiscoSans ExtraLight"/>
              </a:defRPr>
            </a:lvl1pPr>
            <a:lvl2pPr>
              <a:defRPr b="0" i="0">
                <a:solidFill>
                  <a:srgbClr val="FFFFFF"/>
                </a:solidFill>
                <a:latin typeface="CiscoSans ExtraLight"/>
                <a:cs typeface="CiscoSans ExtraLight"/>
              </a:defRPr>
            </a:lvl2pPr>
            <a:lvl3pPr>
              <a:defRPr b="0" i="0">
                <a:solidFill>
                  <a:srgbClr val="FFFFFF"/>
                </a:solidFill>
                <a:latin typeface="CiscoSans ExtraLight"/>
                <a:cs typeface="CiscoSans ExtraLight"/>
              </a:defRPr>
            </a:lvl3pPr>
            <a:lvl4pPr>
              <a:defRPr b="0" i="0">
                <a:solidFill>
                  <a:srgbClr val="FFFFFF"/>
                </a:solidFill>
                <a:latin typeface="CiscoSans ExtraLight"/>
                <a:cs typeface="CiscoSans ExtraLight"/>
              </a:defRPr>
            </a:lvl4pPr>
            <a:lvl5pPr>
              <a:defRPr b="0" i="0">
                <a:solidFill>
                  <a:srgbClr val="FFFFFF"/>
                </a:solidFill>
                <a:latin typeface="CiscoSans ExtraLight"/>
                <a:cs typeface="CiscoSans ExtraLight"/>
              </a:defRPr>
            </a:lvl5pPr>
          </a:lstStyle>
          <a:p>
            <a:pPr lvl="0"/>
            <a:r>
              <a:rPr lang="en-US" dirty="0"/>
              <a:t>10</a:t>
            </a:r>
          </a:p>
        </p:txBody>
      </p:sp>
    </p:spTree>
    <p:extLst>
      <p:ext uri="{BB962C8B-B14F-4D97-AF65-F5344CB8AC3E}">
        <p14:creationId xmlns:p14="http://schemas.microsoft.com/office/powerpoint/2010/main" val="3989382752"/>
      </p:ext>
    </p:extLst>
  </p:cSld>
  <p:clrMapOvr>
    <a:masterClrMapping/>
  </p:clrMapOvr>
  <p:transition spd="slow">
    <p:wipe/>
  </p:transition>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p:cSld name="1_Closing Slide">
    <p:bg>
      <p:bgPr>
        <a:solidFill>
          <a:schemeClr val="accent5"/>
        </a:solidFill>
        <a:effectLst/>
      </p:bgPr>
    </p:bg>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0" y="1"/>
            <a:ext cx="9143999" cy="5165874"/>
          </a:xfrm>
          <a:prstGeom prst="rect">
            <a:avLst/>
          </a:prstGeom>
        </p:spPr>
      </p:pic>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180046674"/>
      </p:ext>
    </p:extLst>
  </p:cSld>
  <p:clrMapOvr>
    <a:masterClrMapping/>
  </p:clrMapOvr>
  <p:transition spd="slow">
    <p:wipe/>
  </p:transition>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chemeClr val="accent5"/>
        </a:solidFill>
        <a:effectLst/>
      </p:bgPr>
    </p:bg>
    <p:spTree>
      <p:nvGrpSpPr>
        <p:cNvPr id="1" name=""/>
        <p:cNvGrpSpPr/>
        <p:nvPr/>
      </p:nvGrpSpPr>
      <p:grpSpPr>
        <a:xfrm>
          <a:off x="0" y="0"/>
          <a:ext cx="0" cy="0"/>
          <a:chOff x="0" y="0"/>
          <a:chExt cx="0" cy="0"/>
        </a:xfrm>
      </p:grpSpPr>
      <p:sp>
        <p:nvSpPr>
          <p:cNvPr id="3" name="Rectangle 2"/>
          <p:cNvSpPr/>
          <p:nvPr userDrawn="1"/>
        </p:nvSpPr>
        <p:spPr>
          <a:xfrm>
            <a:off x="0" y="0"/>
            <a:ext cx="9144000" cy="5143500"/>
          </a:xfrm>
          <a:prstGeom prst="rect">
            <a:avLst/>
          </a:prstGeom>
          <a:solidFill>
            <a:srgbClr val="00394F"/>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 name="Group 4"/>
          <p:cNvGrpSpPr>
            <a:grpSpLocks noChangeAspect="1"/>
          </p:cNvGrpSpPr>
          <p:nvPr userDrawn="1"/>
        </p:nvGrpSpPr>
        <p:grpSpPr bwMode="auto">
          <a:xfrm>
            <a:off x="3746294" y="2129856"/>
            <a:ext cx="1617944" cy="860542"/>
            <a:chOff x="310" y="249"/>
            <a:chExt cx="502" cy="267"/>
          </a:xfrm>
          <a:solidFill>
            <a:schemeClr val="accent5"/>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33682448"/>
      </p:ext>
    </p:extLst>
  </p:cSld>
  <p:clrMapOvr>
    <a:masterClrMapping/>
  </p:clrMapOvr>
  <p:transition spd="slow">
    <p:wip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p:cSld name="3_Closing Slide">
    <p:bg>
      <p:bgPr>
        <a:solidFill>
          <a:schemeClr val="accent5"/>
        </a:solidFill>
        <a:effectLst/>
      </p:bgPr>
    </p:bg>
    <p:spTree>
      <p:nvGrpSpPr>
        <p:cNvPr id="1" name=""/>
        <p:cNvGrpSpPr/>
        <p:nvPr/>
      </p:nvGrpSpPr>
      <p:grpSpPr>
        <a:xfrm>
          <a:off x="0" y="0"/>
          <a:ext cx="0" cy="0"/>
          <a:chOff x="0" y="0"/>
          <a:chExt cx="0" cy="0"/>
        </a:xfrm>
      </p:grpSpPr>
      <p:grpSp>
        <p:nvGrpSpPr>
          <p:cNvPr id="4" name="Group 4"/>
          <p:cNvGrpSpPr>
            <a:grpSpLocks noChangeAspect="1"/>
          </p:cNvGrpSpPr>
          <p:nvPr userDrawn="1"/>
        </p:nvGrpSpPr>
        <p:grpSpPr bwMode="auto">
          <a:xfrm>
            <a:off x="3746294" y="2129856"/>
            <a:ext cx="1617944" cy="860542"/>
            <a:chOff x="310" y="249"/>
            <a:chExt cx="502" cy="267"/>
          </a:xfrm>
          <a:solidFill>
            <a:schemeClr val="accent1">
              <a:lumMod val="75000"/>
            </a:schemeClr>
          </a:solidFill>
        </p:grpSpPr>
        <p:sp>
          <p:nvSpPr>
            <p:cNvPr id="5"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6"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7"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3"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535656682"/>
      </p:ext>
    </p:extLst>
  </p:cSld>
  <p:clrMapOvr>
    <a:masterClrMapping/>
  </p:clrMapOvr>
  <p:transition spd="slow">
    <p:wipe/>
  </p:transition>
</p:sldLayout>
</file>

<file path=ppt/slideLayouts/slideLayout33.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77128072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4.xml"/><Relationship Id="rId13" Type="http://schemas.openxmlformats.org/officeDocument/2006/relationships/slideLayout" Target="../slideLayouts/slideLayout19.xml"/><Relationship Id="rId3" Type="http://schemas.openxmlformats.org/officeDocument/2006/relationships/slideLayout" Target="../slideLayouts/slideLayout9.xml"/><Relationship Id="rId7" Type="http://schemas.openxmlformats.org/officeDocument/2006/relationships/slideLayout" Target="../slideLayouts/slideLayout13.xml"/><Relationship Id="rId12" Type="http://schemas.openxmlformats.org/officeDocument/2006/relationships/slideLayout" Target="../slideLayouts/slideLayout18.xml"/><Relationship Id="rId2" Type="http://schemas.openxmlformats.org/officeDocument/2006/relationships/slideLayout" Target="../slideLayouts/slideLayout8.xml"/><Relationship Id="rId1" Type="http://schemas.openxmlformats.org/officeDocument/2006/relationships/slideLayout" Target="../slideLayouts/slideLayout7.xml"/><Relationship Id="rId6" Type="http://schemas.openxmlformats.org/officeDocument/2006/relationships/slideLayout" Target="../slideLayouts/slideLayout12.xml"/><Relationship Id="rId11" Type="http://schemas.openxmlformats.org/officeDocument/2006/relationships/slideLayout" Target="../slideLayouts/slideLayout17.xml"/><Relationship Id="rId5" Type="http://schemas.openxmlformats.org/officeDocument/2006/relationships/slideLayout" Target="../slideLayouts/slideLayout11.xml"/><Relationship Id="rId15" Type="http://schemas.openxmlformats.org/officeDocument/2006/relationships/theme" Target="../theme/theme2.xml"/><Relationship Id="rId10" Type="http://schemas.openxmlformats.org/officeDocument/2006/relationships/slideLayout" Target="../slideLayouts/slideLayout16.xml"/><Relationship Id="rId4" Type="http://schemas.openxmlformats.org/officeDocument/2006/relationships/slideLayout" Target="../slideLayouts/slideLayout10.xml"/><Relationship Id="rId9" Type="http://schemas.openxmlformats.org/officeDocument/2006/relationships/slideLayout" Target="../slideLayouts/slideLayout15.xml"/><Relationship Id="rId14"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8.xml"/><Relationship Id="rId13" Type="http://schemas.openxmlformats.org/officeDocument/2006/relationships/slideLayout" Target="../slideLayouts/slideLayout33.xml"/><Relationship Id="rId3" Type="http://schemas.openxmlformats.org/officeDocument/2006/relationships/slideLayout" Target="../slideLayouts/slideLayout23.xml"/><Relationship Id="rId7" Type="http://schemas.openxmlformats.org/officeDocument/2006/relationships/slideLayout" Target="../slideLayouts/slideLayout27.xml"/><Relationship Id="rId12" Type="http://schemas.openxmlformats.org/officeDocument/2006/relationships/slideLayout" Target="../slideLayouts/slideLayout32.xml"/><Relationship Id="rId2" Type="http://schemas.openxmlformats.org/officeDocument/2006/relationships/slideLayout" Target="../slideLayouts/slideLayout22.xml"/><Relationship Id="rId1" Type="http://schemas.openxmlformats.org/officeDocument/2006/relationships/slideLayout" Target="../slideLayouts/slideLayout21.xml"/><Relationship Id="rId6" Type="http://schemas.openxmlformats.org/officeDocument/2006/relationships/slideLayout" Target="../slideLayouts/slideLayout26.xml"/><Relationship Id="rId11" Type="http://schemas.openxmlformats.org/officeDocument/2006/relationships/slideLayout" Target="../slideLayouts/slideLayout31.xml"/><Relationship Id="rId5" Type="http://schemas.openxmlformats.org/officeDocument/2006/relationships/slideLayout" Target="../slideLayouts/slideLayout25.xml"/><Relationship Id="rId10" Type="http://schemas.openxmlformats.org/officeDocument/2006/relationships/slideLayout" Target="../slideLayouts/slideLayout30.xml"/><Relationship Id="rId4" Type="http://schemas.openxmlformats.org/officeDocument/2006/relationships/slideLayout" Target="../slideLayouts/slideLayout24.xml"/><Relationship Id="rId9" Type="http://schemas.openxmlformats.org/officeDocument/2006/relationships/slideLayout" Target="../slideLayouts/slideLayout29.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2021  Cisco and/or its affiliates. All rights reserved.   Cisco Confidential</a:t>
            </a:r>
          </a:p>
        </p:txBody>
      </p:sp>
      <p:grpSp>
        <p:nvGrpSpPr>
          <p:cNvPr id="6" name="Group 4"/>
          <p:cNvGrpSpPr>
            <a:grpSpLocks noChangeAspect="1"/>
          </p:cNvGrpSpPr>
          <p:nvPr/>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518822088"/>
      </p:ext>
    </p:extLst>
  </p:cSld>
  <p:clrMap bg1="lt1" tx1="dk1" bg2="lt2" tx2="dk2" accent1="accent1" accent2="accent2" accent3="accent3" accent4="accent4" accent5="accent5" accent6="accent6" hlink="hlink" folHlink="folHlink"/>
  <p:sldLayoutIdLst>
    <p:sldLayoutId id="2147483656" r:id="rId1"/>
    <p:sldLayoutId id="2147483657" r:id="rId2"/>
    <p:sldLayoutId id="2147483658" r:id="rId3"/>
    <p:sldLayoutId id="2147483659" r:id="rId4"/>
    <p:sldLayoutId id="2147483660" r:id="rId5"/>
    <p:sldLayoutId id="2147483661" r:id="rId6"/>
    <p:sldLayoutId id="2147483662" r:id="rId7"/>
    <p:sldLayoutId id="2147483663" r:id="rId8"/>
    <p:sldLayoutId id="2147483664" r:id="rId9"/>
    <p:sldLayoutId id="2147483665" r:id="rId10"/>
    <p:sldLayoutId id="2147483666" r:id="rId11"/>
    <p:sldLayoutId id="2147483667" r:id="rId12"/>
    <p:sldLayoutId id="2147483668" r:id="rId13"/>
    <p:sldLayoutId id="2147483669" r:id="rId14"/>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Title Placeholder 5"/>
          <p:cNvSpPr>
            <a:spLocks noGrp="1"/>
          </p:cNvSpPr>
          <p:nvPr>
            <p:ph type="title"/>
          </p:nvPr>
        </p:nvSpPr>
        <p:spPr bwMode="auto">
          <a:xfrm>
            <a:off x="438150" y="341313"/>
            <a:ext cx="8345488" cy="731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4" tIns="45712" rIns="91424" bIns="45712" numCol="1" anchor="ctr" anchorCtr="0" compatLnSpc="1">
            <a:prstTxWarp prst="textNoShape">
              <a:avLst/>
            </a:prstTxWarp>
          </a:bodyPr>
          <a:lstStyle/>
          <a:p>
            <a:pPr lvl="0"/>
            <a:r>
              <a:rPr lang="en-GB" altLang="en-US" dirty="0"/>
              <a:t>Title Goes Here</a:t>
            </a:r>
          </a:p>
        </p:txBody>
      </p:sp>
      <p:sp>
        <p:nvSpPr>
          <p:cNvPr id="12" name="Rectangle 7"/>
          <p:cNvSpPr>
            <a:spLocks noChangeArrowheads="1"/>
          </p:cNvSpPr>
          <p:nvPr/>
        </p:nvSpPr>
        <p:spPr bwMode="ltGray">
          <a:xfrm>
            <a:off x="8515707" y="4742907"/>
            <a:ext cx="218414" cy="154518"/>
          </a:xfrm>
          <a:prstGeom prst="rect">
            <a:avLst/>
          </a:prstGeom>
          <a:noFill/>
          <a:ln w="9525" algn="ctr">
            <a:noFill/>
            <a:miter lim="800000"/>
            <a:headEnd/>
            <a:tailEnd/>
          </a:ln>
          <a:effectLst/>
        </p:spPr>
        <p:txBody>
          <a:bodyPr wrap="none" lIns="61586" tIns="30792" rIns="61586" bIns="30792" anchor="b">
            <a:spAutoFit/>
          </a:bodyPr>
          <a:lstStyle/>
          <a:p>
            <a:pPr algn="r" defTabSz="610744" fontAlgn="auto">
              <a:spcBef>
                <a:spcPts val="0"/>
              </a:spcBef>
              <a:spcAft>
                <a:spcPts val="0"/>
              </a:spcAft>
              <a:defRPr/>
            </a:pPr>
            <a:fld id="{6A1E46DC-7EF6-4EA2-B285-14272867D133}" type="slidenum">
              <a:rPr lang="en-US" sz="600">
                <a:solidFill>
                  <a:schemeClr val="accent3">
                    <a:lumMod val="85000"/>
                  </a:schemeClr>
                </a:solidFill>
                <a:latin typeface="+mn-lt"/>
                <a:ea typeface="+mn-ea"/>
                <a:cs typeface="CiscoSans Thin"/>
              </a:rPr>
              <a:pPr algn="r" defTabSz="610744" fontAlgn="auto">
                <a:spcBef>
                  <a:spcPts val="0"/>
                </a:spcBef>
                <a:spcAft>
                  <a:spcPts val="0"/>
                </a:spcAft>
                <a:defRPr/>
              </a:pPr>
              <a:t>‹#›</a:t>
            </a:fld>
            <a:endParaRPr lang="en-US" sz="600" dirty="0">
              <a:solidFill>
                <a:schemeClr val="accent3">
                  <a:lumMod val="85000"/>
                </a:schemeClr>
              </a:solidFill>
              <a:latin typeface="+mn-lt"/>
              <a:ea typeface="+mn-ea"/>
              <a:cs typeface="CiscoSans Thin"/>
            </a:endParaRPr>
          </a:p>
        </p:txBody>
      </p:sp>
      <p:sp>
        <p:nvSpPr>
          <p:cNvPr id="13" name="Rectangle 4"/>
          <p:cNvSpPr>
            <a:spLocks noChangeArrowheads="1"/>
          </p:cNvSpPr>
          <p:nvPr/>
        </p:nvSpPr>
        <p:spPr bwMode="ltGray">
          <a:xfrm>
            <a:off x="5867508" y="4741653"/>
            <a:ext cx="2658018" cy="154518"/>
          </a:xfrm>
          <a:prstGeom prst="rect">
            <a:avLst/>
          </a:prstGeom>
          <a:noFill/>
          <a:ln w="9525">
            <a:noFill/>
            <a:miter lim="800000"/>
            <a:headEnd/>
            <a:tailEnd/>
          </a:ln>
          <a:effectLst/>
        </p:spPr>
        <p:txBody>
          <a:bodyPr lIns="61586" tIns="30792" rIns="61586" bIns="30792" anchor="b">
            <a:spAutoFit/>
          </a:bodyPr>
          <a:lstStyle/>
          <a:p>
            <a:pPr defTabSz="610744" fontAlgn="auto">
              <a:spcBef>
                <a:spcPts val="0"/>
              </a:spcBef>
              <a:spcAft>
                <a:spcPts val="0"/>
              </a:spcAft>
              <a:defRPr/>
            </a:pPr>
            <a:r>
              <a:rPr lang="en-US" sz="600" dirty="0">
                <a:solidFill>
                  <a:schemeClr val="accent3">
                    <a:lumMod val="85000"/>
                  </a:schemeClr>
                </a:solidFill>
                <a:latin typeface="+mn-lt"/>
                <a:ea typeface="+mn-ea"/>
                <a:cs typeface="CiscoSans Thin"/>
              </a:rPr>
              <a:t>© 2016  Cisco and/or its affiliates. All rights reserved.   Cisco Confidential</a:t>
            </a:r>
          </a:p>
        </p:txBody>
      </p:sp>
      <p:grpSp>
        <p:nvGrpSpPr>
          <p:cNvPr id="6" name="Group 4"/>
          <p:cNvGrpSpPr>
            <a:grpSpLocks noChangeAspect="1"/>
          </p:cNvGrpSpPr>
          <p:nvPr userDrawn="1"/>
        </p:nvGrpSpPr>
        <p:grpSpPr bwMode="auto">
          <a:xfrm>
            <a:off x="508039" y="4715197"/>
            <a:ext cx="340257" cy="180974"/>
            <a:chOff x="310" y="249"/>
            <a:chExt cx="502" cy="267"/>
          </a:xfrm>
          <a:solidFill>
            <a:schemeClr val="accent5"/>
          </a:solidFill>
        </p:grpSpPr>
        <p:sp>
          <p:nvSpPr>
            <p:cNvPr id="7" name="Rectangle 5"/>
            <p:cNvSpPr>
              <a:spLocks noChangeArrowheads="1"/>
            </p:cNvSpPr>
            <p:nvPr userDrawn="1"/>
          </p:nvSpPr>
          <p:spPr bwMode="auto">
            <a:xfrm>
              <a:off x="452" y="426"/>
              <a:ext cx="22" cy="8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8" name="Freeform 6"/>
            <p:cNvSpPr>
              <a:spLocks/>
            </p:cNvSpPr>
            <p:nvPr userDrawn="1"/>
          </p:nvSpPr>
          <p:spPr bwMode="auto">
            <a:xfrm>
              <a:off x="585" y="425"/>
              <a:ext cx="66" cy="91"/>
            </a:xfrm>
            <a:custGeom>
              <a:avLst/>
              <a:gdLst>
                <a:gd name="T0" fmla="*/ 51 w 51"/>
                <a:gd name="T1" fmla="*/ 20 h 69"/>
                <a:gd name="T2" fmla="*/ 37 w 51"/>
                <a:gd name="T3" fmla="*/ 16 h 69"/>
                <a:gd name="T4" fmla="*/ 18 w 51"/>
                <a:gd name="T5" fmla="*/ 34 h 69"/>
                <a:gd name="T6" fmla="*/ 37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7" y="16"/>
                  </a:cubicBezTo>
                  <a:cubicBezTo>
                    <a:pt x="26" y="16"/>
                    <a:pt x="18" y="24"/>
                    <a:pt x="18" y="34"/>
                  </a:cubicBezTo>
                  <a:cubicBezTo>
                    <a:pt x="18" y="44"/>
                    <a:pt x="25" y="52"/>
                    <a:pt x="37" y="52"/>
                  </a:cubicBezTo>
                  <a:cubicBezTo>
                    <a:pt x="45"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9" name="Freeform 7"/>
            <p:cNvSpPr>
              <a:spLocks/>
            </p:cNvSpPr>
            <p:nvPr userDrawn="1"/>
          </p:nvSpPr>
          <p:spPr bwMode="auto">
            <a:xfrm>
              <a:off x="355" y="425"/>
              <a:ext cx="67" cy="91"/>
            </a:xfrm>
            <a:custGeom>
              <a:avLst/>
              <a:gdLst>
                <a:gd name="T0" fmla="*/ 51 w 51"/>
                <a:gd name="T1" fmla="*/ 20 h 69"/>
                <a:gd name="T2" fmla="*/ 36 w 51"/>
                <a:gd name="T3" fmla="*/ 16 h 69"/>
                <a:gd name="T4" fmla="*/ 18 w 51"/>
                <a:gd name="T5" fmla="*/ 34 h 69"/>
                <a:gd name="T6" fmla="*/ 36 w 51"/>
                <a:gd name="T7" fmla="*/ 52 h 69"/>
                <a:gd name="T8" fmla="*/ 51 w 51"/>
                <a:gd name="T9" fmla="*/ 49 h 69"/>
                <a:gd name="T10" fmla="*/ 51 w 51"/>
                <a:gd name="T11" fmla="*/ 67 h 69"/>
                <a:gd name="T12" fmla="*/ 35 w 51"/>
                <a:gd name="T13" fmla="*/ 69 h 69"/>
                <a:gd name="T14" fmla="*/ 0 w 51"/>
                <a:gd name="T15" fmla="*/ 34 h 69"/>
                <a:gd name="T16" fmla="*/ 35 w 51"/>
                <a:gd name="T17" fmla="*/ 0 h 69"/>
                <a:gd name="T18" fmla="*/ 51 w 51"/>
                <a:gd name="T19" fmla="*/ 2 h 69"/>
                <a:gd name="T20" fmla="*/ 51 w 51"/>
                <a:gd name="T21" fmla="*/ 20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51" h="69">
                  <a:moveTo>
                    <a:pt x="51" y="20"/>
                  </a:moveTo>
                  <a:cubicBezTo>
                    <a:pt x="50" y="20"/>
                    <a:pt x="45" y="16"/>
                    <a:pt x="36" y="16"/>
                  </a:cubicBezTo>
                  <a:cubicBezTo>
                    <a:pt x="25" y="16"/>
                    <a:pt x="18" y="24"/>
                    <a:pt x="18" y="34"/>
                  </a:cubicBezTo>
                  <a:cubicBezTo>
                    <a:pt x="18" y="44"/>
                    <a:pt x="25" y="52"/>
                    <a:pt x="36" y="52"/>
                  </a:cubicBezTo>
                  <a:cubicBezTo>
                    <a:pt x="44" y="52"/>
                    <a:pt x="50" y="49"/>
                    <a:pt x="51" y="49"/>
                  </a:cubicBezTo>
                  <a:cubicBezTo>
                    <a:pt x="51" y="67"/>
                    <a:pt x="51" y="67"/>
                    <a:pt x="51" y="67"/>
                  </a:cubicBezTo>
                  <a:cubicBezTo>
                    <a:pt x="49" y="67"/>
                    <a:pt x="43" y="69"/>
                    <a:pt x="35" y="69"/>
                  </a:cubicBezTo>
                  <a:cubicBezTo>
                    <a:pt x="16" y="69"/>
                    <a:pt x="0" y="56"/>
                    <a:pt x="0" y="34"/>
                  </a:cubicBezTo>
                  <a:cubicBezTo>
                    <a:pt x="0" y="14"/>
                    <a:pt x="15" y="0"/>
                    <a:pt x="35" y="0"/>
                  </a:cubicBezTo>
                  <a:cubicBezTo>
                    <a:pt x="43" y="0"/>
                    <a:pt x="49" y="2"/>
                    <a:pt x="51" y="2"/>
                  </a:cubicBezTo>
                  <a:lnTo>
                    <a:pt x="51" y="2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0" name="Freeform 8"/>
            <p:cNvSpPr>
              <a:spLocks noEditPoints="1"/>
            </p:cNvSpPr>
            <p:nvPr userDrawn="1"/>
          </p:nvSpPr>
          <p:spPr bwMode="auto">
            <a:xfrm>
              <a:off x="675" y="425"/>
              <a:ext cx="91" cy="91"/>
            </a:xfrm>
            <a:custGeom>
              <a:avLst/>
              <a:gdLst>
                <a:gd name="T0" fmla="*/ 70 w 70"/>
                <a:gd name="T1" fmla="*/ 34 h 69"/>
                <a:gd name="T2" fmla="*/ 35 w 70"/>
                <a:gd name="T3" fmla="*/ 69 h 69"/>
                <a:gd name="T4" fmla="*/ 0 w 70"/>
                <a:gd name="T5" fmla="*/ 34 h 69"/>
                <a:gd name="T6" fmla="*/ 35 w 70"/>
                <a:gd name="T7" fmla="*/ 0 h 69"/>
                <a:gd name="T8" fmla="*/ 70 w 70"/>
                <a:gd name="T9" fmla="*/ 34 h 69"/>
                <a:gd name="T10" fmla="*/ 35 w 70"/>
                <a:gd name="T11" fmla="*/ 17 h 69"/>
                <a:gd name="T12" fmla="*/ 18 w 70"/>
                <a:gd name="T13" fmla="*/ 34 h 69"/>
                <a:gd name="T14" fmla="*/ 35 w 70"/>
                <a:gd name="T15" fmla="*/ 52 h 69"/>
                <a:gd name="T16" fmla="*/ 52 w 70"/>
                <a:gd name="T17" fmla="*/ 34 h 69"/>
                <a:gd name="T18" fmla="*/ 35 w 70"/>
                <a:gd name="T19" fmla="*/ 1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 h="69">
                  <a:moveTo>
                    <a:pt x="70" y="34"/>
                  </a:moveTo>
                  <a:cubicBezTo>
                    <a:pt x="70" y="53"/>
                    <a:pt x="56" y="69"/>
                    <a:pt x="35" y="69"/>
                  </a:cubicBezTo>
                  <a:cubicBezTo>
                    <a:pt x="14" y="69"/>
                    <a:pt x="0" y="53"/>
                    <a:pt x="0" y="34"/>
                  </a:cubicBezTo>
                  <a:cubicBezTo>
                    <a:pt x="0" y="15"/>
                    <a:pt x="14" y="0"/>
                    <a:pt x="35" y="0"/>
                  </a:cubicBezTo>
                  <a:cubicBezTo>
                    <a:pt x="56" y="0"/>
                    <a:pt x="70" y="15"/>
                    <a:pt x="70" y="34"/>
                  </a:cubicBezTo>
                  <a:close/>
                  <a:moveTo>
                    <a:pt x="35" y="17"/>
                  </a:moveTo>
                  <a:cubicBezTo>
                    <a:pt x="25" y="17"/>
                    <a:pt x="18" y="25"/>
                    <a:pt x="18" y="34"/>
                  </a:cubicBezTo>
                  <a:cubicBezTo>
                    <a:pt x="18" y="44"/>
                    <a:pt x="25" y="52"/>
                    <a:pt x="35" y="52"/>
                  </a:cubicBezTo>
                  <a:cubicBezTo>
                    <a:pt x="45" y="52"/>
                    <a:pt x="52" y="44"/>
                    <a:pt x="52" y="34"/>
                  </a:cubicBezTo>
                  <a:cubicBezTo>
                    <a:pt x="52" y="25"/>
                    <a:pt x="45" y="17"/>
                    <a:pt x="35"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1" name="Freeform 9"/>
            <p:cNvSpPr>
              <a:spLocks/>
            </p:cNvSpPr>
            <p:nvPr userDrawn="1"/>
          </p:nvSpPr>
          <p:spPr bwMode="auto">
            <a:xfrm>
              <a:off x="503" y="425"/>
              <a:ext cx="60" cy="91"/>
            </a:xfrm>
            <a:custGeom>
              <a:avLst/>
              <a:gdLst>
                <a:gd name="T0" fmla="*/ 42 w 46"/>
                <a:gd name="T1" fmla="*/ 16 h 69"/>
                <a:gd name="T2" fmla="*/ 29 w 46"/>
                <a:gd name="T3" fmla="*/ 14 h 69"/>
                <a:gd name="T4" fmla="*/ 18 w 46"/>
                <a:gd name="T5" fmla="*/ 20 h 69"/>
                <a:gd name="T6" fmla="*/ 26 w 46"/>
                <a:gd name="T7" fmla="*/ 26 h 69"/>
                <a:gd name="T8" fmla="*/ 30 w 46"/>
                <a:gd name="T9" fmla="*/ 27 h 69"/>
                <a:gd name="T10" fmla="*/ 46 w 46"/>
                <a:gd name="T11" fmla="*/ 47 h 69"/>
                <a:gd name="T12" fmla="*/ 19 w 46"/>
                <a:gd name="T13" fmla="*/ 69 h 69"/>
                <a:gd name="T14" fmla="*/ 1 w 46"/>
                <a:gd name="T15" fmla="*/ 67 h 69"/>
                <a:gd name="T16" fmla="*/ 1 w 46"/>
                <a:gd name="T17" fmla="*/ 52 h 69"/>
                <a:gd name="T18" fmla="*/ 16 w 46"/>
                <a:gd name="T19" fmla="*/ 54 h 69"/>
                <a:gd name="T20" fmla="*/ 29 w 46"/>
                <a:gd name="T21" fmla="*/ 48 h 69"/>
                <a:gd name="T22" fmla="*/ 21 w 46"/>
                <a:gd name="T23" fmla="*/ 41 h 69"/>
                <a:gd name="T24" fmla="*/ 18 w 46"/>
                <a:gd name="T25" fmla="*/ 40 h 69"/>
                <a:gd name="T26" fmla="*/ 0 w 46"/>
                <a:gd name="T27" fmla="*/ 21 h 69"/>
                <a:gd name="T28" fmla="*/ 25 w 46"/>
                <a:gd name="T29" fmla="*/ 0 h 69"/>
                <a:gd name="T30" fmla="*/ 42 w 46"/>
                <a:gd name="T31" fmla="*/ 2 h 69"/>
                <a:gd name="T32" fmla="*/ 42 w 46"/>
                <a:gd name="T33" fmla="*/ 1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6" h="69">
                  <a:moveTo>
                    <a:pt x="42" y="16"/>
                  </a:moveTo>
                  <a:cubicBezTo>
                    <a:pt x="41" y="16"/>
                    <a:pt x="34" y="14"/>
                    <a:pt x="29" y="14"/>
                  </a:cubicBezTo>
                  <a:cubicBezTo>
                    <a:pt x="22" y="14"/>
                    <a:pt x="18" y="16"/>
                    <a:pt x="18" y="20"/>
                  </a:cubicBezTo>
                  <a:cubicBezTo>
                    <a:pt x="18" y="24"/>
                    <a:pt x="23" y="25"/>
                    <a:pt x="26" y="26"/>
                  </a:cubicBezTo>
                  <a:cubicBezTo>
                    <a:pt x="30" y="27"/>
                    <a:pt x="30" y="27"/>
                    <a:pt x="30" y="27"/>
                  </a:cubicBezTo>
                  <a:cubicBezTo>
                    <a:pt x="41" y="31"/>
                    <a:pt x="46" y="38"/>
                    <a:pt x="46" y="47"/>
                  </a:cubicBezTo>
                  <a:cubicBezTo>
                    <a:pt x="46" y="63"/>
                    <a:pt x="32" y="69"/>
                    <a:pt x="19" y="69"/>
                  </a:cubicBezTo>
                  <a:cubicBezTo>
                    <a:pt x="10" y="69"/>
                    <a:pt x="1" y="67"/>
                    <a:pt x="1" y="67"/>
                  </a:cubicBezTo>
                  <a:cubicBezTo>
                    <a:pt x="1" y="52"/>
                    <a:pt x="1" y="52"/>
                    <a:pt x="1" y="52"/>
                  </a:cubicBezTo>
                  <a:cubicBezTo>
                    <a:pt x="2" y="52"/>
                    <a:pt x="9" y="54"/>
                    <a:pt x="16" y="54"/>
                  </a:cubicBezTo>
                  <a:cubicBezTo>
                    <a:pt x="25" y="54"/>
                    <a:pt x="29" y="52"/>
                    <a:pt x="29" y="48"/>
                  </a:cubicBezTo>
                  <a:cubicBezTo>
                    <a:pt x="29" y="45"/>
                    <a:pt x="25" y="43"/>
                    <a:pt x="21" y="41"/>
                  </a:cubicBezTo>
                  <a:cubicBezTo>
                    <a:pt x="20" y="41"/>
                    <a:pt x="19" y="41"/>
                    <a:pt x="18" y="40"/>
                  </a:cubicBezTo>
                  <a:cubicBezTo>
                    <a:pt x="8" y="37"/>
                    <a:pt x="0" y="32"/>
                    <a:pt x="0" y="21"/>
                  </a:cubicBezTo>
                  <a:cubicBezTo>
                    <a:pt x="0" y="8"/>
                    <a:pt x="10" y="0"/>
                    <a:pt x="25" y="0"/>
                  </a:cubicBezTo>
                  <a:cubicBezTo>
                    <a:pt x="34" y="0"/>
                    <a:pt x="41" y="2"/>
                    <a:pt x="42" y="2"/>
                  </a:cubicBezTo>
                  <a:lnTo>
                    <a:pt x="42" y="16"/>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4" name="Freeform 10"/>
            <p:cNvSpPr>
              <a:spLocks/>
            </p:cNvSpPr>
            <p:nvPr userDrawn="1"/>
          </p:nvSpPr>
          <p:spPr bwMode="auto">
            <a:xfrm>
              <a:off x="31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5" name="Freeform 11"/>
            <p:cNvSpPr>
              <a:spLocks/>
            </p:cNvSpPr>
            <p:nvPr userDrawn="1"/>
          </p:nvSpPr>
          <p:spPr bwMode="auto">
            <a:xfrm>
              <a:off x="37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6" name="Freeform 12"/>
            <p:cNvSpPr>
              <a:spLocks/>
            </p:cNvSpPr>
            <p:nvPr userDrawn="1"/>
          </p:nvSpPr>
          <p:spPr bwMode="auto">
            <a:xfrm>
              <a:off x="430" y="249"/>
              <a:ext cx="22" cy="139"/>
            </a:xfrm>
            <a:custGeom>
              <a:avLst/>
              <a:gdLst>
                <a:gd name="T0" fmla="*/ 17 w 17"/>
                <a:gd name="T1" fmla="*/ 8 h 106"/>
                <a:gd name="T2" fmla="*/ 8 w 17"/>
                <a:gd name="T3" fmla="*/ 0 h 106"/>
                <a:gd name="T4" fmla="*/ 0 w 17"/>
                <a:gd name="T5" fmla="*/ 8 h 106"/>
                <a:gd name="T6" fmla="*/ 0 w 17"/>
                <a:gd name="T7" fmla="*/ 97 h 106"/>
                <a:gd name="T8" fmla="*/ 8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8" y="0"/>
                  </a:cubicBezTo>
                  <a:cubicBezTo>
                    <a:pt x="4" y="0"/>
                    <a:pt x="0" y="4"/>
                    <a:pt x="0" y="8"/>
                  </a:cubicBezTo>
                  <a:cubicBezTo>
                    <a:pt x="0" y="97"/>
                    <a:pt x="0" y="97"/>
                    <a:pt x="0" y="97"/>
                  </a:cubicBezTo>
                  <a:cubicBezTo>
                    <a:pt x="0" y="102"/>
                    <a:pt x="4" y="106"/>
                    <a:pt x="8"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7" name="Freeform 13"/>
            <p:cNvSpPr>
              <a:spLocks/>
            </p:cNvSpPr>
            <p:nvPr userDrawn="1"/>
          </p:nvSpPr>
          <p:spPr bwMode="auto">
            <a:xfrm>
              <a:off x="490" y="291"/>
              <a:ext cx="22" cy="75"/>
            </a:xfrm>
            <a:custGeom>
              <a:avLst/>
              <a:gdLst>
                <a:gd name="T0" fmla="*/ 17 w 17"/>
                <a:gd name="T1" fmla="*/ 8 h 57"/>
                <a:gd name="T2" fmla="*/ 8 w 17"/>
                <a:gd name="T3" fmla="*/ 0 h 57"/>
                <a:gd name="T4" fmla="*/ 0 w 17"/>
                <a:gd name="T5" fmla="*/ 8 h 57"/>
                <a:gd name="T6" fmla="*/ 0 w 17"/>
                <a:gd name="T7" fmla="*/ 49 h 57"/>
                <a:gd name="T8" fmla="*/ 8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8" y="0"/>
                  </a:cubicBezTo>
                  <a:cubicBezTo>
                    <a:pt x="4" y="0"/>
                    <a:pt x="0" y="3"/>
                    <a:pt x="0" y="8"/>
                  </a:cubicBezTo>
                  <a:cubicBezTo>
                    <a:pt x="0" y="49"/>
                    <a:pt x="0" y="49"/>
                    <a:pt x="0" y="49"/>
                  </a:cubicBezTo>
                  <a:cubicBezTo>
                    <a:pt x="0" y="53"/>
                    <a:pt x="4" y="57"/>
                    <a:pt x="8"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8" name="Freeform 14"/>
            <p:cNvSpPr>
              <a:spLocks/>
            </p:cNvSpPr>
            <p:nvPr userDrawn="1"/>
          </p:nvSpPr>
          <p:spPr bwMode="auto">
            <a:xfrm>
              <a:off x="550" y="321"/>
              <a:ext cx="22" cy="45"/>
            </a:xfrm>
            <a:custGeom>
              <a:avLst/>
              <a:gdLst>
                <a:gd name="T0" fmla="*/ 17 w 17"/>
                <a:gd name="T1" fmla="*/ 8 h 34"/>
                <a:gd name="T2" fmla="*/ 8 w 17"/>
                <a:gd name="T3" fmla="*/ 0 h 34"/>
                <a:gd name="T4" fmla="*/ 0 w 17"/>
                <a:gd name="T5" fmla="*/ 8 h 34"/>
                <a:gd name="T6" fmla="*/ 0 w 17"/>
                <a:gd name="T7" fmla="*/ 26 h 34"/>
                <a:gd name="T8" fmla="*/ 8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8" y="0"/>
                  </a:cubicBezTo>
                  <a:cubicBezTo>
                    <a:pt x="4" y="0"/>
                    <a:pt x="0" y="3"/>
                    <a:pt x="0" y="8"/>
                  </a:cubicBezTo>
                  <a:cubicBezTo>
                    <a:pt x="0" y="26"/>
                    <a:pt x="0" y="26"/>
                    <a:pt x="0" y="26"/>
                  </a:cubicBezTo>
                  <a:cubicBezTo>
                    <a:pt x="0" y="30"/>
                    <a:pt x="4" y="34"/>
                    <a:pt x="8"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9" name="Freeform 15"/>
            <p:cNvSpPr>
              <a:spLocks/>
            </p:cNvSpPr>
            <p:nvPr userDrawn="1"/>
          </p:nvSpPr>
          <p:spPr bwMode="auto">
            <a:xfrm>
              <a:off x="61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0" name="Freeform 16"/>
            <p:cNvSpPr>
              <a:spLocks/>
            </p:cNvSpPr>
            <p:nvPr userDrawn="1"/>
          </p:nvSpPr>
          <p:spPr bwMode="auto">
            <a:xfrm>
              <a:off x="670" y="249"/>
              <a:ext cx="22" cy="139"/>
            </a:xfrm>
            <a:custGeom>
              <a:avLst/>
              <a:gdLst>
                <a:gd name="T0" fmla="*/ 17 w 17"/>
                <a:gd name="T1" fmla="*/ 8 h 106"/>
                <a:gd name="T2" fmla="*/ 9 w 17"/>
                <a:gd name="T3" fmla="*/ 0 h 106"/>
                <a:gd name="T4" fmla="*/ 0 w 17"/>
                <a:gd name="T5" fmla="*/ 8 h 106"/>
                <a:gd name="T6" fmla="*/ 0 w 17"/>
                <a:gd name="T7" fmla="*/ 97 h 106"/>
                <a:gd name="T8" fmla="*/ 9 w 17"/>
                <a:gd name="T9" fmla="*/ 106 h 106"/>
                <a:gd name="T10" fmla="*/ 17 w 17"/>
                <a:gd name="T11" fmla="*/ 97 h 106"/>
                <a:gd name="T12" fmla="*/ 17 w 17"/>
                <a:gd name="T13" fmla="*/ 8 h 106"/>
              </a:gdLst>
              <a:ahLst/>
              <a:cxnLst>
                <a:cxn ang="0">
                  <a:pos x="T0" y="T1"/>
                </a:cxn>
                <a:cxn ang="0">
                  <a:pos x="T2" y="T3"/>
                </a:cxn>
                <a:cxn ang="0">
                  <a:pos x="T4" y="T5"/>
                </a:cxn>
                <a:cxn ang="0">
                  <a:pos x="T6" y="T7"/>
                </a:cxn>
                <a:cxn ang="0">
                  <a:pos x="T8" y="T9"/>
                </a:cxn>
                <a:cxn ang="0">
                  <a:pos x="T10" y="T11"/>
                </a:cxn>
                <a:cxn ang="0">
                  <a:pos x="T12" y="T13"/>
                </a:cxn>
              </a:cxnLst>
              <a:rect l="0" t="0" r="r" b="b"/>
              <a:pathLst>
                <a:path w="17" h="106">
                  <a:moveTo>
                    <a:pt x="17" y="8"/>
                  </a:moveTo>
                  <a:cubicBezTo>
                    <a:pt x="17" y="4"/>
                    <a:pt x="13" y="0"/>
                    <a:pt x="9" y="0"/>
                  </a:cubicBezTo>
                  <a:cubicBezTo>
                    <a:pt x="4" y="0"/>
                    <a:pt x="0" y="4"/>
                    <a:pt x="0" y="8"/>
                  </a:cubicBezTo>
                  <a:cubicBezTo>
                    <a:pt x="0" y="97"/>
                    <a:pt x="0" y="97"/>
                    <a:pt x="0" y="97"/>
                  </a:cubicBezTo>
                  <a:cubicBezTo>
                    <a:pt x="0" y="102"/>
                    <a:pt x="4" y="106"/>
                    <a:pt x="9" y="106"/>
                  </a:cubicBezTo>
                  <a:cubicBezTo>
                    <a:pt x="13" y="106"/>
                    <a:pt x="17" y="102"/>
                    <a:pt x="17" y="97"/>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1" name="Freeform 17"/>
            <p:cNvSpPr>
              <a:spLocks/>
            </p:cNvSpPr>
            <p:nvPr userDrawn="1"/>
          </p:nvSpPr>
          <p:spPr bwMode="auto">
            <a:xfrm>
              <a:off x="730" y="291"/>
              <a:ext cx="22" cy="75"/>
            </a:xfrm>
            <a:custGeom>
              <a:avLst/>
              <a:gdLst>
                <a:gd name="T0" fmla="*/ 17 w 17"/>
                <a:gd name="T1" fmla="*/ 8 h 57"/>
                <a:gd name="T2" fmla="*/ 9 w 17"/>
                <a:gd name="T3" fmla="*/ 0 h 57"/>
                <a:gd name="T4" fmla="*/ 0 w 17"/>
                <a:gd name="T5" fmla="*/ 8 h 57"/>
                <a:gd name="T6" fmla="*/ 0 w 17"/>
                <a:gd name="T7" fmla="*/ 49 h 57"/>
                <a:gd name="T8" fmla="*/ 9 w 17"/>
                <a:gd name="T9" fmla="*/ 57 h 57"/>
                <a:gd name="T10" fmla="*/ 17 w 17"/>
                <a:gd name="T11" fmla="*/ 49 h 57"/>
                <a:gd name="T12" fmla="*/ 17 w 17"/>
                <a:gd name="T13" fmla="*/ 8 h 57"/>
              </a:gdLst>
              <a:ahLst/>
              <a:cxnLst>
                <a:cxn ang="0">
                  <a:pos x="T0" y="T1"/>
                </a:cxn>
                <a:cxn ang="0">
                  <a:pos x="T2" y="T3"/>
                </a:cxn>
                <a:cxn ang="0">
                  <a:pos x="T4" y="T5"/>
                </a:cxn>
                <a:cxn ang="0">
                  <a:pos x="T6" y="T7"/>
                </a:cxn>
                <a:cxn ang="0">
                  <a:pos x="T8" y="T9"/>
                </a:cxn>
                <a:cxn ang="0">
                  <a:pos x="T10" y="T11"/>
                </a:cxn>
                <a:cxn ang="0">
                  <a:pos x="T12" y="T13"/>
                </a:cxn>
              </a:cxnLst>
              <a:rect l="0" t="0" r="r" b="b"/>
              <a:pathLst>
                <a:path w="17" h="57">
                  <a:moveTo>
                    <a:pt x="17" y="8"/>
                  </a:moveTo>
                  <a:cubicBezTo>
                    <a:pt x="17" y="3"/>
                    <a:pt x="13" y="0"/>
                    <a:pt x="9" y="0"/>
                  </a:cubicBezTo>
                  <a:cubicBezTo>
                    <a:pt x="4" y="0"/>
                    <a:pt x="0" y="3"/>
                    <a:pt x="0" y="8"/>
                  </a:cubicBezTo>
                  <a:cubicBezTo>
                    <a:pt x="0" y="49"/>
                    <a:pt x="0" y="49"/>
                    <a:pt x="0" y="49"/>
                  </a:cubicBezTo>
                  <a:cubicBezTo>
                    <a:pt x="0" y="53"/>
                    <a:pt x="4" y="57"/>
                    <a:pt x="9" y="57"/>
                  </a:cubicBezTo>
                  <a:cubicBezTo>
                    <a:pt x="13" y="57"/>
                    <a:pt x="17" y="53"/>
                    <a:pt x="17" y="49"/>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22" name="Freeform 18"/>
            <p:cNvSpPr>
              <a:spLocks/>
            </p:cNvSpPr>
            <p:nvPr userDrawn="1"/>
          </p:nvSpPr>
          <p:spPr bwMode="auto">
            <a:xfrm>
              <a:off x="790" y="321"/>
              <a:ext cx="22" cy="45"/>
            </a:xfrm>
            <a:custGeom>
              <a:avLst/>
              <a:gdLst>
                <a:gd name="T0" fmla="*/ 17 w 17"/>
                <a:gd name="T1" fmla="*/ 8 h 34"/>
                <a:gd name="T2" fmla="*/ 9 w 17"/>
                <a:gd name="T3" fmla="*/ 0 h 34"/>
                <a:gd name="T4" fmla="*/ 0 w 17"/>
                <a:gd name="T5" fmla="*/ 8 h 34"/>
                <a:gd name="T6" fmla="*/ 0 w 17"/>
                <a:gd name="T7" fmla="*/ 26 h 34"/>
                <a:gd name="T8" fmla="*/ 9 w 17"/>
                <a:gd name="T9" fmla="*/ 34 h 34"/>
                <a:gd name="T10" fmla="*/ 17 w 17"/>
                <a:gd name="T11" fmla="*/ 26 h 34"/>
                <a:gd name="T12" fmla="*/ 17 w 17"/>
                <a:gd name="T13" fmla="*/ 8 h 34"/>
              </a:gdLst>
              <a:ahLst/>
              <a:cxnLst>
                <a:cxn ang="0">
                  <a:pos x="T0" y="T1"/>
                </a:cxn>
                <a:cxn ang="0">
                  <a:pos x="T2" y="T3"/>
                </a:cxn>
                <a:cxn ang="0">
                  <a:pos x="T4" y="T5"/>
                </a:cxn>
                <a:cxn ang="0">
                  <a:pos x="T6" y="T7"/>
                </a:cxn>
                <a:cxn ang="0">
                  <a:pos x="T8" y="T9"/>
                </a:cxn>
                <a:cxn ang="0">
                  <a:pos x="T10" y="T11"/>
                </a:cxn>
                <a:cxn ang="0">
                  <a:pos x="T12" y="T13"/>
                </a:cxn>
              </a:cxnLst>
              <a:rect l="0" t="0" r="r" b="b"/>
              <a:pathLst>
                <a:path w="17" h="34">
                  <a:moveTo>
                    <a:pt x="17" y="8"/>
                  </a:moveTo>
                  <a:cubicBezTo>
                    <a:pt x="17" y="3"/>
                    <a:pt x="13" y="0"/>
                    <a:pt x="9" y="0"/>
                  </a:cubicBezTo>
                  <a:cubicBezTo>
                    <a:pt x="4" y="0"/>
                    <a:pt x="0" y="3"/>
                    <a:pt x="0" y="8"/>
                  </a:cubicBezTo>
                  <a:cubicBezTo>
                    <a:pt x="0" y="26"/>
                    <a:pt x="0" y="26"/>
                    <a:pt x="0" y="26"/>
                  </a:cubicBezTo>
                  <a:cubicBezTo>
                    <a:pt x="0" y="30"/>
                    <a:pt x="4" y="34"/>
                    <a:pt x="9" y="34"/>
                  </a:cubicBezTo>
                  <a:cubicBezTo>
                    <a:pt x="13" y="34"/>
                    <a:pt x="17" y="30"/>
                    <a:pt x="17" y="26"/>
                  </a:cubicBezTo>
                  <a:lnTo>
                    <a:pt x="17" y="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693846081"/>
      </p:ext>
    </p:extLst>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 id="2147483684" r:id="rId13"/>
  </p:sldLayoutIdLst>
  <p:transition spd="slow">
    <p:wipe/>
  </p:transition>
  <p:txStyles>
    <p:titleStyle>
      <a:lvl1pPr algn="l" defTabSz="684213" rtl="0" eaLnBrk="1" fontAlgn="base" hangingPunct="1">
        <a:lnSpc>
          <a:spcPct val="80000"/>
        </a:lnSpc>
        <a:spcBef>
          <a:spcPct val="0"/>
        </a:spcBef>
        <a:spcAft>
          <a:spcPct val="0"/>
        </a:spcAft>
        <a:defRPr lang="en-US" sz="3200" kern="1200" dirty="0">
          <a:solidFill>
            <a:schemeClr val="accent4"/>
          </a:solidFill>
          <a:latin typeface="+mj-lt"/>
          <a:ea typeface="ＭＳ Ｐゴシック" charset="0"/>
          <a:cs typeface="CiscoSans"/>
        </a:defRPr>
      </a:lvl1pPr>
      <a:lvl2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2pPr>
      <a:lvl3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3pPr>
      <a:lvl4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4pPr>
      <a:lvl5pPr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cs typeface="CiscoSans" pitchFamily="34" charset="0"/>
        </a:defRPr>
      </a:lvl5pPr>
      <a:lvl6pPr marL="4572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6pPr>
      <a:lvl7pPr marL="9144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7pPr>
      <a:lvl8pPr marL="13716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8pPr>
      <a:lvl9pPr marL="1828800" algn="l" defTabSz="684213" rtl="0" eaLnBrk="1" fontAlgn="base" hangingPunct="1">
        <a:lnSpc>
          <a:spcPct val="80000"/>
        </a:lnSpc>
        <a:spcBef>
          <a:spcPct val="0"/>
        </a:spcBef>
        <a:spcAft>
          <a:spcPct val="0"/>
        </a:spcAft>
        <a:defRPr sz="3200">
          <a:solidFill>
            <a:srgbClr val="676767"/>
          </a:solidFill>
          <a:latin typeface="Arial" charset="0"/>
          <a:ea typeface="ＭＳ Ｐゴシック" charset="0"/>
        </a:defRPr>
      </a:lvl9pPr>
    </p:titleStyle>
    <p:bodyStyle>
      <a:lvl1pPr marL="169863" indent="-169863" algn="l" defTabSz="684213" rtl="0" eaLnBrk="1" fontAlgn="base" hangingPunct="1">
        <a:lnSpc>
          <a:spcPct val="95000"/>
        </a:lnSpc>
        <a:spcBef>
          <a:spcPts val="1075"/>
        </a:spcBef>
        <a:spcAft>
          <a:spcPct val="0"/>
        </a:spcAft>
        <a:buClr>
          <a:schemeClr val="tx2"/>
        </a:buClr>
        <a:buSzPct val="90000"/>
        <a:buFont typeface="Arial" charset="0"/>
        <a:buChar char="•"/>
        <a:defRPr lang="en-US" sz="1500" kern="1200" dirty="0">
          <a:solidFill>
            <a:schemeClr val="tx1"/>
          </a:solidFill>
          <a:latin typeface="+mn-lt"/>
          <a:ea typeface="ＭＳ Ｐゴシック" charset="0"/>
          <a:cs typeface="CiscoSans"/>
        </a:defRPr>
      </a:lvl1pPr>
      <a:lvl2pPr marL="358775" indent="-215900" algn="l" defTabSz="684213" rtl="0" eaLnBrk="1" fontAlgn="base" hangingPunct="1">
        <a:lnSpc>
          <a:spcPct val="95000"/>
        </a:lnSpc>
        <a:spcBef>
          <a:spcPts val="600"/>
        </a:spcBef>
        <a:spcAft>
          <a:spcPct val="0"/>
        </a:spcAft>
        <a:buClr>
          <a:schemeClr val="tx2"/>
        </a:buClr>
        <a:buFont typeface="Arial" charset="0"/>
        <a:buChar char="•"/>
        <a:defRPr lang="en-US" sz="1400" kern="1200" dirty="0">
          <a:solidFill>
            <a:schemeClr val="tx1"/>
          </a:solidFill>
          <a:latin typeface="+mn-lt"/>
          <a:ea typeface="ＭＳ Ｐゴシック" charset="0"/>
          <a:cs typeface="CiscoSans"/>
        </a:defRPr>
      </a:lvl2pPr>
      <a:lvl3pPr marL="431800" indent="-169863" algn="l" defTabSz="684213" rtl="0" eaLnBrk="1" fontAlgn="base" hangingPunct="1">
        <a:lnSpc>
          <a:spcPct val="95000"/>
        </a:lnSpc>
        <a:spcBef>
          <a:spcPts val="625"/>
        </a:spcBef>
        <a:spcAft>
          <a:spcPct val="0"/>
        </a:spcAft>
        <a:buFont typeface="Arial" charset="0"/>
        <a:buChar char="•"/>
        <a:defRPr lang="en-US" sz="1200" kern="1200" dirty="0">
          <a:solidFill>
            <a:schemeClr val="tx1"/>
          </a:solidFill>
          <a:latin typeface="+mn-lt"/>
          <a:ea typeface="ＭＳ Ｐゴシック" charset="0"/>
          <a:cs typeface="CiscoSans"/>
        </a:defRPr>
      </a:lvl3pPr>
      <a:lvl4pPr marL="503238"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p:bodyStyle>
    <p:otherStyle>
      <a:defPPr>
        <a:defRPr lang="en-US"/>
      </a:defPPr>
      <a:lvl1pPr marL="0" algn="l" defTabSz="685777" rtl="0" eaLnBrk="1" latinLnBrk="0" hangingPunct="1">
        <a:defRPr sz="1400" kern="1200">
          <a:solidFill>
            <a:schemeClr val="tx1"/>
          </a:solidFill>
          <a:latin typeface="+mn-lt"/>
          <a:ea typeface="+mn-ea"/>
          <a:cs typeface="+mn-cs"/>
        </a:defRPr>
      </a:lvl1pPr>
      <a:lvl2pPr marL="342886" algn="l" defTabSz="685777" rtl="0" eaLnBrk="1" latinLnBrk="0" hangingPunct="1">
        <a:defRPr sz="1400" kern="1200">
          <a:solidFill>
            <a:schemeClr val="tx1"/>
          </a:solidFill>
          <a:latin typeface="+mn-lt"/>
          <a:ea typeface="+mn-ea"/>
          <a:cs typeface="+mn-cs"/>
        </a:defRPr>
      </a:lvl2pPr>
      <a:lvl3pPr marL="685777" algn="l" defTabSz="685777" rtl="0" eaLnBrk="1" latinLnBrk="0" hangingPunct="1">
        <a:defRPr sz="1400" kern="1200">
          <a:solidFill>
            <a:schemeClr val="tx1"/>
          </a:solidFill>
          <a:latin typeface="+mn-lt"/>
          <a:ea typeface="+mn-ea"/>
          <a:cs typeface="+mn-cs"/>
        </a:defRPr>
      </a:lvl3pPr>
      <a:lvl4pPr marL="1028665" algn="l" defTabSz="685777" rtl="0" eaLnBrk="1" latinLnBrk="0" hangingPunct="1">
        <a:defRPr sz="1400" kern="1200">
          <a:solidFill>
            <a:schemeClr val="tx1"/>
          </a:solidFill>
          <a:latin typeface="+mn-lt"/>
          <a:ea typeface="+mn-ea"/>
          <a:cs typeface="+mn-cs"/>
        </a:defRPr>
      </a:lvl4pPr>
      <a:lvl5pPr marL="1371555" algn="l" defTabSz="685777" rtl="0" eaLnBrk="1" latinLnBrk="0" hangingPunct="1">
        <a:defRPr sz="1400" kern="1200">
          <a:solidFill>
            <a:schemeClr val="tx1"/>
          </a:solidFill>
          <a:latin typeface="+mn-lt"/>
          <a:ea typeface="+mn-ea"/>
          <a:cs typeface="+mn-cs"/>
        </a:defRPr>
      </a:lvl5pPr>
      <a:lvl6pPr marL="1714441" algn="l" defTabSz="685777" rtl="0" eaLnBrk="1" latinLnBrk="0" hangingPunct="1">
        <a:defRPr sz="1400" kern="1200">
          <a:solidFill>
            <a:schemeClr val="tx1"/>
          </a:solidFill>
          <a:latin typeface="+mn-lt"/>
          <a:ea typeface="+mn-ea"/>
          <a:cs typeface="+mn-cs"/>
        </a:defRPr>
      </a:lvl6pPr>
      <a:lvl7pPr marL="2057332" algn="l" defTabSz="685777" rtl="0" eaLnBrk="1" latinLnBrk="0" hangingPunct="1">
        <a:defRPr sz="1400" kern="1200">
          <a:solidFill>
            <a:schemeClr val="tx1"/>
          </a:solidFill>
          <a:latin typeface="+mn-lt"/>
          <a:ea typeface="+mn-ea"/>
          <a:cs typeface="+mn-cs"/>
        </a:defRPr>
      </a:lvl7pPr>
      <a:lvl8pPr marL="2400220" algn="l" defTabSz="685777" rtl="0" eaLnBrk="1" latinLnBrk="0" hangingPunct="1">
        <a:defRPr sz="1400" kern="1200">
          <a:solidFill>
            <a:schemeClr val="tx1"/>
          </a:solidFill>
          <a:latin typeface="+mn-lt"/>
          <a:ea typeface="+mn-ea"/>
          <a:cs typeface="+mn-cs"/>
        </a:defRPr>
      </a:lvl8pPr>
      <a:lvl9pPr marL="2743110" algn="l" defTabSz="685777" rtl="0" eaLnBrk="1" latinLnBrk="0" hangingPunct="1">
        <a:defRPr sz="14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p15:clr>
            <a:srgbClr val="F26B43"/>
          </p15:clr>
        </p15:guide>
        <p15:guide id="2" pos="336">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1.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19.xml"/><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9.xml"/><Relationship Id="rId1" Type="http://schemas.openxmlformats.org/officeDocument/2006/relationships/tags" Target="../tags/tag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19.xml"/><Relationship Id="rId1" Type="http://schemas.openxmlformats.org/officeDocument/2006/relationships/tags" Target="../tags/tag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19.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19.xml"/><Relationship Id="rId1" Type="http://schemas.openxmlformats.org/officeDocument/2006/relationships/tags" Target="../tags/tag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2.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8.xml"/><Relationship Id="rId1" Type="http://schemas.openxmlformats.org/officeDocument/2006/relationships/slideLayout" Target="../slideLayouts/slideLayout6.xml"/><Relationship Id="rId5" Type="http://schemas.openxmlformats.org/officeDocument/2006/relationships/image" Target="../media/image14.png"/><Relationship Id="rId4" Type="http://schemas.openxmlformats.org/officeDocument/2006/relationships/image" Target="../media/image13.png"/></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3" Type="http://schemas.openxmlformats.org/officeDocument/2006/relationships/notesSlide" Target="../notesSlides/notesSlide44.xml"/><Relationship Id="rId2" Type="http://schemas.openxmlformats.org/officeDocument/2006/relationships/slideLayout" Target="../slideLayouts/slideLayout30.xml"/><Relationship Id="rId1" Type="http://schemas.openxmlformats.org/officeDocument/2006/relationships/tags" Target="../tags/tag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1828800"/>
          </a:xfrm>
          <a:prstGeom prst="rect">
            <a:avLst/>
          </a:prstGeom>
          <a:noFill/>
          <a:ln/>
        </p:spPr>
        <p:txBody>
          <a:bodyPr wrap="square" rtlCol="0"/>
          <a:lstStyle/>
          <a:p>
            <a:pPr marL="0" indent="0">
              <a:buNone/>
            </a:pPr>
            <a:r>
              <a:rPr lang="en-US" dirty="0"/>
              <a:t>Module 12: IPS Operation and Implementation</a:t>
            </a:r>
          </a:p>
        </p:txBody>
      </p:sp>
      <p:sp>
        <p:nvSpPr>
          <p:cNvPr id="3" name="Object2"/>
          <p:cNvSpPr/>
          <p:nvPr/>
        </p:nvSpPr>
        <p:spPr>
          <a:xfrm>
            <a:off x="457200" y="3343275"/>
            <a:ext cx="3657600" cy="914400"/>
          </a:xfrm>
          <a:prstGeom prst="rect">
            <a:avLst/>
          </a:prstGeom>
          <a:noFill/>
          <a:ln/>
        </p:spPr>
        <p:txBody>
          <a:bodyPr wrap="square" rtlCol="0" anchor="t"/>
          <a:lstStyle/>
          <a:p>
            <a:r>
              <a:rPr lang="en-US" sz="2000" dirty="0">
                <a:solidFill>
                  <a:srgbClr val="CEE8C3"/>
                </a:solidFill>
                <a:latin typeface="Arial" pitchFamily="34" charset="0"/>
                <a:ea typeface="Arial" pitchFamily="34" charset="-122"/>
                <a:cs typeface="Arial" pitchFamily="34" charset="-120"/>
              </a:rPr>
              <a:t>Instructor Materials</a:t>
            </a:r>
            <a:endParaRPr lang="en-US" sz="2000" dirty="0"/>
          </a:p>
        </p:txBody>
      </p:sp>
      <p:sp>
        <p:nvSpPr>
          <p:cNvPr id="4" name="Object3"/>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 </a:t>
            </a:r>
          </a:p>
          <a:p>
            <a:pPr marL="0" indent="0">
              <a:buNone/>
            </a:pPr>
            <a:r>
              <a:rPr lang="en-US" dirty="0"/>
              <a:t>(NETSEC)</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Instructor Materials – Module 12 Planning Guide</a:t>
            </a:r>
          </a:p>
        </p:txBody>
      </p:sp>
      <p:sp>
        <p:nvSpPr>
          <p:cNvPr id="3" name="Object2"/>
          <p:cNvSpPr/>
          <p:nvPr/>
        </p:nvSpPr>
        <p:spPr>
          <a:xfrm>
            <a:off x="457200" y="514350"/>
            <a:ext cx="8229600" cy="46291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This PowerPoint deck is divided in two parts:</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342900" marR="0" lvl="0"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Instructor Planning Guide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Information to help you become familiar with the module</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Teaching aids</a:t>
            </a:r>
          </a:p>
          <a:p>
            <a:pPr marL="169863" marR="0" lvl="0" indent="-169863" algn="l" defTabSz="684213" rtl="0" eaLnBrk="1" fontAlgn="base" latinLnBrk="0" hangingPunct="1">
              <a:lnSpc>
                <a:spcPct val="100000"/>
              </a:lnSpc>
              <a:spcBef>
                <a:spcPts val="600"/>
              </a:spcBef>
              <a:spcAft>
                <a:spcPts val="600"/>
              </a:spcAft>
              <a:buClr>
                <a:srgbClr val="58585B"/>
              </a:buClr>
              <a:buSzPct val="90000"/>
              <a:buFont typeface="Arial" panose="020B0604020202020204" pitchFamily="34" charset="0"/>
              <a:buChar char="•"/>
              <a:tabLst/>
              <a:defRPr/>
            </a:pPr>
            <a:r>
              <a:rPr kumimoji="0" lang="en-CA" sz="1500" b="0" i="0" u="none" strike="noStrike" kern="1200" cap="none" spc="0" normalizeH="0" baseline="0" noProof="0" dirty="0">
                <a:ln>
                  <a:noFill/>
                </a:ln>
                <a:solidFill>
                  <a:srgbClr val="000000"/>
                </a:solidFill>
                <a:effectLst/>
                <a:uLnTx/>
                <a:uFillTx/>
                <a:latin typeface="Arial"/>
                <a:ea typeface="ＭＳ Ｐゴシック" charset="0"/>
                <a:cs typeface="+mn-cs"/>
              </a:rPr>
              <a:t>Instructor Class Presentation</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Optional slides that you can use in the classroom</a:t>
            </a:r>
          </a:p>
          <a:p>
            <a:pPr marL="358775" marR="0" lvl="1" indent="-215900" algn="l" defTabSz="684213" rtl="0" eaLnBrk="1" fontAlgn="base" latinLnBrk="0" hangingPunct="1">
              <a:lnSpc>
                <a:spcPct val="100000"/>
              </a:lnSpc>
              <a:spcBef>
                <a:spcPts val="300"/>
              </a:spcBef>
              <a:spcAft>
                <a:spcPts val="300"/>
              </a:spcAft>
              <a:buClr>
                <a:srgbClr val="58585B"/>
              </a:buClr>
              <a:buSzTx/>
              <a:buFont typeface="Arial" charset="0"/>
              <a:buChar char="•"/>
              <a:tabLst/>
              <a:defRPr/>
            </a:pPr>
            <a:r>
              <a:rPr kumimoji="0" lang="en-CA" sz="1400" b="0" i="0" u="none" strike="noStrike" kern="1200" cap="none" spc="0" normalizeH="0" baseline="0" noProof="0" dirty="0">
                <a:ln>
                  <a:noFill/>
                </a:ln>
                <a:solidFill>
                  <a:srgbClr val="000000"/>
                </a:solidFill>
                <a:effectLst/>
                <a:uLnTx/>
                <a:uFillTx/>
                <a:latin typeface="Arial"/>
                <a:ea typeface="ＭＳ Ｐゴシック" charset="0"/>
                <a:cs typeface="+mn-cs"/>
              </a:rPr>
              <a:t>Begins on slide # 9</a:t>
            </a:r>
          </a:p>
          <a:p>
            <a:pPr marL="142875" marR="0" lvl="1" indent="0" algn="ctr" defTabSz="684213" rtl="0" eaLnBrk="1" fontAlgn="base" latinLnBrk="0" hangingPunct="1">
              <a:lnSpc>
                <a:spcPct val="100000"/>
              </a:lnSpc>
              <a:spcBef>
                <a:spcPts val="300"/>
              </a:spcBef>
              <a:spcAft>
                <a:spcPts val="300"/>
              </a:spcAft>
              <a:buClr>
                <a:srgbClr val="58585B"/>
              </a:buClr>
              <a:buSzTx/>
              <a:buFontTx/>
              <a:buNone/>
              <a:tabLst/>
              <a:defRPr/>
            </a:pPr>
            <a:r>
              <a:rPr kumimoji="0" lang="en-CA" sz="1600" b="1" i="0" u="none" strike="noStrike" kern="1200" cap="none" spc="0" normalizeH="0" baseline="0" noProof="0" dirty="0">
                <a:ln>
                  <a:noFill/>
                </a:ln>
                <a:solidFill>
                  <a:srgbClr val="000000"/>
                </a:solidFill>
                <a:effectLst/>
                <a:uLnTx/>
                <a:uFillTx/>
                <a:latin typeface="Arial"/>
                <a:ea typeface="ＭＳ Ｐゴシック" charset="0"/>
                <a:cs typeface="+mn-cs"/>
              </a:rPr>
              <a:t>Note</a:t>
            </a:r>
            <a:r>
              <a:rPr kumimoji="0" lang="en-CA" sz="1600" b="0" i="0" u="none" strike="noStrike" kern="1200" cap="none" spc="0" normalizeH="0" baseline="0" noProof="0" dirty="0">
                <a:ln>
                  <a:noFill/>
                </a:ln>
                <a:solidFill>
                  <a:srgbClr val="000000"/>
                </a:solidFill>
                <a:effectLst/>
                <a:uLnTx/>
                <a:uFillTx/>
                <a:latin typeface="Arial"/>
                <a:ea typeface="ＭＳ Ｐゴシック" charset="0"/>
                <a:cs typeface="+mn-cs"/>
              </a:rPr>
              <a:t>: Remove the Planning Guide from this presentation before sharing with anyone.</a:t>
            </a:r>
          </a:p>
          <a:p>
            <a:pPr marL="0" marR="0" lvl="0" indent="0" algn="l" defTabSz="684213" rtl="0" eaLnBrk="1" fontAlgn="base" latinLnBrk="0" hangingPunct="1">
              <a:lnSpc>
                <a:spcPct val="100000"/>
              </a:lnSpc>
              <a:spcBef>
                <a:spcPts val="600"/>
              </a:spcBef>
              <a:spcAft>
                <a:spcPts val="600"/>
              </a:spcAft>
              <a:buClr>
                <a:srgbClr val="58585B"/>
              </a:buClr>
              <a:buSzPct val="90000"/>
              <a:buFontTx/>
              <a:buNone/>
              <a:tabLst/>
              <a:defRPr/>
            </a:pPr>
            <a:r>
              <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rPr>
              <a:t>For additional help and resources go to the Instructor Home Page and Course Resources for this course. </a:t>
            </a:r>
            <a:r>
              <a:rPr kumimoji="0" lang="en-US" sz="1600" b="1" i="0" u="none" strike="noStrike" kern="1200" cap="none" spc="0" normalizeH="0" baseline="0" noProof="0" dirty="0">
                <a:ln>
                  <a:noFill/>
                </a:ln>
                <a:solidFill>
                  <a:srgbClr val="367187"/>
                </a:solidFill>
                <a:effectLst/>
                <a:uLnTx/>
                <a:uFillTx/>
                <a:latin typeface="Arial"/>
                <a:ea typeface="ＭＳ Ｐゴシック" charset="0"/>
                <a:cs typeface="+mn-cs"/>
              </a:rPr>
              <a:t>You also can visit the professional development site on netacad.com, the official Cisco Networking Academy Facebook page, or Instructor Only FB group.</a:t>
            </a:r>
            <a:endParaRPr kumimoji="0" lang="en-CA" sz="1600" b="1" i="0" u="none" strike="noStrike" kern="1200" cap="none" spc="0" normalizeH="0" baseline="0" noProof="0" dirty="0">
              <a:ln>
                <a:noFill/>
              </a:ln>
              <a:solidFill>
                <a:srgbClr val="367187"/>
              </a:solidFill>
              <a:effectLst/>
              <a:uLnTx/>
              <a:uFillTx/>
              <a:latin typeface="Arial"/>
              <a:ea typeface="ＭＳ Ｐゴシック" charset="0"/>
              <a:cs typeface="+mn-cs"/>
            </a:endParaRPr>
          </a:p>
          <a:p>
            <a:pPr marL="685800" marR="0" lvl="1" indent="-342900" algn="l" defTabSz="914400" rtl="0" eaLnBrk="1" fontAlgn="auto" latinLnBrk="0" hangingPunct="1">
              <a:lnSpc>
                <a:spcPts val="2000"/>
              </a:lnSpc>
              <a:spcBef>
                <a:spcPts val="0"/>
              </a:spcBef>
              <a:spcAft>
                <a:spcPts val="0"/>
              </a:spcAft>
              <a:buClrTx/>
              <a:buSzPct val="100000"/>
              <a:buFontTx/>
              <a:buChar char="•"/>
              <a:tabLst/>
              <a:defRPr/>
            </a:pP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D0DBD329-AB20-664C-9697-486FE5CED9B9}"/>
              </a:ext>
            </a:extLst>
          </p:cNvPr>
          <p:cNvSpPr>
            <a:spLocks noGrp="1"/>
          </p:cNvSpPr>
          <p:nvPr>
            <p:ph type="title"/>
          </p:nvPr>
        </p:nvSpPr>
        <p:spPr>
          <a:xfrm>
            <a:off x="0" y="189238"/>
            <a:ext cx="9144000" cy="609708"/>
          </a:xfrm>
        </p:spPr>
        <p:txBody>
          <a:bodyPr/>
          <a:lstStyle/>
          <a:p>
            <a:r>
              <a:rPr lang="en-US" dirty="0"/>
              <a:t>What to Expect in this Module</a:t>
            </a:r>
          </a:p>
        </p:txBody>
      </p:sp>
      <p:sp>
        <p:nvSpPr>
          <p:cNvPr id="2" name="Content Placeholder 1">
            <a:extLst>
              <a:ext uri="{FF2B5EF4-FFF2-40B4-BE49-F238E27FC236}">
                <a16:creationId xmlns:a16="http://schemas.microsoft.com/office/drawing/2014/main" id="{C2EDE137-350D-6D47-BD51-750CD198389A}"/>
              </a:ext>
            </a:extLst>
          </p:cNvPr>
          <p:cNvSpPr>
            <a:spLocks noGrp="1"/>
          </p:cNvSpPr>
          <p:nvPr>
            <p:ph idx="1"/>
          </p:nvPr>
        </p:nvSpPr>
        <p:spPr>
          <a:xfrm>
            <a:off x="144065" y="798945"/>
            <a:ext cx="8853286" cy="346366"/>
          </a:xfrm>
        </p:spPr>
        <p:txBody>
          <a:bodyPr/>
          <a:lstStyle/>
          <a:p>
            <a:pPr marL="0" indent="0">
              <a:buNone/>
            </a:pPr>
            <a:r>
              <a:rPr lang="en-US" dirty="0"/>
              <a:t>To facilitate learning, the following features within the GUI may be included in this module:</a:t>
            </a:r>
          </a:p>
          <a:p>
            <a:endParaRPr lang="en-US" dirty="0"/>
          </a:p>
          <a:p>
            <a:endParaRPr lang="en-US" dirty="0"/>
          </a:p>
          <a:p>
            <a:pPr marL="0" indent="0">
              <a:buNone/>
            </a:pPr>
            <a:endParaRPr lang="en-US" dirty="0"/>
          </a:p>
        </p:txBody>
      </p:sp>
      <p:graphicFrame>
        <p:nvGraphicFramePr>
          <p:cNvPr id="4" name="Table 3">
            <a:extLst>
              <a:ext uri="{FF2B5EF4-FFF2-40B4-BE49-F238E27FC236}">
                <a16:creationId xmlns:a16="http://schemas.microsoft.com/office/drawing/2014/main" id="{24EE699F-A87C-2246-9235-C1DFDF6B2651}"/>
              </a:ext>
            </a:extLst>
          </p:cNvPr>
          <p:cNvGraphicFramePr>
            <a:graphicFrameLocks noGrp="1"/>
          </p:cNvGraphicFramePr>
          <p:nvPr/>
        </p:nvGraphicFramePr>
        <p:xfrm>
          <a:off x="301658" y="1145310"/>
          <a:ext cx="8557528" cy="3006492"/>
        </p:xfrm>
        <a:graphic>
          <a:graphicData uri="http://schemas.openxmlformats.org/drawingml/2006/table">
            <a:tbl>
              <a:tblPr firstRow="1" bandRow="1">
                <a:tableStyleId>{5C22544A-7EE6-4342-B048-85BDC9FD1C3A}</a:tableStyleId>
              </a:tblPr>
              <a:tblGrid>
                <a:gridCol w="2140558">
                  <a:extLst>
                    <a:ext uri="{9D8B030D-6E8A-4147-A177-3AD203B41FA5}">
                      <a16:colId xmlns:a16="http://schemas.microsoft.com/office/drawing/2014/main" val="200107645"/>
                    </a:ext>
                  </a:extLst>
                </a:gridCol>
                <a:gridCol w="6416970">
                  <a:extLst>
                    <a:ext uri="{9D8B030D-6E8A-4147-A177-3AD203B41FA5}">
                      <a16:colId xmlns:a16="http://schemas.microsoft.com/office/drawing/2014/main" val="2648404099"/>
                    </a:ext>
                  </a:extLst>
                </a:gridCol>
              </a:tblGrid>
              <a:tr h="265091">
                <a:tc>
                  <a:txBody>
                    <a:bodyPr/>
                    <a:lstStyle/>
                    <a:p>
                      <a:r>
                        <a:rPr lang="en-US" dirty="0"/>
                        <a:t>Feature</a:t>
                      </a:r>
                    </a:p>
                  </a:txBody>
                  <a:tcPr/>
                </a:tc>
                <a:tc>
                  <a:txBody>
                    <a:bodyPr/>
                    <a:lstStyle/>
                    <a:p>
                      <a:r>
                        <a:rPr lang="en-US" dirty="0"/>
                        <a:t>Description</a:t>
                      </a:r>
                    </a:p>
                  </a:txBody>
                  <a:tcPr/>
                </a:tc>
                <a:extLst>
                  <a:ext uri="{0D108BD9-81ED-4DB2-BD59-A6C34878D82A}">
                    <a16:rowId xmlns:a16="http://schemas.microsoft.com/office/drawing/2014/main" val="367710602"/>
                  </a:ext>
                </a:extLst>
              </a:tr>
              <a:tr h="331556">
                <a:tc>
                  <a:txBody>
                    <a:bodyPr/>
                    <a:lstStyle/>
                    <a:p>
                      <a:pPr algn="l" fontAlgn="b"/>
                      <a:r>
                        <a:rPr lang="en-US" sz="1400" b="0" i="0" u="none" strike="noStrike" dirty="0">
                          <a:solidFill>
                            <a:srgbClr val="000000"/>
                          </a:solidFill>
                          <a:effectLst/>
                          <a:latin typeface="+mn-lt"/>
                        </a:rPr>
                        <a:t>Animations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698835149"/>
                  </a:ext>
                </a:extLst>
              </a:tr>
              <a:tr h="37941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Videos</a:t>
                      </a:r>
                    </a:p>
                  </a:txBody>
                  <a:tcPr marL="9525" marR="9525" marT="9525" marB="0" anchor="b"/>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dirty="0"/>
                        <a:t>Expose learners to new skills and concepts.</a:t>
                      </a:r>
                    </a:p>
                  </a:txBody>
                  <a:tcPr/>
                </a:tc>
                <a:extLst>
                  <a:ext uri="{0D108BD9-81ED-4DB2-BD59-A6C34878D82A}">
                    <a16:rowId xmlns:a16="http://schemas.microsoft.com/office/drawing/2014/main" val="904576505"/>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Check Your Understanding(CYU)</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Per topic online quiz to help learners gauge content understanding. </a:t>
                      </a:r>
                    </a:p>
                  </a:txBody>
                  <a:tcPr/>
                </a:tc>
                <a:extLst>
                  <a:ext uri="{0D108BD9-81ED-4DB2-BD59-A6C34878D82A}">
                    <a16:rowId xmlns:a16="http://schemas.microsoft.com/office/drawing/2014/main" val="2876586054"/>
                  </a:ext>
                </a:extLst>
              </a:tr>
              <a:tr h="178145">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Interactive Activities</a:t>
                      </a:r>
                    </a:p>
                  </a:txBody>
                  <a:tcPr marL="9525" marR="9525" marT="9525" marB="0" anchor="b"/>
                </a:tc>
                <a:tc>
                  <a:txBody>
                    <a:bodyPr/>
                    <a:lstStyle/>
                    <a:p>
                      <a:r>
                        <a:rPr lang="en-US" dirty="0"/>
                        <a:t>A variety of formats to help learners gauge content understanding.</a:t>
                      </a:r>
                    </a:p>
                  </a:txBody>
                  <a:tcPr/>
                </a:tc>
                <a:extLst>
                  <a:ext uri="{0D108BD9-81ED-4DB2-BD59-A6C34878D82A}">
                    <a16:rowId xmlns:a16="http://schemas.microsoft.com/office/drawing/2014/main" val="3454703549"/>
                  </a:ext>
                </a:extLst>
              </a:tr>
              <a:tr h="215293">
                <a:tc>
                  <a:txBody>
                    <a:bodyPr/>
                    <a:lstStyle/>
                    <a:p>
                      <a:pPr algn="l" fontAlgn="b"/>
                      <a:r>
                        <a:rPr lang="en-US" sz="1400" b="0" i="0" u="none" strike="noStrike" dirty="0">
                          <a:solidFill>
                            <a:srgbClr val="000000"/>
                          </a:solidFill>
                          <a:effectLst/>
                          <a:latin typeface="+mn-lt"/>
                        </a:rPr>
                        <a:t>Syntax Checker</a:t>
                      </a:r>
                    </a:p>
                  </a:txBody>
                  <a:tcPr marL="9525" marR="9525" marT="9525" marB="0" anchor="b"/>
                </a:tc>
                <a:tc>
                  <a:txBody>
                    <a:bodyPr/>
                    <a:lstStyle/>
                    <a:p>
                      <a:r>
                        <a:rPr lang="en-US" dirty="0"/>
                        <a:t>Small simulations that expose learners to Cisco command line to practice configuration skills.</a:t>
                      </a:r>
                    </a:p>
                  </a:txBody>
                  <a:tcPr/>
                </a:tc>
                <a:extLst>
                  <a:ext uri="{0D108BD9-81ED-4DB2-BD59-A6C34878D82A}">
                    <a16:rowId xmlns:a16="http://schemas.microsoft.com/office/drawing/2014/main" val="2195331658"/>
                  </a:ext>
                </a:extLst>
              </a:tr>
              <a:tr h="265091">
                <a:tc>
                  <a:txBody>
                    <a:bodyPr/>
                    <a:lstStyle/>
                    <a:p>
                      <a:pPr algn="l" fontAlgn="b"/>
                      <a:r>
                        <a:rPr lang="en-US" sz="1400" b="0" i="0" u="none" strike="noStrike" dirty="0">
                          <a:solidFill>
                            <a:srgbClr val="000000"/>
                          </a:solidFill>
                          <a:effectLst/>
                          <a:latin typeface="+mn-lt"/>
                        </a:rPr>
                        <a:t>PT Activity</a:t>
                      </a:r>
                    </a:p>
                  </a:txBody>
                  <a:tcPr marL="9525" marR="9525" marT="9525" marB="0" anchor="b"/>
                </a:tc>
                <a:tc>
                  <a:txBody>
                    <a:bodyPr/>
                    <a:lstStyle/>
                    <a:p>
                      <a:r>
                        <a:rPr lang="en-US" dirty="0"/>
                        <a:t>Simulation and modeling activities designed to explore, acquire, reinforce, and expand skills.</a:t>
                      </a:r>
                    </a:p>
                  </a:txBody>
                  <a:tcPr/>
                </a:tc>
                <a:extLst>
                  <a:ext uri="{0D108BD9-81ED-4DB2-BD59-A6C34878D82A}">
                    <a16:rowId xmlns:a16="http://schemas.microsoft.com/office/drawing/2014/main" val="3727131555"/>
                  </a:ext>
                </a:extLst>
              </a:tr>
            </a:tbl>
          </a:graphicData>
        </a:graphic>
      </p:graphicFrame>
    </p:spTree>
    <p:custDataLst>
      <p:tags r:id="rId1"/>
    </p:custDataLst>
    <p:extLst>
      <p:ext uri="{BB962C8B-B14F-4D97-AF65-F5344CB8AC3E}">
        <p14:creationId xmlns:p14="http://schemas.microsoft.com/office/powerpoint/2010/main" val="122153960"/>
      </p:ext>
    </p:extLst>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le 2">
            <a:extLst>
              <a:ext uri="{FF2B5EF4-FFF2-40B4-BE49-F238E27FC236}">
                <a16:creationId xmlns:a16="http://schemas.microsoft.com/office/drawing/2014/main" id="{2D10C50B-ED86-4E5D-BD0F-658911DFEF9B}"/>
              </a:ext>
            </a:extLst>
          </p:cNvPr>
          <p:cNvSpPr>
            <a:spLocks noGrp="1"/>
          </p:cNvSpPr>
          <p:nvPr>
            <p:ph type="title"/>
          </p:nvPr>
        </p:nvSpPr>
        <p:spPr>
          <a:xfrm>
            <a:off x="0" y="-15285"/>
            <a:ext cx="9144000" cy="757238"/>
          </a:xfrm>
        </p:spPr>
        <p:txBody>
          <a:bodyPr/>
          <a:lstStyle/>
          <a:p>
            <a:r>
              <a:rPr lang="en-US" dirty="0"/>
              <a:t>What to Expect in this Module (Cont.)</a:t>
            </a:r>
          </a:p>
        </p:txBody>
      </p:sp>
      <p:sp>
        <p:nvSpPr>
          <p:cNvPr id="6" name="Content Placeholder 1">
            <a:extLst>
              <a:ext uri="{FF2B5EF4-FFF2-40B4-BE49-F238E27FC236}">
                <a16:creationId xmlns:a16="http://schemas.microsoft.com/office/drawing/2014/main" id="{031D3D35-BC84-421A-A5F0-48081A310F8E}"/>
              </a:ext>
            </a:extLst>
          </p:cNvPr>
          <p:cNvSpPr txBox="1">
            <a:spLocks/>
          </p:cNvSpPr>
          <p:nvPr/>
        </p:nvSpPr>
        <p:spPr bwMode="auto">
          <a:xfrm>
            <a:off x="106756" y="668963"/>
            <a:ext cx="8853286" cy="34636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vert="horz" wrap="square" lIns="91440" tIns="45720" rIns="182880" bIns="45720" numCol="1" anchor="t" anchorCtr="0" compatLnSpc="1">
            <a:prstTxWarp prst="textNoShape">
              <a:avLst/>
            </a:prstTxWarp>
          </a:bodyPr>
          <a:lstStyle>
            <a:lvl1pPr marL="169863" indent="-169863" algn="l" defTabSz="684213" rtl="0" eaLnBrk="1" fontAlgn="base" hangingPunct="1">
              <a:lnSpc>
                <a:spcPct val="100000"/>
              </a:lnSpc>
              <a:spcBef>
                <a:spcPts val="600"/>
              </a:spcBef>
              <a:spcAft>
                <a:spcPts val="600"/>
              </a:spcAft>
              <a:buClr>
                <a:schemeClr val="tx2"/>
              </a:buClr>
              <a:buSzPct val="90000"/>
              <a:buFont typeface="Wingdings" panose="05000000000000000000" pitchFamily="2" charset="2"/>
              <a:buChar char="§"/>
              <a:defRPr lang="en-US" sz="1500" kern="1200">
                <a:solidFill>
                  <a:srgbClr val="000000"/>
                </a:solidFill>
                <a:latin typeface="+mn-lt"/>
                <a:ea typeface="ＭＳ Ｐゴシック" charset="0"/>
                <a:cs typeface="CiscoSans"/>
              </a:defRPr>
            </a:lvl1pPr>
            <a:lvl2pPr marL="358775" indent="-215900" algn="l" defTabSz="684213" rtl="0" eaLnBrk="1" fontAlgn="base" hangingPunct="1">
              <a:lnSpc>
                <a:spcPct val="100000"/>
              </a:lnSpc>
              <a:spcBef>
                <a:spcPts val="300"/>
              </a:spcBef>
              <a:spcAft>
                <a:spcPts val="300"/>
              </a:spcAft>
              <a:buClr>
                <a:schemeClr val="tx2"/>
              </a:buClr>
              <a:buFont typeface="Arial" charset="0"/>
              <a:buChar char="•"/>
              <a:defRPr lang="en-US" sz="1400" kern="1200">
                <a:solidFill>
                  <a:srgbClr val="000000"/>
                </a:solidFill>
                <a:latin typeface="+mn-lt"/>
                <a:ea typeface="ＭＳ Ｐゴシック" charset="0"/>
                <a:cs typeface="CiscoSans"/>
              </a:defRPr>
            </a:lvl2pPr>
            <a:lvl3pPr marL="431800" indent="-169863" algn="l" defTabSz="684213" rtl="0" eaLnBrk="1" fontAlgn="base" hangingPunct="1">
              <a:lnSpc>
                <a:spcPct val="100000"/>
              </a:lnSpc>
              <a:spcBef>
                <a:spcPts val="300"/>
              </a:spcBef>
              <a:spcAft>
                <a:spcPts val="300"/>
              </a:spcAft>
              <a:buFont typeface="Arial" charset="0"/>
              <a:buChar char="•"/>
              <a:defRPr lang="en-US" sz="1200" kern="1200">
                <a:solidFill>
                  <a:srgbClr val="000000"/>
                </a:solidFill>
                <a:latin typeface="+mn-lt"/>
                <a:ea typeface="ＭＳ Ｐゴシック" charset="0"/>
                <a:cs typeface="CiscoSans"/>
              </a:defRPr>
            </a:lvl3pPr>
            <a:lvl4pPr marL="503238" indent="-169863" algn="l" defTabSz="684213" rtl="0" eaLnBrk="1" fontAlgn="base" hangingPunct="1">
              <a:lnSpc>
                <a:spcPct val="100000"/>
              </a:lnSpc>
              <a:spcBef>
                <a:spcPts val="300"/>
              </a:spcBef>
              <a:spcAft>
                <a:spcPts val="300"/>
              </a:spcAft>
              <a:buFont typeface="Arial" charset="0"/>
              <a:buChar char="•"/>
              <a:defRPr lang="en-US" sz="1100" kern="1200">
                <a:solidFill>
                  <a:srgbClr val="000000"/>
                </a:solidFill>
                <a:latin typeface="+mn-lt"/>
                <a:ea typeface="ＭＳ Ｐゴシック" charset="0"/>
                <a:cs typeface="CiscoSans"/>
              </a:defRPr>
            </a:lvl4pPr>
            <a:lvl5pPr marL="574675" indent="-169863" algn="l" defTabSz="684213" rtl="0" eaLnBrk="1" fontAlgn="base" hangingPunct="1">
              <a:lnSpc>
                <a:spcPct val="95000"/>
              </a:lnSpc>
              <a:spcBef>
                <a:spcPts val="625"/>
              </a:spcBef>
              <a:spcAft>
                <a:spcPct val="0"/>
              </a:spcAft>
              <a:buFont typeface="Arial" charset="0"/>
              <a:buChar char="•"/>
              <a:defRPr lang="en-US" sz="1100" kern="1200" dirty="0">
                <a:solidFill>
                  <a:schemeClr val="tx1"/>
                </a:solidFill>
                <a:latin typeface="+mn-lt"/>
                <a:ea typeface="ＭＳ Ｐゴシック" charset="0"/>
                <a:cs typeface="CiscoSans"/>
              </a:defRPr>
            </a:lvl5pPr>
            <a:lvl6pPr marL="863856" indent="-171445" algn="l" defTabSz="685777" rtl="0" eaLnBrk="1" latinLnBrk="0" hangingPunct="1">
              <a:spcBef>
                <a:spcPts val="600"/>
              </a:spcBef>
              <a:buFont typeface="Arial" pitchFamily="34" charset="0"/>
              <a:buChar char="•"/>
              <a:defRPr sz="900" kern="1200" baseline="0">
                <a:solidFill>
                  <a:schemeClr val="tx1"/>
                </a:solidFill>
                <a:latin typeface="+mn-lt"/>
                <a:ea typeface="+mn-ea"/>
                <a:cs typeface="+mn-cs"/>
              </a:defRPr>
            </a:lvl6pPr>
            <a:lvl7pPr marL="935844" indent="-171422" algn="l" defTabSz="685777" rtl="0" eaLnBrk="1" latinLnBrk="0" hangingPunct="1">
              <a:spcBef>
                <a:spcPts val="600"/>
              </a:spcBef>
              <a:buFont typeface="Arial" pitchFamily="34" charset="0"/>
              <a:buChar char="•"/>
              <a:defRPr sz="800" kern="1200" baseline="0">
                <a:solidFill>
                  <a:schemeClr val="tx1"/>
                </a:solidFill>
                <a:latin typeface="+mn-lt"/>
                <a:ea typeface="+mn-ea"/>
                <a:cs typeface="+mn-cs"/>
              </a:defRPr>
            </a:lvl7pPr>
            <a:lvl8pPr marL="2400220" indent="0" algn="l" defTabSz="685777" rtl="0" eaLnBrk="1" latinLnBrk="0" hangingPunct="1">
              <a:spcBef>
                <a:spcPct val="20000"/>
              </a:spcBef>
              <a:buFont typeface="Arial" pitchFamily="34" charset="0"/>
              <a:buNone/>
              <a:defRPr sz="1500" kern="1200">
                <a:solidFill>
                  <a:schemeClr val="tx1"/>
                </a:solidFill>
                <a:latin typeface="+mn-lt"/>
                <a:ea typeface="+mn-ea"/>
                <a:cs typeface="+mn-cs"/>
              </a:defRPr>
            </a:lvl8pPr>
            <a:lvl9pPr marL="2914553" indent="-171445" algn="l" defTabSz="685777" rtl="0" eaLnBrk="1" latinLnBrk="0" hangingPunct="1">
              <a:spcBef>
                <a:spcPct val="20000"/>
              </a:spcBef>
              <a:buFont typeface="Arial" pitchFamily="34" charset="0"/>
              <a:buChar char="•"/>
              <a:defRPr sz="1500" kern="1200">
                <a:solidFill>
                  <a:schemeClr val="tx1"/>
                </a:solidFill>
                <a:latin typeface="+mn-lt"/>
                <a:ea typeface="+mn-ea"/>
                <a:cs typeface="+mn-cs"/>
              </a:defRPr>
            </a:lvl9pPr>
          </a:lstStyle>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r>
              <a:rPr kumimoji="0" lang="en-US" sz="1500" b="0" i="0" u="none" strike="noStrike" kern="1200" cap="none" spc="0" normalizeH="0" baseline="0" noProof="0" dirty="0">
                <a:ln>
                  <a:noFill/>
                </a:ln>
                <a:solidFill>
                  <a:srgbClr val="000000"/>
                </a:solidFill>
                <a:effectLst/>
                <a:uLnTx/>
                <a:uFillTx/>
                <a:latin typeface="Arial"/>
                <a:ea typeface="ＭＳ Ｐゴシック" charset="0"/>
              </a:rPr>
              <a:t>To facilitate learning, the following features may be included in this module:</a:t>
            </a: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a:p>
            <a:pPr marL="0" marR="0" lvl="0" indent="0" algn="l" defTabSz="684213" rtl="0" eaLnBrk="1" fontAlgn="base" latinLnBrk="0" hangingPunct="1">
              <a:lnSpc>
                <a:spcPct val="100000"/>
              </a:lnSpc>
              <a:spcBef>
                <a:spcPts val="600"/>
              </a:spcBef>
              <a:spcAft>
                <a:spcPts val="600"/>
              </a:spcAft>
              <a:buClr>
                <a:srgbClr val="58585B"/>
              </a:buClr>
              <a:buSzPct val="90000"/>
              <a:buFont typeface="Wingdings" panose="05000000000000000000" pitchFamily="2" charset="2"/>
              <a:buNone/>
              <a:tabLst/>
              <a:defRPr/>
            </a:pPr>
            <a:endParaRPr kumimoji="0" lang="en-US" sz="1500" b="0" i="0" u="none" strike="noStrike" kern="1200" cap="none" spc="0" normalizeH="0" baseline="0" noProof="0" dirty="0">
              <a:ln>
                <a:noFill/>
              </a:ln>
              <a:solidFill>
                <a:srgbClr val="000000"/>
              </a:solidFill>
              <a:effectLst/>
              <a:uLnTx/>
              <a:uFillTx/>
              <a:latin typeface="Arial"/>
              <a:ea typeface="ＭＳ Ｐゴシック" charset="0"/>
            </a:endParaRPr>
          </a:p>
        </p:txBody>
      </p:sp>
      <p:graphicFrame>
        <p:nvGraphicFramePr>
          <p:cNvPr id="4" name="Content Placeholder 3">
            <a:extLst>
              <a:ext uri="{FF2B5EF4-FFF2-40B4-BE49-F238E27FC236}">
                <a16:creationId xmlns:a16="http://schemas.microsoft.com/office/drawing/2014/main" id="{DDD52CCD-9D1E-4CC4-815A-A5967A0831D9}"/>
              </a:ext>
            </a:extLst>
          </p:cNvPr>
          <p:cNvGraphicFramePr>
            <a:graphicFrameLocks noGrp="1"/>
          </p:cNvGraphicFramePr>
          <p:nvPr>
            <p:ph idx="1"/>
          </p:nvPr>
        </p:nvGraphicFramePr>
        <p:xfrm>
          <a:off x="106756" y="1279280"/>
          <a:ext cx="8595235" cy="1950720"/>
        </p:xfrm>
        <a:graphic>
          <a:graphicData uri="http://schemas.openxmlformats.org/drawingml/2006/table">
            <a:tbl>
              <a:tblPr firstRow="1" bandRow="1">
                <a:tableStyleId>{5C22544A-7EE6-4342-B048-85BDC9FD1C3A}</a:tableStyleId>
              </a:tblPr>
              <a:tblGrid>
                <a:gridCol w="2178265">
                  <a:extLst>
                    <a:ext uri="{9D8B030D-6E8A-4147-A177-3AD203B41FA5}">
                      <a16:colId xmlns:a16="http://schemas.microsoft.com/office/drawing/2014/main" val="3215831619"/>
                    </a:ext>
                  </a:extLst>
                </a:gridCol>
                <a:gridCol w="6416970">
                  <a:extLst>
                    <a:ext uri="{9D8B030D-6E8A-4147-A177-3AD203B41FA5}">
                      <a16:colId xmlns:a16="http://schemas.microsoft.com/office/drawing/2014/main" val="276475465"/>
                    </a:ext>
                  </a:extLst>
                </a:gridCol>
              </a:tblGrid>
              <a:tr h="265091">
                <a:tc>
                  <a:txBody>
                    <a:bodyPr/>
                    <a:lstStyle/>
                    <a:p>
                      <a:pPr algn="l" fontAlgn="b"/>
                      <a:r>
                        <a:rPr lang="en-US" sz="1400" b="1" i="0" u="none" strike="noStrike" dirty="0">
                          <a:solidFill>
                            <a:schemeClr val="bg1"/>
                          </a:solidFill>
                          <a:effectLst/>
                          <a:latin typeface="+mn-lt"/>
                        </a:rPr>
                        <a:t>Feature</a:t>
                      </a:r>
                    </a:p>
                  </a:txBody>
                  <a:tcPr marL="9525" marR="9525" marT="9525" marB="0" anchor="b"/>
                </a:tc>
                <a:tc>
                  <a:txBody>
                    <a:bodyPr/>
                    <a:lstStyle/>
                    <a:p>
                      <a:r>
                        <a:rPr lang="en-US" dirty="0"/>
                        <a:t>Description</a:t>
                      </a:r>
                    </a:p>
                  </a:txBody>
                  <a:tcPr/>
                </a:tc>
                <a:extLst>
                  <a:ext uri="{0D108BD9-81ED-4DB2-BD59-A6C34878D82A}">
                    <a16:rowId xmlns:a16="http://schemas.microsoft.com/office/drawing/2014/main" val="3768427975"/>
                  </a:ext>
                </a:extLst>
              </a:tr>
              <a:tr h="265091">
                <a:tc>
                  <a:txBody>
                    <a:bodyPr/>
                    <a:lstStyle/>
                    <a:p>
                      <a:pPr algn="l" fontAlgn="b"/>
                      <a:r>
                        <a:rPr lang="en-US" sz="1400" b="0" i="0" u="none" strike="noStrike" dirty="0">
                          <a:solidFill>
                            <a:srgbClr val="000000"/>
                          </a:solidFill>
                          <a:effectLst/>
                          <a:latin typeface="+mn-lt"/>
                        </a:rPr>
                        <a:t>Hands-On Labs</a:t>
                      </a:r>
                    </a:p>
                  </a:txBody>
                  <a:tcPr marL="9525" marR="9525" marT="9525" marB="0" anchor="b"/>
                </a:tc>
                <a:tc>
                  <a:txBody>
                    <a:bodyPr/>
                    <a:lstStyle/>
                    <a:p>
                      <a:r>
                        <a:rPr lang="en-US" dirty="0"/>
                        <a:t>Labs designed for working with physical equipment.</a:t>
                      </a:r>
                    </a:p>
                  </a:txBody>
                  <a:tcPr/>
                </a:tc>
                <a:extLst>
                  <a:ext uri="{0D108BD9-81ED-4DB2-BD59-A6C34878D82A}">
                    <a16:rowId xmlns:a16="http://schemas.microsoft.com/office/drawing/2014/main" val="2258594367"/>
                  </a:ext>
                </a:extLst>
              </a:tr>
              <a:tr h="265091">
                <a:tc>
                  <a:txBody>
                    <a:bodyPr/>
                    <a:lstStyle/>
                    <a:p>
                      <a:pPr marL="0" marR="0" lvl="0" indent="0" algn="l" defTabSz="685777" rtl="0" eaLnBrk="1" fontAlgn="b" latinLnBrk="0" hangingPunct="1">
                        <a:lnSpc>
                          <a:spcPct val="100000"/>
                        </a:lnSpc>
                        <a:spcBef>
                          <a:spcPts val="0"/>
                        </a:spcBef>
                        <a:spcAft>
                          <a:spcPts val="0"/>
                        </a:spcAft>
                        <a:buClrTx/>
                        <a:buSzTx/>
                        <a:buFontTx/>
                        <a:buNone/>
                        <a:tabLst/>
                        <a:defRPr/>
                      </a:pPr>
                      <a:r>
                        <a:rPr lang="en-US" sz="1400" b="0" i="0" u="none" strike="noStrike" dirty="0">
                          <a:solidFill>
                            <a:srgbClr val="000000"/>
                          </a:solidFill>
                          <a:effectLst/>
                          <a:latin typeface="+mn-lt"/>
                        </a:rPr>
                        <a:t>Class Activities</a:t>
                      </a:r>
                    </a:p>
                    <a:p>
                      <a:pPr algn="l" fontAlgn="b"/>
                      <a:endParaRPr lang="en-US" sz="1400" b="0" i="0" u="none" strike="noStrike" dirty="0">
                        <a:solidFill>
                          <a:srgbClr val="000000"/>
                        </a:solidFill>
                        <a:effectLst/>
                        <a:latin typeface="+mn-lt"/>
                      </a:endParaRPr>
                    </a:p>
                  </a:txBody>
                  <a:tcPr marL="9525" marR="9525" marT="9525" marB="0" anchor="b"/>
                </a:tc>
                <a:tc>
                  <a:txBody>
                    <a:bodyPr/>
                    <a:lstStyle/>
                    <a:p>
                      <a:r>
                        <a:rPr lang="en-US" dirty="0"/>
                        <a:t>These are found on the Instructor Resources page. Class Activities are designed to facilitate learning, class discussion, and collaboration.</a:t>
                      </a:r>
                    </a:p>
                  </a:txBody>
                  <a:tcPr/>
                </a:tc>
                <a:extLst>
                  <a:ext uri="{0D108BD9-81ED-4DB2-BD59-A6C34878D82A}">
                    <a16:rowId xmlns:a16="http://schemas.microsoft.com/office/drawing/2014/main" val="1125566603"/>
                  </a:ext>
                </a:extLst>
              </a:tr>
              <a:tr h="265091">
                <a:tc>
                  <a:txBody>
                    <a:bodyPr/>
                    <a:lstStyle/>
                    <a:p>
                      <a:pPr algn="l" fontAlgn="b"/>
                      <a:r>
                        <a:rPr lang="en-US" sz="1400" b="0" i="0" u="none" strike="noStrike" dirty="0">
                          <a:solidFill>
                            <a:srgbClr val="000000"/>
                          </a:solidFill>
                          <a:effectLst/>
                          <a:latin typeface="+mn-lt"/>
                        </a:rPr>
                        <a:t>Module Quizzes</a:t>
                      </a:r>
                    </a:p>
                  </a:txBody>
                  <a:tcPr marL="9525" marR="9525" marT="9525" marB="0" anchor="b"/>
                </a:tc>
                <a:tc>
                  <a:txBody>
                    <a:bodyPr/>
                    <a:lstStyle/>
                    <a:p>
                      <a:r>
                        <a:rPr lang="en-US" dirty="0"/>
                        <a:t>Self-assessments that integrate concepts and skills learned throughout the series of topics presented in the module.</a:t>
                      </a:r>
                    </a:p>
                  </a:txBody>
                  <a:tcPr/>
                </a:tc>
                <a:extLst>
                  <a:ext uri="{0D108BD9-81ED-4DB2-BD59-A6C34878D82A}">
                    <a16:rowId xmlns:a16="http://schemas.microsoft.com/office/drawing/2014/main" val="831502776"/>
                  </a:ext>
                </a:extLst>
              </a:tr>
              <a:tr h="265091">
                <a:tc>
                  <a:txBody>
                    <a:bodyPr/>
                    <a:lstStyle/>
                    <a:p>
                      <a:pPr algn="l" fontAlgn="b"/>
                      <a:r>
                        <a:rPr lang="en-US" sz="1400" b="0" i="0" u="none" strike="noStrike" dirty="0">
                          <a:solidFill>
                            <a:srgbClr val="000000"/>
                          </a:solidFill>
                          <a:effectLst/>
                          <a:latin typeface="+mn-lt"/>
                        </a:rPr>
                        <a:t>Module Summary</a:t>
                      </a:r>
                    </a:p>
                  </a:txBody>
                  <a:tcPr marL="9525" marR="9525" marT="9525" marB="0" anchor="b"/>
                </a:tc>
                <a:tc>
                  <a:txBody>
                    <a:bodyPr/>
                    <a:lstStyle/>
                    <a:p>
                      <a:r>
                        <a:rPr lang="en-US" dirty="0"/>
                        <a:t>Briefly recaps module content.</a:t>
                      </a:r>
                    </a:p>
                  </a:txBody>
                  <a:tcPr/>
                </a:tc>
                <a:extLst>
                  <a:ext uri="{0D108BD9-81ED-4DB2-BD59-A6C34878D82A}">
                    <a16:rowId xmlns:a16="http://schemas.microsoft.com/office/drawing/2014/main" val="2267046280"/>
                  </a:ext>
                </a:extLst>
              </a:tr>
            </a:tbl>
          </a:graphicData>
        </a:graphic>
      </p:graphicFrame>
    </p:spTree>
    <p:custDataLst>
      <p:tags r:id="rId1"/>
    </p:custDataLst>
    <p:extLst>
      <p:ext uri="{BB962C8B-B14F-4D97-AF65-F5344CB8AC3E}">
        <p14:creationId xmlns:p14="http://schemas.microsoft.com/office/powerpoint/2010/main" val="1736058053"/>
      </p:ext>
    </p:extLst>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a:xfrm>
            <a:off x="1" y="41393"/>
            <a:ext cx="9144000" cy="757551"/>
          </a:xfrm>
        </p:spPr>
        <p:txBody>
          <a:bodyPr/>
          <a:lstStyle/>
          <a:p>
            <a:r>
              <a:rPr lang="en-US" dirty="0"/>
              <a:t>Check Your Understanding</a:t>
            </a:r>
          </a:p>
        </p:txBody>
      </p:sp>
      <p:sp>
        <p:nvSpPr>
          <p:cNvPr id="7171" name="Rectangle 34"/>
          <p:cNvSpPr>
            <a:spLocks noGrp="1" noChangeArrowheads="1"/>
          </p:cNvSpPr>
          <p:nvPr>
            <p:ph idx="1"/>
          </p:nvPr>
        </p:nvSpPr>
        <p:spPr>
          <a:xfrm>
            <a:off x="144065" y="798944"/>
            <a:ext cx="8853286" cy="4155319"/>
          </a:xfrm>
        </p:spPr>
        <p:txBody>
          <a:bodyPr/>
          <a:lstStyle/>
          <a:p>
            <a:pPr>
              <a:buFont typeface="Arial" panose="020B0604020202020204" pitchFamily="34" charset="0"/>
              <a:buChar char="•"/>
            </a:pPr>
            <a:r>
              <a:rPr lang="en-US" dirty="0"/>
              <a:t>Check Your Understanding activities are designed to let students quickly determine if they understand the content and can proceed, or if they need to review. </a:t>
            </a:r>
          </a:p>
          <a:p>
            <a:pPr>
              <a:buFont typeface="Arial" panose="020B0604020202020204" pitchFamily="34" charset="0"/>
              <a:buChar char="•"/>
            </a:pPr>
            <a:r>
              <a:rPr lang="en-US" dirty="0"/>
              <a:t>Check Your Understanding activities do not affect student grades.</a:t>
            </a:r>
          </a:p>
          <a:p>
            <a:pPr>
              <a:buFont typeface="Arial" panose="020B0604020202020204" pitchFamily="34" charset="0"/>
              <a:buChar char="•"/>
            </a:pPr>
            <a:r>
              <a:rPr lang="en-US" dirty="0"/>
              <a:t>There are no separate slides for these activities in the PPT. They are listed in the notes area of the slide that appears before these activities.</a:t>
            </a:r>
          </a:p>
          <a:p>
            <a:endParaRPr lang="en-US" dirty="0"/>
          </a:p>
          <a:p>
            <a:endParaRPr lang="en-US" dirty="0"/>
          </a:p>
        </p:txBody>
      </p:sp>
    </p:spTree>
    <p:custDataLst>
      <p:tags r:id="rId1"/>
    </p:custDataLst>
    <p:extLst>
      <p:ext uri="{BB962C8B-B14F-4D97-AF65-F5344CB8AC3E}">
        <p14:creationId xmlns:p14="http://schemas.microsoft.com/office/powerpoint/2010/main" val="1533357529"/>
      </p:ext>
    </p:extLst>
  </p:cSld>
  <p:clrMapOvr>
    <a:masterClrMapping/>
  </p:clrMapOvr>
  <p:transition spd="slow">
    <p:wip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0" y="0"/>
            <a:ext cx="9144000" cy="274320"/>
          </a:xfrm>
          <a:prstGeom prst="rect">
            <a:avLst/>
          </a:prstGeom>
          <a:noFill/>
          <a:ln/>
        </p:spPr>
        <p:txBody>
          <a:bodyPr wrap="square" rtlCol="0"/>
          <a:lstStyle/>
          <a:p>
            <a:pPr marL="0" indent="0">
              <a:buNone/>
            </a:pPr>
            <a:r>
              <a:rPr lang="en-US" dirty="0"/>
              <a:t>Module 12: Activities</a:t>
            </a:r>
          </a:p>
        </p:txBody>
      </p:sp>
      <p:sp>
        <p:nvSpPr>
          <p:cNvPr id="3" name="Object2"/>
          <p:cNvSpPr/>
          <p:nvPr/>
        </p:nvSpPr>
        <p:spPr>
          <a:xfrm>
            <a:off x="0" y="457200"/>
            <a:ext cx="8229600" cy="361950"/>
          </a:xfrm>
          <a:prstGeom prst="rect">
            <a:avLst/>
          </a:prstGeom>
          <a:noFill/>
          <a:ln/>
        </p:spPr>
        <p:txBody>
          <a:bodyPr wrap="square" rtlCol="0" anchor="t"/>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rgbClr val="000000"/>
                </a:solidFill>
                <a:effectLst/>
                <a:uLnTx/>
                <a:uFillTx/>
                <a:latin typeface="Arial" pitchFamily="34" charset="0"/>
                <a:ea typeface="Arial" pitchFamily="34" charset="-122"/>
                <a:cs typeface="Arial" pitchFamily="34" charset="-120"/>
              </a:rPr>
              <a:t>What activities are associated with this module?</a:t>
            </a:r>
            <a:endParaRPr kumimoji="0" lang="en-US" sz="1400" b="0" i="0" u="none" strike="noStrike" kern="1200" cap="none" spc="0" normalizeH="0" baseline="0" noProof="0" dirty="0">
              <a:ln>
                <a:noFill/>
              </a:ln>
              <a:solidFill>
                <a:prstClr val="black"/>
              </a:solidFill>
              <a:effectLst/>
              <a:uLnTx/>
              <a:uFillTx/>
              <a:latin typeface="Calibri" panose="020F0502020204030204"/>
              <a:ea typeface="+mn-ea"/>
              <a:cs typeface="+mn-cs"/>
            </a:endParaRPr>
          </a:p>
        </p:txBody>
      </p:sp>
      <p:graphicFrame>
        <p:nvGraphicFramePr>
          <p:cNvPr id="8" name="Content Placeholder 3">
            <a:extLst>
              <a:ext uri="{FF2B5EF4-FFF2-40B4-BE49-F238E27FC236}">
                <a16:creationId xmlns:a16="http://schemas.microsoft.com/office/drawing/2014/main" id="{2334105E-9CC5-47D6-A20B-E5E2B607CFAE}"/>
              </a:ext>
            </a:extLst>
          </p:cNvPr>
          <p:cNvGraphicFramePr>
            <a:graphicFrameLocks/>
          </p:cNvGraphicFramePr>
          <p:nvPr>
            <p:extLst>
              <p:ext uri="{D42A27DB-BD31-4B8C-83A1-F6EECF244321}">
                <p14:modId xmlns:p14="http://schemas.microsoft.com/office/powerpoint/2010/main" val="2810383953"/>
              </p:ext>
            </p:extLst>
          </p:nvPr>
        </p:nvGraphicFramePr>
        <p:xfrm>
          <a:off x="455999" y="1147358"/>
          <a:ext cx="8229418" cy="2062186"/>
        </p:xfrm>
        <a:graphic>
          <a:graphicData uri="http://schemas.openxmlformats.org/drawingml/2006/table">
            <a:tbl>
              <a:tblPr firstRow="1" bandRow="1"/>
              <a:tblGrid>
                <a:gridCol w="1129733">
                  <a:extLst>
                    <a:ext uri="{9D8B030D-6E8A-4147-A177-3AD203B41FA5}">
                      <a16:colId xmlns:a16="http://schemas.microsoft.com/office/drawing/2014/main" val="20001"/>
                    </a:ext>
                  </a:extLst>
                </a:gridCol>
                <a:gridCol w="1857736">
                  <a:extLst>
                    <a:ext uri="{9D8B030D-6E8A-4147-A177-3AD203B41FA5}">
                      <a16:colId xmlns:a16="http://schemas.microsoft.com/office/drawing/2014/main" val="3156509146"/>
                    </a:ext>
                  </a:extLst>
                </a:gridCol>
                <a:gridCol w="4080076">
                  <a:extLst>
                    <a:ext uri="{9D8B030D-6E8A-4147-A177-3AD203B41FA5}">
                      <a16:colId xmlns:a16="http://schemas.microsoft.com/office/drawing/2014/main" val="20002"/>
                    </a:ext>
                  </a:extLst>
                </a:gridCol>
                <a:gridCol w="1161873">
                  <a:extLst>
                    <a:ext uri="{9D8B030D-6E8A-4147-A177-3AD203B41FA5}">
                      <a16:colId xmlns:a16="http://schemas.microsoft.com/office/drawing/2014/main" val="20003"/>
                    </a:ext>
                  </a:extLst>
                </a:gridCol>
              </a:tblGrid>
              <a:tr h="301434">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ctr" defTabSz="685777" rtl="0" eaLnBrk="1" fontAlgn="auto" latinLnBrk="0" hangingPunct="1">
                        <a:lnSpc>
                          <a:spcPct val="100000"/>
                        </a:lnSpc>
                        <a:spcBef>
                          <a:spcPts val="0"/>
                        </a:spcBef>
                        <a:spcAft>
                          <a:spcPts val="0"/>
                        </a:spcAft>
                        <a:buClrTx/>
                        <a:buSzTx/>
                        <a:buFontTx/>
                        <a:buNone/>
                        <a:tabLst/>
                        <a:defRPr/>
                      </a:pPr>
                      <a:r>
                        <a:rPr lang="en-US" sz="1200" dirty="0"/>
                        <a:t>Page #</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200" dirty="0"/>
                        <a:t>Activity Type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Activity Name</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tc>
                  <a:txBody>
                    <a:bodyPr/>
                    <a:lstStyle>
                      <a:lvl1pPr marL="0" algn="l" defTabSz="914400" rtl="0" eaLnBrk="1" latinLnBrk="0" hangingPunct="1">
                        <a:defRPr sz="1800" b="1" kern="1200">
                          <a:solidFill>
                            <a:schemeClr val="lt1"/>
                          </a:solidFill>
                          <a:latin typeface="Arial"/>
                        </a:defRPr>
                      </a:lvl1pPr>
                      <a:lvl2pPr marL="457200" algn="l" defTabSz="914400" rtl="0" eaLnBrk="1" latinLnBrk="0" hangingPunct="1">
                        <a:defRPr sz="1800" b="1" kern="1200">
                          <a:solidFill>
                            <a:schemeClr val="lt1"/>
                          </a:solidFill>
                          <a:latin typeface="Arial"/>
                        </a:defRPr>
                      </a:lvl2pPr>
                      <a:lvl3pPr marL="914400" algn="l" defTabSz="914400" rtl="0" eaLnBrk="1" latinLnBrk="0" hangingPunct="1">
                        <a:defRPr sz="1800" b="1" kern="1200">
                          <a:solidFill>
                            <a:schemeClr val="lt1"/>
                          </a:solidFill>
                          <a:latin typeface="Arial"/>
                        </a:defRPr>
                      </a:lvl3pPr>
                      <a:lvl4pPr marL="1371600" algn="l" defTabSz="914400" rtl="0" eaLnBrk="1" latinLnBrk="0" hangingPunct="1">
                        <a:defRPr sz="1800" b="1" kern="1200">
                          <a:solidFill>
                            <a:schemeClr val="lt1"/>
                          </a:solidFill>
                          <a:latin typeface="Arial"/>
                        </a:defRPr>
                      </a:lvl4pPr>
                      <a:lvl5pPr marL="1828800" algn="l" defTabSz="914400" rtl="0" eaLnBrk="1" latinLnBrk="0" hangingPunct="1">
                        <a:defRPr sz="1800" b="1" kern="1200">
                          <a:solidFill>
                            <a:schemeClr val="lt1"/>
                          </a:solidFill>
                          <a:latin typeface="Arial"/>
                        </a:defRPr>
                      </a:lvl5pPr>
                      <a:lvl6pPr marL="2286000" algn="l" defTabSz="914400" rtl="0" eaLnBrk="1" latinLnBrk="0" hangingPunct="1">
                        <a:defRPr sz="1800" b="1" kern="1200">
                          <a:solidFill>
                            <a:schemeClr val="lt1"/>
                          </a:solidFill>
                          <a:latin typeface="Arial"/>
                        </a:defRPr>
                      </a:lvl6pPr>
                      <a:lvl7pPr marL="2743200" algn="l" defTabSz="914400" rtl="0" eaLnBrk="1" latinLnBrk="0" hangingPunct="1">
                        <a:defRPr sz="1800" b="1" kern="1200">
                          <a:solidFill>
                            <a:schemeClr val="lt1"/>
                          </a:solidFill>
                          <a:latin typeface="Arial"/>
                        </a:defRPr>
                      </a:lvl7pPr>
                      <a:lvl8pPr marL="3200400" algn="l" defTabSz="914400" rtl="0" eaLnBrk="1" latinLnBrk="0" hangingPunct="1">
                        <a:defRPr sz="1800" b="1" kern="1200">
                          <a:solidFill>
                            <a:schemeClr val="lt1"/>
                          </a:solidFill>
                          <a:latin typeface="Arial"/>
                        </a:defRPr>
                      </a:lvl8pPr>
                      <a:lvl9pPr marL="3657600" algn="l" defTabSz="914400" rtl="0" eaLnBrk="1" latinLnBrk="0" hangingPunct="1">
                        <a:defRPr sz="1800" b="1" kern="1200">
                          <a:solidFill>
                            <a:schemeClr val="lt1"/>
                          </a:solidFill>
                          <a:latin typeface="Arial"/>
                        </a:defRPr>
                      </a:lvl9pPr>
                    </a:lstStyle>
                    <a:p>
                      <a:r>
                        <a:rPr lang="en-US" sz="1200" dirty="0"/>
                        <a:t>Optional?</a:t>
                      </a:r>
                    </a:p>
                  </a:txBody>
                  <a:tcPr marL="68580" marR="68580" marT="34290" marB="34290" anchor="ctr">
                    <a:lnL w="12700" cmpd="sng">
                      <a:solidFill>
                        <a:srgbClr val="FFFFFF"/>
                      </a:solidFill>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004C69"/>
                    </a:solidFill>
                  </a:tcPr>
                </a:tc>
                <a:extLst>
                  <a:ext uri="{0D108BD9-81ED-4DB2-BD59-A6C34878D82A}">
                    <a16:rowId xmlns:a16="http://schemas.microsoft.com/office/drawing/2014/main" val="10000"/>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12.1.6</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IPS Signature Actions</a:t>
                      </a: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1"/>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12.2.10</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Snort IPS</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r>
                        <a:rPr lang="en-US" sz="1100" dirty="0"/>
                        <a:t>Recommended</a:t>
                      </a:r>
                      <a:endParaRPr lang="en-US" sz="1100" dirty="0">
                        <a:solidFill>
                          <a:schemeClr val="tx1"/>
                        </a:solidFill>
                      </a:endParaRP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ap="flat" cmpd="sng" algn="ctr">
                      <a:solidFill>
                        <a:srgbClr val="FFFFFF"/>
                      </a:solidFill>
                      <a:prstDash val="solid"/>
                      <a:round/>
                      <a:headEnd type="none" w="med" len="med"/>
                      <a:tailEnd type="none" w="med" len="med"/>
                    </a:lnT>
                    <a:lnB w="12700" cmpd="sng">
                      <a:solidFill>
                        <a:srgbClr val="FFFFFF"/>
                      </a:solidFill>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10006"/>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12.3.9</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Syntax Checker</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Configure Snort IPS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004C69">
                        <a:tint val="40000"/>
                      </a:srgbClr>
                    </a:solidFill>
                  </a:tcPr>
                </a:tc>
                <a:extLst>
                  <a:ext uri="{0D108BD9-81ED-4DB2-BD59-A6C34878D82A}">
                    <a16:rowId xmlns:a16="http://schemas.microsoft.com/office/drawing/2014/main" val="10008"/>
                  </a:ext>
                </a:extLst>
              </a:tr>
              <a:tr h="350784">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algn="ctr"/>
                      <a:r>
                        <a:rPr lang="en-US" sz="1100" dirty="0"/>
                        <a:t>12.3.10</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Check Your Understanding</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t>Implementing Snort IPS</a:t>
                      </a: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tc>
                  <a:txBody>
                    <a:bodyPr/>
                    <a:lstStyle>
                      <a:lvl1pPr marL="0" algn="l" defTabSz="914400" rtl="0" eaLnBrk="1" latinLnBrk="0" hangingPunct="1">
                        <a:defRPr sz="1800" kern="1200">
                          <a:solidFill>
                            <a:schemeClr val="dk1"/>
                          </a:solidFill>
                          <a:latin typeface="Arial"/>
                        </a:defRPr>
                      </a:lvl1pPr>
                      <a:lvl2pPr marL="457200" algn="l" defTabSz="914400" rtl="0" eaLnBrk="1" latinLnBrk="0" hangingPunct="1">
                        <a:defRPr sz="1800" kern="1200">
                          <a:solidFill>
                            <a:schemeClr val="dk1"/>
                          </a:solidFill>
                          <a:latin typeface="Arial"/>
                        </a:defRPr>
                      </a:lvl2pPr>
                      <a:lvl3pPr marL="914400" algn="l" defTabSz="914400" rtl="0" eaLnBrk="1" latinLnBrk="0" hangingPunct="1">
                        <a:defRPr sz="1800" kern="1200">
                          <a:solidFill>
                            <a:schemeClr val="dk1"/>
                          </a:solidFill>
                          <a:latin typeface="Arial"/>
                        </a:defRPr>
                      </a:lvl3pPr>
                      <a:lvl4pPr marL="1371600" algn="l" defTabSz="914400" rtl="0" eaLnBrk="1" latinLnBrk="0" hangingPunct="1">
                        <a:defRPr sz="1800" kern="1200">
                          <a:solidFill>
                            <a:schemeClr val="dk1"/>
                          </a:solidFill>
                          <a:latin typeface="Arial"/>
                        </a:defRPr>
                      </a:lvl4pPr>
                      <a:lvl5pPr marL="1828800" algn="l" defTabSz="914400" rtl="0" eaLnBrk="1" latinLnBrk="0" hangingPunct="1">
                        <a:defRPr sz="1800" kern="1200">
                          <a:solidFill>
                            <a:schemeClr val="dk1"/>
                          </a:solidFill>
                          <a:latin typeface="Arial"/>
                        </a:defRPr>
                      </a:lvl5pPr>
                      <a:lvl6pPr marL="2286000" algn="l" defTabSz="914400" rtl="0" eaLnBrk="1" latinLnBrk="0" hangingPunct="1">
                        <a:defRPr sz="1800" kern="1200">
                          <a:solidFill>
                            <a:schemeClr val="dk1"/>
                          </a:solidFill>
                          <a:latin typeface="Arial"/>
                        </a:defRPr>
                      </a:lvl6pPr>
                      <a:lvl7pPr marL="2743200" algn="l" defTabSz="914400" rtl="0" eaLnBrk="1" latinLnBrk="0" hangingPunct="1">
                        <a:defRPr sz="1800" kern="1200">
                          <a:solidFill>
                            <a:schemeClr val="dk1"/>
                          </a:solidFill>
                          <a:latin typeface="Arial"/>
                        </a:defRPr>
                      </a:lvl7pPr>
                      <a:lvl8pPr marL="3200400" algn="l" defTabSz="914400" rtl="0" eaLnBrk="1" latinLnBrk="0" hangingPunct="1">
                        <a:defRPr sz="1800" kern="1200">
                          <a:solidFill>
                            <a:schemeClr val="dk1"/>
                          </a:solidFill>
                          <a:latin typeface="Arial"/>
                        </a:defRPr>
                      </a:lvl8pPr>
                      <a:lvl9pPr marL="3657600" algn="l" defTabSz="914400" rtl="0" eaLnBrk="1" latinLnBrk="0" hangingPunct="1">
                        <a:defRPr sz="1800" kern="1200">
                          <a:solidFill>
                            <a:schemeClr val="dk1"/>
                          </a:solidFill>
                          <a:latin typeface="Arial"/>
                        </a:defRPr>
                      </a:lvl9p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u="none" strike="noStrike" kern="1200" cap="none" spc="0" normalizeH="0" baseline="0" noProof="0" dirty="0">
                          <a:ln>
                            <a:noFill/>
                          </a:ln>
                          <a:effectLst/>
                          <a:uLnTx/>
                          <a:uFillTx/>
                        </a:rPr>
                        <a:t>Recommended</a:t>
                      </a:r>
                      <a:endParaRPr kumimoji="0" lang="en-US" sz="1100" b="0" i="0" u="none" strike="noStrike" kern="1200" cap="none" spc="0" normalizeH="0" baseline="0" noProof="0" dirty="0">
                        <a:ln>
                          <a:noFill/>
                        </a:ln>
                        <a:solidFill>
                          <a:srgbClr val="58585B"/>
                        </a:solidFill>
                        <a:effectLst/>
                        <a:uLnTx/>
                        <a:uFillTx/>
                        <a:latin typeface="Arial"/>
                        <a:ea typeface="+mn-ea"/>
                        <a:cs typeface="+mn-cs"/>
                      </a:endParaRPr>
                    </a:p>
                  </a:txBody>
                  <a:tcPr marL="68580" marR="68580" marT="34290" marB="34290" anchor="ctr">
                    <a:lnL w="12700" cmpd="sng">
                      <a:solidFill>
                        <a:srgbClr val="FFFFFF"/>
                      </a:solidFill>
                    </a:lnL>
                    <a:lnR w="12700" cmpd="sng">
                      <a:solidFill>
                        <a:srgbClr val="FFFFFF"/>
                      </a:solidFill>
                    </a:lnR>
                    <a:lnT w="12700" cmpd="sng">
                      <a:solidFill>
                        <a:srgbClr val="FFFFFF"/>
                      </a:solidFill>
                    </a:lnT>
                    <a:lnB w="12700" cap="flat" cmpd="sng" algn="ctr">
                      <a:solidFill>
                        <a:srgbClr val="FFFFFF"/>
                      </a:solidFill>
                      <a:prstDash val="solid"/>
                      <a:round/>
                      <a:headEnd type="none" w="med" len="med"/>
                      <a:tailEnd type="none" w="med" len="med"/>
                    </a:lnB>
                    <a:lnTlToBr w="12700" cmpd="sng">
                      <a:noFill/>
                      <a:prstDash val="solid"/>
                    </a:lnTlToBr>
                    <a:lnBlToTr w="12700" cmpd="sng">
                      <a:noFill/>
                      <a:prstDash val="solid"/>
                    </a:lnBlToTr>
                    <a:solidFill>
                      <a:srgbClr val="004C69">
                        <a:tint val="20000"/>
                      </a:srgbClr>
                    </a:solidFill>
                  </a:tcPr>
                </a:tc>
                <a:extLst>
                  <a:ext uri="{0D108BD9-81ED-4DB2-BD59-A6C34878D82A}">
                    <a16:rowId xmlns:a16="http://schemas.microsoft.com/office/drawing/2014/main" val="2582900979"/>
                  </a:ext>
                </a:extLst>
              </a:tr>
              <a:tr h="357616">
                <a:tc>
                  <a:txBody>
                    <a:bodyPr/>
                    <a:lstStyle/>
                    <a:p>
                      <a:pPr algn="ctr"/>
                      <a:r>
                        <a:rPr lang="en-US" sz="1100" dirty="0">
                          <a:latin typeface="Arial" panose="020B0604020202020204" pitchFamily="34" charset="0"/>
                          <a:cs typeface="Arial" panose="020B0604020202020204" pitchFamily="34" charset="0"/>
                        </a:rPr>
                        <a:t>12.4.2</a:t>
                      </a:r>
                    </a:p>
                  </a:txBody>
                  <a:tcPr marL="68580" marR="68580" marT="34290" marB="34290" anchor="ctr">
                    <a:lnL w="12700" cmpd="sng">
                      <a:solidFill>
                        <a:srgbClr val="FFFFFF"/>
                      </a:solidFill>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dirty="0">
                          <a:latin typeface="Arial" panose="020B0604020202020204" pitchFamily="34" charset="0"/>
                          <a:cs typeface="Arial" panose="020B0604020202020204" pitchFamily="34" charset="0"/>
                        </a:rPr>
                        <a:t>Module Quiz</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lang="en-US" sz="1100" kern="1200" dirty="0">
                          <a:solidFill>
                            <a:schemeClr val="dk1"/>
                          </a:solidFill>
                          <a:latin typeface="Arial"/>
                          <a:ea typeface="+mn-ea"/>
                          <a:cs typeface="+mn-cs"/>
                        </a:rPr>
                        <a:t>IPS Operation and </a:t>
                      </a:r>
                      <a:r>
                        <a:rPr lang="en-US" sz="1100" kern="1200" dirty="0">
                          <a:solidFill>
                            <a:schemeClr val="tx1"/>
                          </a:solidFill>
                          <a:latin typeface="Arial" panose="020B0604020202020204" pitchFamily="34" charset="0"/>
                          <a:ea typeface="+mn-ea"/>
                          <a:cs typeface="Arial" panose="020B0604020202020204" pitchFamily="34" charset="0"/>
                        </a:rPr>
                        <a:t>Implementation</a:t>
                      </a:r>
                    </a:p>
                  </a:txBody>
                  <a:tcPr marL="68580" marR="68580" marT="34290" marB="3429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tc>
                  <a:txBody>
                    <a:bodyPr/>
                    <a:lstStyle/>
                    <a:p>
                      <a:pPr marL="0" marR="0" lvl="0" indent="0" algn="l" defTabSz="685777"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58585B"/>
                          </a:solidFill>
                          <a:effectLst/>
                          <a:uLnTx/>
                          <a:uFillTx/>
                          <a:latin typeface="Arial" panose="020B0604020202020204" pitchFamily="34" charset="0"/>
                          <a:ea typeface="+mn-ea"/>
                          <a:cs typeface="Arial" panose="020B0604020202020204" pitchFamily="34" charset="0"/>
                        </a:rPr>
                        <a:t>Recommended</a:t>
                      </a:r>
                    </a:p>
                  </a:txBody>
                  <a:tcPr marL="68580" marR="68580" marT="34290" marB="34290" anchor="ctr">
                    <a:lnL w="12700" cap="flat" cmpd="sng" algn="ctr">
                      <a:solidFill>
                        <a:srgbClr val="FFFFFF"/>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2653394653"/>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600" b="0" i="0" u="none" strike="noStrike" kern="1200" cap="none" spc="0" normalizeH="0" baseline="0" noProof="0">
                <a:ln>
                  <a:noFill/>
                </a:ln>
                <a:solidFill>
                  <a:srgbClr val="D9D9D9"/>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6</a:t>
            </a:fld>
            <a:endParaRPr kumimoji="0" lang="en-US" sz="600" b="0" i="0" u="none" strike="noStrike" kern="1200" cap="none" spc="0" normalizeH="0" baseline="0" noProof="0" dirty="0">
              <a:ln>
                <a:noFill/>
              </a:ln>
              <a:solidFill>
                <a:srgbClr val="D9D9D9"/>
              </a:solidFill>
              <a:effectLst/>
              <a:uLnTx/>
              <a:uFillTx/>
              <a:latin typeface="Calibri" panose="020F0502020204030204"/>
              <a:ea typeface="+mn-ea"/>
              <a:cs typeface="+mn-c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a:xfrm>
            <a:off x="1" y="41393"/>
            <a:ext cx="9144000" cy="757551"/>
          </a:xfrm>
        </p:spPr>
        <p:txBody>
          <a:bodyPr/>
          <a:lstStyle/>
          <a:p>
            <a:r>
              <a:rPr lang="en-US" dirty="0"/>
              <a:t>Module 12: Best Practices</a:t>
            </a:r>
          </a:p>
        </p:txBody>
      </p:sp>
      <p:sp>
        <p:nvSpPr>
          <p:cNvPr id="7171" name="Rectangle 34"/>
          <p:cNvSpPr>
            <a:spLocks noGrp="1" noChangeArrowheads="1"/>
          </p:cNvSpPr>
          <p:nvPr>
            <p:ph idx="1"/>
          </p:nvPr>
        </p:nvSpPr>
        <p:spPr>
          <a:xfrm>
            <a:off x="144065" y="798944"/>
            <a:ext cx="8853286" cy="4155319"/>
          </a:xfrm>
        </p:spPr>
        <p:txBody>
          <a:bodyPr/>
          <a:lstStyle/>
          <a:p>
            <a:r>
              <a:rPr lang="en-CA" dirty="0"/>
              <a:t>Prior to teaching Module 12, the instructor should:</a:t>
            </a:r>
          </a:p>
          <a:p>
            <a:pPr lvl="1"/>
            <a:r>
              <a:rPr lang="en-CA" dirty="0"/>
              <a:t>Review the activities and assessments for this module.</a:t>
            </a:r>
          </a:p>
          <a:p>
            <a:pPr lvl="1"/>
            <a:r>
              <a:rPr lang="en-CA" dirty="0"/>
              <a:t>Try to include as many questions as possible to keep students engaged during classroom presentation.</a:t>
            </a:r>
          </a:p>
          <a:p>
            <a:endParaRPr lang="en-CA" dirty="0"/>
          </a:p>
          <a:p>
            <a:r>
              <a:rPr lang="en-CA" dirty="0"/>
              <a:t>Topic 12.1</a:t>
            </a:r>
          </a:p>
          <a:p>
            <a:pPr lvl="1"/>
            <a:r>
              <a:rPr lang="en-CA" dirty="0"/>
              <a:t>Ask the class “How does your antimalware software find malware?” Elicit answers that most antimalware software look for malicious files using a virus.dat file that contains a list of known malware.</a:t>
            </a:r>
          </a:p>
          <a:p>
            <a:pPr lvl="1"/>
            <a:r>
              <a:rPr lang="en-CA" dirty="0"/>
              <a:t>Tell the class “Like antimalware software, IDS and IPS identify malicious traffic using common signature characteristics identified in a file. A malicious packet flow has a specific type of activity and signature. IPS sensors are tuned to look for matching signatures or abnormal traffic patterns.” </a:t>
            </a:r>
          </a:p>
          <a:p>
            <a:endParaRPr lang="en-US" dirty="0"/>
          </a:p>
        </p:txBody>
      </p:sp>
    </p:spTree>
    <p:custDataLst>
      <p:tags r:id="rId1"/>
    </p:custDataLst>
    <p:extLst>
      <p:ext uri="{BB962C8B-B14F-4D97-AF65-F5344CB8AC3E}">
        <p14:creationId xmlns:p14="http://schemas.microsoft.com/office/powerpoint/2010/main" val="261434211"/>
      </p:ext>
    </p:extLst>
  </p:cSld>
  <p:clrMapOvr>
    <a:masterClrMapping/>
  </p:clrMapOvr>
  <p:transition spd="slow">
    <p:wipe/>
  </p:transition>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170" name="Rectangle 33"/>
          <p:cNvSpPr>
            <a:spLocks noGrp="1" noChangeArrowheads="1"/>
          </p:cNvSpPr>
          <p:nvPr>
            <p:ph type="title"/>
          </p:nvPr>
        </p:nvSpPr>
        <p:spPr>
          <a:xfrm>
            <a:off x="1" y="41393"/>
            <a:ext cx="9144000" cy="757551"/>
          </a:xfrm>
        </p:spPr>
        <p:txBody>
          <a:bodyPr/>
          <a:lstStyle/>
          <a:p>
            <a:r>
              <a:rPr lang="en-US" dirty="0"/>
              <a:t>Module 12: Best Practices (Cont.)</a:t>
            </a:r>
          </a:p>
        </p:txBody>
      </p:sp>
      <p:sp>
        <p:nvSpPr>
          <p:cNvPr id="7171" name="Rectangle 34"/>
          <p:cNvSpPr>
            <a:spLocks noGrp="1" noChangeArrowheads="1"/>
          </p:cNvSpPr>
          <p:nvPr>
            <p:ph idx="1"/>
          </p:nvPr>
        </p:nvSpPr>
        <p:spPr>
          <a:xfrm>
            <a:off x="144065" y="798944"/>
            <a:ext cx="8853286" cy="4155319"/>
          </a:xfrm>
        </p:spPr>
        <p:txBody>
          <a:bodyPr/>
          <a:lstStyle/>
          <a:p>
            <a:r>
              <a:rPr lang="en-CA" dirty="0"/>
              <a:t>Topic 12.2</a:t>
            </a:r>
          </a:p>
          <a:p>
            <a:pPr lvl="1"/>
            <a:r>
              <a:rPr lang="en-CA" dirty="0"/>
              <a:t>Ask the class “Can anyone tell me what a Snort IPS rule is? Explain that IPS signatures are configured using “rules”. These rules serve as the signature alarms by comparing incoming traffic to the Snort rules. Traffic matching a rule header generates an action.</a:t>
            </a:r>
          </a:p>
          <a:p>
            <a:endParaRPr lang="en-US" dirty="0"/>
          </a:p>
          <a:p>
            <a:r>
              <a:rPr lang="en-CA" dirty="0"/>
              <a:t>Topic 12.3</a:t>
            </a:r>
          </a:p>
          <a:p>
            <a:pPr lvl="1"/>
            <a:r>
              <a:rPr lang="en-CA" dirty="0"/>
              <a:t>Ask the class “Who can tell me what an OVA file is?” Elicit that an Open Virtualization Archive (OVA) is a file that contains a compressed, installable version of a virtual machine on an ISR 4000 running Cisco IOS XE Release images.</a:t>
            </a:r>
            <a:endParaRPr lang="en-US" dirty="0"/>
          </a:p>
        </p:txBody>
      </p:sp>
    </p:spTree>
    <p:custDataLst>
      <p:tags r:id="rId1"/>
    </p:custDataLst>
    <p:extLst>
      <p:ext uri="{BB962C8B-B14F-4D97-AF65-F5344CB8AC3E}">
        <p14:creationId xmlns:p14="http://schemas.microsoft.com/office/powerpoint/2010/main" val="1026332752"/>
      </p:ext>
    </p:extLst>
  </p:cSld>
  <p:clrMapOvr>
    <a:masterClrMapping/>
  </p:clrMapOvr>
  <p:transition spd="slow">
    <p:wipe/>
  </p:transition>
</p:sld>
</file>

<file path=ppt/slides/slide9.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1543050"/>
            <a:ext cx="6400800" cy="2571750"/>
          </a:xfrm>
          <a:prstGeom prst="rect">
            <a:avLst/>
          </a:prstGeom>
          <a:noFill/>
          <a:ln/>
        </p:spPr>
        <p:txBody>
          <a:bodyPr wrap="square" rtlCol="0"/>
          <a:lstStyle/>
          <a:p>
            <a:pPr marL="0" indent="0">
              <a:buNone/>
            </a:pPr>
            <a:r>
              <a:rPr lang="en-US" dirty="0"/>
              <a:t>Module 12: IPS Operation and Implementation</a:t>
            </a:r>
          </a:p>
        </p:txBody>
      </p:sp>
      <p:sp>
        <p:nvSpPr>
          <p:cNvPr id="3" name="Object2"/>
          <p:cNvSpPr>
            <a:spLocks noGrp="1"/>
          </p:cNvSpPr>
          <p:nvPr>
            <p:ph type="body" idx="101" hasCustomPrompt="1"/>
          </p:nvPr>
        </p:nvSpPr>
        <p:spPr>
          <a:xfrm>
            <a:off x="457200" y="4114800"/>
            <a:ext cx="3657600" cy="914400"/>
          </a:xfrm>
          <a:prstGeom prst="rect">
            <a:avLst/>
          </a:prstGeom>
          <a:noFill/>
          <a:ln/>
        </p:spPr>
        <p:txBody>
          <a:bodyPr wrap="square" rtlCol="0"/>
          <a:lstStyle/>
          <a:p>
            <a:pPr marL="0" indent="0">
              <a:buNone/>
            </a:pPr>
            <a:r>
              <a:rPr lang="en-US" dirty="0"/>
              <a:t>Networking Security v1.0</a:t>
            </a:r>
          </a:p>
          <a:p>
            <a:pPr marL="0" indent="0">
              <a:buNone/>
            </a:pPr>
            <a:r>
              <a:rPr lang="en-US" dirty="0"/>
              <a:t>(NETSEC)</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33"/>
          <p:cNvSpPr>
            <a:spLocks noGrp="1" noChangeArrowheads="1"/>
          </p:cNvSpPr>
          <p:nvPr>
            <p:ph type="title"/>
          </p:nvPr>
        </p:nvSpPr>
        <p:spPr>
          <a:xfrm>
            <a:off x="1" y="41394"/>
            <a:ext cx="9144000" cy="612812"/>
          </a:xfrm>
        </p:spPr>
        <p:txBody>
          <a:bodyPr/>
          <a:lstStyle/>
          <a:p>
            <a:pPr eaLnBrk="1" hangingPunct="1"/>
            <a:r>
              <a:rPr lang="en-US" dirty="0"/>
              <a:t>Module Objectives</a:t>
            </a:r>
          </a:p>
        </p:txBody>
      </p:sp>
      <p:sp>
        <p:nvSpPr>
          <p:cNvPr id="6147" name="Rectangle 34"/>
          <p:cNvSpPr>
            <a:spLocks noGrp="1" noChangeArrowheads="1"/>
          </p:cNvSpPr>
          <p:nvPr>
            <p:ph idx="1"/>
          </p:nvPr>
        </p:nvSpPr>
        <p:spPr>
          <a:xfrm>
            <a:off x="99461" y="654206"/>
            <a:ext cx="8731272" cy="827461"/>
          </a:xfrm>
        </p:spPr>
        <p:txBody>
          <a:bodyPr/>
          <a:lstStyle/>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Title: IPS Operation and Implementation		</a:t>
            </a:r>
            <a:endParaRPr lang="en-US" altLang="en-US" sz="1400" dirty="0">
              <a:solidFill>
                <a:schemeClr val="tx1"/>
              </a:solidFill>
              <a:ea typeface="Calibri" panose="020F0502020204030204" pitchFamily="34" charset="0"/>
              <a:cs typeface="Calibri" panose="020F0502020204030204" pitchFamily="34" charset="0"/>
            </a:endParaRPr>
          </a:p>
          <a:p>
            <a:pPr marL="0" lvl="0" indent="0" defTabSz="914400" eaLnBrk="0" hangingPunct="0">
              <a:spcBef>
                <a:spcPct val="0"/>
              </a:spcBef>
              <a:spcAft>
                <a:spcPct val="0"/>
              </a:spcAft>
              <a:buClrTx/>
              <a:buSzTx/>
              <a:buNone/>
            </a:pPr>
            <a:endParaRPr lang="en-US" altLang="en-US" sz="1400" dirty="0">
              <a:solidFill>
                <a:schemeClr val="tx1"/>
              </a:solidFill>
            </a:endParaRPr>
          </a:p>
          <a:p>
            <a:pPr marL="0" lvl="0" indent="0" defTabSz="914400" eaLnBrk="0" hangingPunct="0">
              <a:spcBef>
                <a:spcPct val="0"/>
              </a:spcBef>
              <a:spcAft>
                <a:spcPct val="0"/>
              </a:spcAft>
              <a:buClrTx/>
              <a:buSzTx/>
              <a:buNone/>
            </a:pPr>
            <a:r>
              <a:rPr lang="en-US" altLang="en-US" sz="1400" b="1" dirty="0">
                <a:solidFill>
                  <a:schemeClr val="tx1"/>
                </a:solidFill>
                <a:ea typeface="Calibri" panose="020F0502020204030204" pitchFamily="34" charset="0"/>
                <a:cs typeface="Calibri" panose="020F0502020204030204" pitchFamily="34" charset="0"/>
              </a:rPr>
              <a:t>Module Objective</a:t>
            </a:r>
            <a:r>
              <a:rPr lang="en-US" altLang="en-US" sz="1400" dirty="0">
                <a:solidFill>
                  <a:schemeClr val="tx1"/>
                </a:solidFill>
                <a:ea typeface="Calibri" panose="020F0502020204030204" pitchFamily="34" charset="0"/>
                <a:cs typeface="Calibri" panose="020F0502020204030204" pitchFamily="34" charset="0"/>
              </a:rPr>
              <a:t>: Explain how signatures are used to detect malicious network traffic.</a:t>
            </a:r>
            <a:endParaRPr lang="en-US" altLang="en-US" sz="1600" dirty="0">
              <a:solidFill>
                <a:schemeClr val="tx1"/>
              </a:solidFill>
              <a:latin typeface="Arial" panose="020B0604020202020204" pitchFamily="34" charset="0"/>
            </a:endParaRPr>
          </a:p>
          <a:p>
            <a:pPr marL="0" indent="0">
              <a:spcBef>
                <a:spcPct val="30000"/>
              </a:spcBef>
              <a:buNone/>
            </a:pPr>
            <a:endParaRPr lang="en-US" dirty="0"/>
          </a:p>
          <a:p>
            <a:pPr marL="89297" indent="0">
              <a:spcBef>
                <a:spcPct val="30000"/>
              </a:spcBef>
              <a:buNone/>
            </a:pPr>
            <a:endParaRPr lang="en-US" dirty="0"/>
          </a:p>
          <a:p>
            <a:pPr marL="89297" indent="0">
              <a:spcBef>
                <a:spcPct val="30000"/>
              </a:spcBef>
              <a:buNone/>
            </a:pPr>
            <a:endParaRPr lang="en-US" dirty="0"/>
          </a:p>
        </p:txBody>
      </p:sp>
      <p:graphicFrame>
        <p:nvGraphicFramePr>
          <p:cNvPr id="2" name="Table 1"/>
          <p:cNvGraphicFramePr>
            <a:graphicFrameLocks noGrp="1"/>
          </p:cNvGraphicFramePr>
          <p:nvPr>
            <p:extLst>
              <p:ext uri="{D42A27DB-BD31-4B8C-83A1-F6EECF244321}">
                <p14:modId xmlns:p14="http://schemas.microsoft.com/office/powerpoint/2010/main" val="1250237580"/>
              </p:ext>
            </p:extLst>
          </p:nvPr>
        </p:nvGraphicFramePr>
        <p:xfrm>
          <a:off x="423333" y="1625600"/>
          <a:ext cx="8263467" cy="1001475"/>
        </p:xfrm>
        <a:graphic>
          <a:graphicData uri="http://schemas.openxmlformats.org/drawingml/2006/table">
            <a:tbl>
              <a:tblPr firstRow="1" firstCol="1" bandRow="1">
                <a:tableStyleId>{5C22544A-7EE6-4342-B048-85BDC9FD1C3A}</a:tableStyleId>
              </a:tblPr>
              <a:tblGrid>
                <a:gridCol w="2917548">
                  <a:extLst>
                    <a:ext uri="{9D8B030D-6E8A-4147-A177-3AD203B41FA5}">
                      <a16:colId xmlns:a16="http://schemas.microsoft.com/office/drawing/2014/main" val="399010295"/>
                    </a:ext>
                  </a:extLst>
                </a:gridCol>
                <a:gridCol w="5345919">
                  <a:extLst>
                    <a:ext uri="{9D8B030D-6E8A-4147-A177-3AD203B41FA5}">
                      <a16:colId xmlns:a16="http://schemas.microsoft.com/office/drawing/2014/main" val="3417728144"/>
                    </a:ext>
                  </a:extLst>
                </a:gridCol>
              </a:tblGrid>
              <a:tr h="224116">
                <a:tc>
                  <a:txBody>
                    <a:bodyPr/>
                    <a:lstStyle/>
                    <a:p>
                      <a:pPr marL="0" marR="0">
                        <a:lnSpc>
                          <a:spcPct val="107000"/>
                        </a:lnSpc>
                        <a:spcBef>
                          <a:spcPts val="0"/>
                        </a:spcBef>
                        <a:spcAft>
                          <a:spcPts val="0"/>
                        </a:spcAft>
                      </a:pPr>
                      <a:r>
                        <a:rPr lang="en-US" sz="1200" dirty="0">
                          <a:effectLst/>
                        </a:rPr>
                        <a:t>Topic Title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tc>
                  <a:txBody>
                    <a:bodyPr/>
                    <a:lstStyle/>
                    <a:p>
                      <a:pPr marL="0" marR="0">
                        <a:lnSpc>
                          <a:spcPct val="107000"/>
                        </a:lnSpc>
                        <a:spcBef>
                          <a:spcPts val="0"/>
                        </a:spcBef>
                        <a:spcAft>
                          <a:spcPts val="0"/>
                        </a:spcAft>
                      </a:pPr>
                      <a:r>
                        <a:rPr lang="en-US" sz="1200" dirty="0">
                          <a:effectLst/>
                        </a:rPr>
                        <a:t>Topic Objective</a:t>
                      </a:r>
                      <a:endParaRPr lang="en-US" sz="1200" dirty="0">
                        <a:effectLst/>
                        <a:latin typeface="Calibri" panose="020F0502020204030204" pitchFamily="34" charset="0"/>
                        <a:ea typeface="Calibri" panose="020F0502020204030204" pitchFamily="34" charset="0"/>
                        <a:cs typeface="Times New Roman" panose="02020603050405020304" pitchFamily="18" charset="0"/>
                      </a:endParaRPr>
                    </a:p>
                  </a:txBody>
                  <a:tcPr marL="60168" marR="60168" marT="0" marB="0"/>
                </a:tc>
                <a:extLst>
                  <a:ext uri="{0D108BD9-81ED-4DB2-BD59-A6C34878D82A}">
                    <a16:rowId xmlns:a16="http://schemas.microsoft.com/office/drawing/2014/main" val="364302898"/>
                  </a:ext>
                </a:extLst>
              </a:tr>
              <a:tr h="263724">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IPS Signatures</a:t>
                      </a:r>
                    </a:p>
                  </a:txBody>
                  <a:tcPr marL="60168" marR="60168" marT="0" marB="0"/>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Describe IPS signatures.</a:t>
                      </a:r>
                    </a:p>
                  </a:txBody>
                  <a:tcPr marL="60168" marR="60168" marT="0" marB="0"/>
                </a:tc>
                <a:extLst>
                  <a:ext uri="{0D108BD9-81ED-4DB2-BD59-A6C34878D82A}">
                    <a16:rowId xmlns:a16="http://schemas.microsoft.com/office/drawing/2014/main" val="3530891527"/>
                  </a:ext>
                </a:extLst>
              </a:tr>
              <a:tr h="263724">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Cisco Snort IPS</a:t>
                      </a:r>
                    </a:p>
                  </a:txBody>
                  <a:tcPr marL="60168" marR="60168" marT="0" marB="0"/>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Explain how the Cisco Snort IPS provides network security services.</a:t>
                      </a:r>
                    </a:p>
                  </a:txBody>
                  <a:tcPr marL="60168" marR="60168" marT="0" marB="0"/>
                </a:tc>
                <a:extLst>
                  <a:ext uri="{0D108BD9-81ED-4DB2-BD59-A6C34878D82A}">
                    <a16:rowId xmlns:a16="http://schemas.microsoft.com/office/drawing/2014/main" val="662892947"/>
                  </a:ext>
                </a:extLst>
              </a:tr>
              <a:tr h="249911">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Configure Snort IPS</a:t>
                      </a:r>
                    </a:p>
                  </a:txBody>
                  <a:tcPr marL="60168" marR="60168" marT="0" marB="0"/>
                </a:tc>
                <a:tc>
                  <a:txBody>
                    <a:bodyPr/>
                    <a:lstStyle/>
                    <a:p>
                      <a:pPr marL="0" marR="0">
                        <a:lnSpc>
                          <a:spcPct val="107000"/>
                        </a:lnSpc>
                        <a:spcBef>
                          <a:spcPts val="0"/>
                        </a:spcBef>
                        <a:spcAft>
                          <a:spcPts val="0"/>
                        </a:spcAft>
                      </a:pPr>
                      <a:r>
                        <a:rPr lang="en-US" sz="1400" dirty="0">
                          <a:effectLst/>
                          <a:latin typeface="Calibri" panose="020F0502020204030204" pitchFamily="34" charset="0"/>
                          <a:ea typeface="Calibri" panose="020F0502020204030204" pitchFamily="34" charset="0"/>
                          <a:cs typeface="Times New Roman" panose="02020603050405020304" pitchFamily="18" charset="0"/>
                        </a:rPr>
                        <a:t>Explain how to configure Snort IPS on a Cisco ISR G2.</a:t>
                      </a:r>
                    </a:p>
                  </a:txBody>
                  <a:tcPr marL="60168" marR="60168" marT="0" marB="0"/>
                </a:tc>
                <a:extLst>
                  <a:ext uri="{0D108BD9-81ED-4DB2-BD59-A6C34878D82A}">
                    <a16:rowId xmlns:a16="http://schemas.microsoft.com/office/drawing/2014/main" val="2466644772"/>
                  </a:ext>
                </a:extLst>
              </a:tr>
            </a:tbl>
          </a:graphicData>
        </a:graphic>
      </p:graphicFrame>
    </p:spTree>
    <p:custDataLst>
      <p:tags r:id="rId1"/>
    </p:custDataLst>
    <p:extLst>
      <p:ext uri="{BB962C8B-B14F-4D97-AF65-F5344CB8AC3E}">
        <p14:creationId xmlns:p14="http://schemas.microsoft.com/office/powerpoint/2010/main" val="3381894665"/>
      </p:ext>
    </p:extLst>
  </p:cSld>
  <p:clrMapOvr>
    <a:masterClrMapping/>
  </p:clrMapOvr>
  <p:transition spd="slow">
    <p:wipe/>
  </p:transition>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12.1 IPS Signatures </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11</a:t>
            </a:fld>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 Signature Attributes</a:t>
            </a:r>
          </a:p>
        </p:txBody>
      </p:sp>
      <p:sp>
        <p:nvSpPr>
          <p:cNvPr id="5" name="Object4"/>
          <p:cNvSpPr/>
          <p:nvPr/>
        </p:nvSpPr>
        <p:spPr>
          <a:xfrm>
            <a:off x="-1" y="914400"/>
            <a:ext cx="9143999"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network must be able to identify incoming malicious traffic in order to stop it. Fortunately, malicious traffic displays distinct characteristics or “signatures”. Signatures uniquely identify specific viruses, worms, protocol anomalies, and malicious traffic. </a:t>
            </a:r>
          </a:p>
          <a:p>
            <a:pPr>
              <a:lnSpc>
                <a:spcPts val="2000"/>
              </a:lnSpc>
            </a:pPr>
            <a:endParaRPr lang="en-US" sz="1600" dirty="0">
              <a:latin typeface="Arial" panose="020B0604020202020204" pitchFamily="34" charset="0"/>
              <a:cs typeface="Arial" panose="020B0604020202020204" pitchFamily="34" charset="0"/>
            </a:endParaRPr>
          </a:p>
          <a:p>
            <a:pPr>
              <a:lnSpc>
                <a:spcPts val="2000"/>
              </a:lnSpc>
            </a:pPr>
            <a:r>
              <a:rPr lang="en-US" sz="1600" dirty="0">
                <a:latin typeface="Arial" panose="020B0604020202020204" pitchFamily="34" charset="0"/>
                <a:cs typeface="Arial" panose="020B0604020202020204" pitchFamily="34" charset="0"/>
              </a:rPr>
              <a:t>PS sensors must be tuned to look for matching signatures or abnormal traffic patterns. As sensors scan network packets, they use signatures to detect known attacks and respond with predefined actions. An IDS or IPS sensor examines the data flow using many different signatures.</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Signatures have three distinctive attributes: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Type</a:t>
            </a:r>
            <a:r>
              <a:rPr lang="en-US" sz="1600" dirty="0">
                <a:latin typeface="Arial" panose="020B0604020202020204" pitchFamily="34" charset="0"/>
                <a:cs typeface="Arial" panose="020B0604020202020204" pitchFamily="34" charset="0"/>
              </a:rPr>
              <a:t> - Atomic or Composite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Trigger</a:t>
            </a:r>
            <a:r>
              <a:rPr lang="en-US" sz="1600" dirty="0">
                <a:latin typeface="Arial" panose="020B0604020202020204" pitchFamily="34" charset="0"/>
                <a:cs typeface="Arial" panose="020B0604020202020204" pitchFamily="34" charset="0"/>
              </a:rPr>
              <a:t> - Also called the alarm</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Action</a:t>
            </a:r>
            <a:r>
              <a:rPr lang="en-US" sz="1600" dirty="0">
                <a:latin typeface="Arial" panose="020B0604020202020204" pitchFamily="34" charset="0"/>
                <a:cs typeface="Arial" panose="020B0604020202020204" pitchFamily="34" charset="0"/>
              </a:rPr>
              <a:t> - What the IPS will do</a:t>
            </a:r>
          </a:p>
          <a:p>
            <a:pPr>
              <a:lnSpc>
                <a:spcPts val="2000"/>
              </a:lnSpc>
            </a:pPr>
            <a:endParaRPr lang="en-US" sz="14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12</a:t>
            </a:fld>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Types of Signatures </a:t>
            </a:r>
          </a:p>
        </p:txBody>
      </p:sp>
      <p:sp>
        <p:nvSpPr>
          <p:cNvPr id="5" name="Object4"/>
          <p:cNvSpPr/>
          <p:nvPr/>
        </p:nvSpPr>
        <p:spPr>
          <a:xfrm>
            <a:off x="167080" y="860504"/>
            <a:ext cx="86868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Some threats can be identified in one packet while other threats may require many packets and their state information (i.e., IP addresses, port numbers, and more) to identify a threat.</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There are two types of signatures:</a:t>
            </a:r>
          </a:p>
          <a:p>
            <a:endParaRPr lang="en-US" sz="16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Atomic Signature -</a:t>
            </a:r>
            <a:r>
              <a:rPr lang="en-US" sz="1600" dirty="0">
                <a:effectLst/>
                <a:latin typeface="Arial" panose="020B0604020202020204" pitchFamily="34" charset="0"/>
                <a:cs typeface="Arial" panose="020B0604020202020204" pitchFamily="34" charset="0"/>
              </a:rPr>
              <a:t> This is the simplest type of signature because a single packet, activity, or event identifies an attack. The IPS does not need to maintain state information and traffic analysis can usually be performed very quickly and efficiently.</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Composite Signature -</a:t>
            </a:r>
            <a:r>
              <a:rPr lang="en-US" sz="1600" dirty="0">
                <a:effectLst/>
                <a:latin typeface="Arial" panose="020B0604020202020204" pitchFamily="34" charset="0"/>
                <a:cs typeface="Arial" panose="020B0604020202020204" pitchFamily="34" charset="0"/>
              </a:rPr>
              <a:t> Also called a stateful signature because the IPS requires several pieces of data to match an attack signature. The IPS must also maintain state information which is referred to as the event horizon. The length of an event horizon varies from one signature to the next.</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heart of any IPS signature is the signature alarm, which is often referred to as the signature trigger</a:t>
            </a:r>
            <a:r>
              <a:rPr lang="en-US" sz="1400" dirty="0">
                <a:effectLst/>
                <a:latin typeface="Arial" panose="020B0604020202020204" pitchFamily="34" charset="0"/>
                <a:cs typeface="Arial" panose="020B0604020202020204" pitchFamily="34" charset="0"/>
              </a:rPr>
              <a: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13</a:t>
            </a:fld>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 Signature Alarms</a:t>
            </a:r>
          </a:p>
        </p:txBody>
      </p:sp>
      <p:sp>
        <p:nvSpPr>
          <p:cNvPr id="7" name="TextBox 6">
            <a:extLst>
              <a:ext uri="{FF2B5EF4-FFF2-40B4-BE49-F238E27FC236}">
                <a16:creationId xmlns:a16="http://schemas.microsoft.com/office/drawing/2014/main" id="{553AF9D0-2A01-4F74-87AF-AE7C2FF9E726}"/>
              </a:ext>
            </a:extLst>
          </p:cNvPr>
          <p:cNvSpPr txBox="1"/>
          <p:nvPr/>
        </p:nvSpPr>
        <p:spPr>
          <a:xfrm>
            <a:off x="0" y="731520"/>
            <a:ext cx="9204556" cy="523220"/>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Every IPS incorporates signatures that use one or more of these basic triggering mechanisms to trigger signature actions. There are four general IPS signature trigger categories as listed in the table.</a:t>
            </a:r>
          </a:p>
        </p:txBody>
      </p:sp>
      <p:graphicFrame>
        <p:nvGraphicFramePr>
          <p:cNvPr id="12" name="Table 11"/>
          <p:cNvGraphicFramePr>
            <a:graphicFrameLocks noGrp="1"/>
          </p:cNvGraphicFramePr>
          <p:nvPr>
            <p:extLst>
              <p:ext uri="{D42A27DB-BD31-4B8C-83A1-F6EECF244321}">
                <p14:modId xmlns:p14="http://schemas.microsoft.com/office/powerpoint/2010/main" val="4216894328"/>
              </p:ext>
            </p:extLst>
          </p:nvPr>
        </p:nvGraphicFramePr>
        <p:xfrm>
          <a:off x="91440" y="1254740"/>
          <a:ext cx="8961120" cy="3246120"/>
        </p:xfrm>
        <a:graphic>
          <a:graphicData uri="http://schemas.openxmlformats.org/drawingml/2006/table">
            <a:tbl>
              <a:tblPr/>
              <a:tblGrid>
                <a:gridCol w="1816689">
                  <a:extLst>
                    <a:ext uri="{9D8B030D-6E8A-4147-A177-3AD203B41FA5}">
                      <a16:colId xmlns:a16="http://schemas.microsoft.com/office/drawing/2014/main" val="20000"/>
                    </a:ext>
                  </a:extLst>
                </a:gridCol>
                <a:gridCol w="7144431">
                  <a:extLst>
                    <a:ext uri="{9D8B030D-6E8A-4147-A177-3AD203B41FA5}">
                      <a16:colId xmlns:a16="http://schemas.microsoft.com/office/drawing/2014/main" val="20001"/>
                    </a:ext>
                  </a:extLst>
                </a:gridCol>
              </a:tblGrid>
              <a:tr h="0">
                <a:tc>
                  <a:txBody>
                    <a:bodyPr/>
                    <a:lstStyle/>
                    <a:p>
                      <a:r>
                        <a:rPr lang="en-US" sz="1200" dirty="0">
                          <a:solidFill>
                            <a:srgbClr val="FFFFFF"/>
                          </a:solidFill>
                        </a:rPr>
                        <a:t>Detection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Advantages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100" dirty="0">
                          <a:solidFill>
                            <a:srgbClr val="58585B"/>
                          </a:solidFill>
                        </a:rPr>
                        <a:t>Pattern-Based Detection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lgn="l">
                        <a:buFont typeface="Arial" panose="020B0604020202020204" pitchFamily="34" charset="0"/>
                        <a:buChar char="•"/>
                      </a:pPr>
                      <a:r>
                        <a:rPr lang="en-US" sz="1100" dirty="0">
                          <a:solidFill>
                            <a:srgbClr val="58585B"/>
                          </a:solidFill>
                        </a:rPr>
                        <a:t>Also known as signature-based detection.</a:t>
                      </a:r>
                      <a:endParaRPr lang="en-US" sz="1100" dirty="0"/>
                    </a:p>
                    <a:p>
                      <a:pPr marL="171450" indent="-171450" algn="l">
                        <a:buFont typeface="Arial" panose="020B0604020202020204" pitchFamily="34" charset="0"/>
                        <a:buChar char="•"/>
                      </a:pPr>
                      <a:r>
                        <a:rPr lang="en-US" sz="1100" dirty="0">
                          <a:solidFill>
                            <a:srgbClr val="58585B"/>
                          </a:solidFill>
                        </a:rPr>
                        <a:t>Simplest triggering mechanism as it searches for a specific and pre-defined atomic or composite pattern. </a:t>
                      </a:r>
                      <a:endParaRPr lang="en-US" sz="1100" dirty="0"/>
                    </a:p>
                    <a:p>
                      <a:pPr marL="171450" indent="-171450" algn="l">
                        <a:buFont typeface="Arial" panose="020B0604020202020204" pitchFamily="34" charset="0"/>
                        <a:buChar char="•"/>
                      </a:pPr>
                      <a:r>
                        <a:rPr lang="en-US" sz="1100" dirty="0">
                          <a:solidFill>
                            <a:srgbClr val="58585B"/>
                          </a:solidFill>
                        </a:rPr>
                        <a:t>A IPS sensor compares the network traffic to a database of known attacks, and triggers an alarm or prevents communication if a match is found.</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100" dirty="0">
                          <a:solidFill>
                            <a:srgbClr val="58585B"/>
                          </a:solidFill>
                        </a:rPr>
                        <a:t>Anomaly-Based Detection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dirty="0">
                          <a:solidFill>
                            <a:srgbClr val="58585B"/>
                          </a:solidFill>
                        </a:rPr>
                        <a:t>Also known as profile-based detection.</a:t>
                      </a:r>
                      <a:endParaRPr lang="en-US" sz="1100" dirty="0"/>
                    </a:p>
                    <a:p>
                      <a:pPr marL="171450" indent="-171450">
                        <a:buFont typeface="Arial" panose="020B0604020202020204" pitchFamily="34" charset="0"/>
                        <a:buChar char="•"/>
                      </a:pPr>
                      <a:r>
                        <a:rPr lang="en-US" sz="1100" dirty="0">
                          <a:solidFill>
                            <a:srgbClr val="58585B"/>
                          </a:solidFill>
                        </a:rPr>
                        <a:t>Involves first defining a profile of what is considered normal network or host activity. </a:t>
                      </a:r>
                      <a:endParaRPr lang="en-US" sz="1100" dirty="0"/>
                    </a:p>
                    <a:p>
                      <a:pPr marL="171450" indent="-171450">
                        <a:buFont typeface="Arial" panose="020B0604020202020204" pitchFamily="34" charset="0"/>
                        <a:buChar char="•"/>
                      </a:pPr>
                      <a:r>
                        <a:rPr lang="en-US" sz="1100" dirty="0">
                          <a:solidFill>
                            <a:srgbClr val="58585B"/>
                          </a:solidFill>
                        </a:rPr>
                        <a:t>This normal profile is usually defined by monitoring traffic and establishing a baseline. </a:t>
                      </a:r>
                      <a:endParaRPr lang="en-US" sz="1100" dirty="0"/>
                    </a:p>
                    <a:p>
                      <a:pPr marL="171450" indent="-171450">
                        <a:buFont typeface="Arial" panose="020B0604020202020204" pitchFamily="34" charset="0"/>
                        <a:buChar char="•"/>
                      </a:pPr>
                      <a:r>
                        <a:rPr lang="en-US" sz="1100" dirty="0">
                          <a:solidFill>
                            <a:srgbClr val="58585B"/>
                          </a:solidFill>
                        </a:rPr>
                        <a:t>Once defined, any activity beyond a specified threshold in the normal profile will generate a signature trigger and action.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100" dirty="0">
                          <a:solidFill>
                            <a:srgbClr val="58585B"/>
                          </a:solidFill>
                        </a:rPr>
                        <a:t>Policy-Based Detection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pPr marL="171450" indent="-171450">
                        <a:buFont typeface="Arial" panose="020B0604020202020204" pitchFamily="34" charset="0"/>
                        <a:buChar char="•"/>
                      </a:pPr>
                      <a:r>
                        <a:rPr lang="en-US" sz="1100" dirty="0">
                          <a:solidFill>
                            <a:srgbClr val="58585B"/>
                          </a:solidFill>
                        </a:rPr>
                        <a:t>Also known as behavior-based detection.</a:t>
                      </a:r>
                      <a:endParaRPr lang="en-US" sz="1100" dirty="0"/>
                    </a:p>
                    <a:p>
                      <a:pPr marL="171450" indent="-171450">
                        <a:buFont typeface="Arial" panose="020B0604020202020204" pitchFamily="34" charset="0"/>
                        <a:buChar char="•"/>
                      </a:pPr>
                      <a:r>
                        <a:rPr lang="en-US" sz="1100" dirty="0">
                          <a:solidFill>
                            <a:srgbClr val="58585B"/>
                          </a:solidFill>
                        </a:rPr>
                        <a:t>Although similar to pattern-based detection, an administrator manually defines behaviors that are suspicious based on historical analysis. </a:t>
                      </a:r>
                      <a:endParaRPr lang="en-US" sz="1100" dirty="0"/>
                    </a:p>
                    <a:p>
                      <a:pPr marL="171450" indent="-171450">
                        <a:buFont typeface="Arial" panose="020B0604020202020204" pitchFamily="34" charset="0"/>
                        <a:buChar char="•"/>
                      </a:pPr>
                      <a:r>
                        <a:rPr lang="en-US" sz="1100" dirty="0">
                          <a:solidFill>
                            <a:srgbClr val="58585B"/>
                          </a:solidFill>
                        </a:rPr>
                        <a:t>The use of behaviors enables a single signature to cover an entire class of activities without having to specify each individual situation.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100" dirty="0">
                          <a:solidFill>
                            <a:srgbClr val="58585B"/>
                          </a:solidFill>
                        </a:rPr>
                        <a:t>Honey Pot-Based Detection</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171450" indent="-171450">
                        <a:buFont typeface="Arial" panose="020B0604020202020204" pitchFamily="34" charset="0"/>
                        <a:buChar char="•"/>
                      </a:pPr>
                      <a:r>
                        <a:rPr lang="en-US" sz="1100" dirty="0">
                          <a:solidFill>
                            <a:srgbClr val="58585B"/>
                          </a:solidFill>
                        </a:rPr>
                        <a:t>Honey pot-based detection uses a server as a decoy server to attract attacks. </a:t>
                      </a:r>
                      <a:endParaRPr lang="en-US" sz="1100" dirty="0"/>
                    </a:p>
                    <a:p>
                      <a:pPr marL="171450" indent="-171450">
                        <a:buFont typeface="Arial" panose="020B0604020202020204" pitchFamily="34" charset="0"/>
                        <a:buChar char="•"/>
                      </a:pPr>
                      <a:r>
                        <a:rPr lang="en-US" sz="1100" dirty="0">
                          <a:solidFill>
                            <a:srgbClr val="58585B"/>
                          </a:solidFill>
                        </a:rPr>
                        <a:t>The purpose of a decoy server is to lure attacks away from production devices.</a:t>
                      </a:r>
                      <a:endParaRPr lang="en-US" sz="1100" dirty="0"/>
                    </a:p>
                    <a:p>
                      <a:pPr marL="171450" indent="-171450">
                        <a:buFont typeface="Arial" panose="020B0604020202020204" pitchFamily="34" charset="0"/>
                        <a:buChar char="•"/>
                      </a:pPr>
                      <a:r>
                        <a:rPr lang="en-US" sz="1100" dirty="0">
                          <a:solidFill>
                            <a:srgbClr val="58585B"/>
                          </a:solidFill>
                        </a:rPr>
                        <a:t>Allows administrators time to analyze incoming attacks and malicious traffic patterns to tune their sensor signatures.</a:t>
                      </a:r>
                      <a:endParaRPr lang="en-US" sz="11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14</a:t>
            </a:fld>
            <a:endParaRPr lang="en-US"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 Signature Actions</a:t>
            </a:r>
          </a:p>
        </p:txBody>
      </p:sp>
      <p:graphicFrame>
        <p:nvGraphicFramePr>
          <p:cNvPr id="13" name="Table 12"/>
          <p:cNvGraphicFramePr>
            <a:graphicFrameLocks noGrp="1"/>
          </p:cNvGraphicFramePr>
          <p:nvPr>
            <p:extLst>
              <p:ext uri="{D42A27DB-BD31-4B8C-83A1-F6EECF244321}">
                <p14:modId xmlns:p14="http://schemas.microsoft.com/office/powerpoint/2010/main" val="2598051828"/>
              </p:ext>
            </p:extLst>
          </p:nvPr>
        </p:nvGraphicFramePr>
        <p:xfrm>
          <a:off x="91440" y="911372"/>
          <a:ext cx="8961120" cy="3429000"/>
        </p:xfrm>
        <a:graphic>
          <a:graphicData uri="http://schemas.openxmlformats.org/drawingml/2006/table">
            <a:tbl>
              <a:tblPr/>
              <a:tblGrid>
                <a:gridCol w="1604356">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5345084">
                  <a:extLst>
                    <a:ext uri="{9D8B030D-6E8A-4147-A177-3AD203B41FA5}">
                      <a16:colId xmlns:a16="http://schemas.microsoft.com/office/drawing/2014/main" val="20002"/>
                    </a:ext>
                  </a:extLst>
                </a:gridCol>
              </a:tblGrid>
              <a:tr h="0">
                <a:tc>
                  <a:txBody>
                    <a:bodyPr/>
                    <a:lstStyle/>
                    <a:p>
                      <a:r>
                        <a:rPr lang="en-US" sz="1200" dirty="0">
                          <a:solidFill>
                            <a:srgbClr val="FFFFFF"/>
                          </a:solidFill>
                        </a:rPr>
                        <a:t>Alert Category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Specific Action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Generate an alert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dirty="0">
                          <a:solidFill>
                            <a:srgbClr val="58585B"/>
                          </a:solidFill>
                        </a:rPr>
                        <a:t>Produce alert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dirty="0">
                          <a:solidFill>
                            <a:srgbClr val="58585B"/>
                          </a:solidFill>
                        </a:rPr>
                        <a:t>The IPS sends events as alerts.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1"/>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Generate an alert</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Produce verbose alert</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The IPS sends a detailed event alert.</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616018510"/>
                  </a:ext>
                </a:extLst>
              </a:tr>
              <a:tr h="0">
                <a:tc>
                  <a:txBody>
                    <a:bodyPr/>
                    <a:lstStyle/>
                    <a:p>
                      <a:r>
                        <a:rPr lang="en-US" sz="1200" dirty="0">
                          <a:solidFill>
                            <a:srgbClr val="58585B"/>
                          </a:solidFill>
                        </a:rPr>
                        <a:t>Log the activity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dirty="0">
                          <a:solidFill>
                            <a:srgbClr val="58585B"/>
                          </a:solidFill>
                        </a:rPr>
                        <a:t>Log attacker packets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r>
                        <a:rPr lang="en-US" sz="1200" dirty="0">
                          <a:solidFill>
                            <a:srgbClr val="58585B"/>
                          </a:solidFill>
                        </a:rPr>
                        <a:t>Logs packets from the attacker IP address and sends an alert.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 the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 pair packets</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Logs packets from the victim and attacker IP addresses and sends an alert.</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352294498"/>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 the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 victim packets</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Logs packets from the victim IP address and sends an alert.</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782709253"/>
                  </a:ext>
                </a:extLst>
              </a:tr>
              <a:tr h="0">
                <a:tc>
                  <a:txBody>
                    <a:bodyPr/>
                    <a:lstStyle/>
                    <a:p>
                      <a:r>
                        <a:rPr lang="en-US" sz="1200" dirty="0">
                          <a:solidFill>
                            <a:srgbClr val="58585B"/>
                          </a:solidFill>
                        </a:rPr>
                        <a:t>Deny the activity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Deny attacker inline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Terminates the current packet and future packets from this attacker address for a specified period of time.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no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Deny the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D9D9"/>
                    </a:solidFill>
                  </a:tcPr>
                </a:tc>
                <a:tc>
                  <a:txBody>
                    <a:bodyPr/>
                    <a:lstStyle/>
                    <a:p>
                      <a:r>
                        <a:rPr lang="en-US" sz="1200" dirty="0">
                          <a:solidFill>
                            <a:srgbClr val="58585B"/>
                          </a:solidFill>
                        </a:rPr>
                        <a:t>Deny connection inline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no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D9D9D9"/>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Logs packets from the victim IP address and sends an alert.</a:t>
                      </a:r>
                      <a:endParaRPr lang="en-US" sz="1200" dirty="0"/>
                    </a:p>
                  </a:txBody>
                  <a:tcPr marL="38100" marR="38100" marT="38100" marB="38100">
                    <a:lnL w="25400" cap="flat" cmpd="sng" algn="ctr">
                      <a:noFill/>
                      <a:prstDash val="solid"/>
                      <a:round/>
                      <a:headEnd type="none" w="med" len="med"/>
                      <a:tailEnd type="none" w="med" len="med"/>
                    </a:lnL>
                    <a:lnR w="12700" cmpd="sng">
                      <a:noFill/>
                      <a:prstDash val="solid"/>
                    </a:lnR>
                    <a:lnT w="2540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0007"/>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Deny the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Deny packet inline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no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Terminates the current packet and future packets from this attacker address for a specified period of time.</a:t>
                      </a:r>
                      <a:endParaRPr lang="en-US" sz="1200" dirty="0"/>
                    </a:p>
                  </a:txBody>
                  <a:tcPr marL="38100" marR="38100" marT="38100" marB="38100">
                    <a:lnL w="25400" cap="flat" cmpd="sng" algn="ctr">
                      <a:noFill/>
                      <a:prstDash val="solid"/>
                      <a:round/>
                      <a:headEnd type="none" w="med" len="med"/>
                      <a:tailEnd type="none" w="med" len="med"/>
                    </a:lnL>
                    <a:lnR w="12700" cmpd="sng">
                      <a:noFill/>
                      <a:prstDash val="solid"/>
                    </a:lnR>
                    <a:lnT w="12700" cmpd="sng">
                      <a:noFill/>
                      <a:prstDash val="solid"/>
                    </a:lnT>
                    <a:lnB w="12700" cmpd="sng">
                      <a:noFill/>
                      <a:prstDash val="soli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0008"/>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15</a:t>
            </a:fld>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IPS Signature Actions (Cont.)</a:t>
            </a:r>
          </a:p>
        </p:txBody>
      </p:sp>
      <p:graphicFrame>
        <p:nvGraphicFramePr>
          <p:cNvPr id="13" name="Table 12"/>
          <p:cNvGraphicFramePr>
            <a:graphicFrameLocks noGrp="1"/>
          </p:cNvGraphicFramePr>
          <p:nvPr>
            <p:extLst>
              <p:ext uri="{D42A27DB-BD31-4B8C-83A1-F6EECF244321}">
                <p14:modId xmlns:p14="http://schemas.microsoft.com/office/powerpoint/2010/main" val="497366722"/>
              </p:ext>
            </p:extLst>
          </p:nvPr>
        </p:nvGraphicFramePr>
        <p:xfrm>
          <a:off x="91440" y="1371600"/>
          <a:ext cx="8961120" cy="2209800"/>
        </p:xfrm>
        <a:graphic>
          <a:graphicData uri="http://schemas.openxmlformats.org/drawingml/2006/table">
            <a:tbl>
              <a:tblPr/>
              <a:tblGrid>
                <a:gridCol w="2987040">
                  <a:extLst>
                    <a:ext uri="{9D8B030D-6E8A-4147-A177-3AD203B41FA5}">
                      <a16:colId xmlns:a16="http://schemas.microsoft.com/office/drawing/2014/main" val="20000"/>
                    </a:ext>
                  </a:extLst>
                </a:gridCol>
                <a:gridCol w="2987040">
                  <a:extLst>
                    <a:ext uri="{9D8B030D-6E8A-4147-A177-3AD203B41FA5}">
                      <a16:colId xmlns:a16="http://schemas.microsoft.com/office/drawing/2014/main" val="20001"/>
                    </a:ext>
                  </a:extLst>
                </a:gridCol>
                <a:gridCol w="2987040">
                  <a:extLst>
                    <a:ext uri="{9D8B030D-6E8A-4147-A177-3AD203B41FA5}">
                      <a16:colId xmlns:a16="http://schemas.microsoft.com/office/drawing/2014/main" val="20002"/>
                    </a:ext>
                  </a:extLst>
                </a:gridCol>
              </a:tblGrid>
              <a:tr h="0">
                <a:tc>
                  <a:txBody>
                    <a:bodyPr/>
                    <a:lstStyle/>
                    <a:p>
                      <a:r>
                        <a:rPr lang="en-US" sz="1200" dirty="0">
                          <a:solidFill>
                            <a:srgbClr val="FFFFFF"/>
                          </a:solidFill>
                        </a:rPr>
                        <a:t>Alert Category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Specific Action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Description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Reset the TCP connection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Reset TCP connection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Sends TCP resets to hijack and terminate the TCP flow.</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Block future activity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Request block connection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Sends a request to a blocking device to block this connection.</a:t>
                      </a:r>
                      <a:endParaRPr lang="en-US" sz="1200" dirty="0"/>
                    </a:p>
                  </a:txBody>
                  <a:tcPr marL="38100" marR="38100" marT="38100" marB="38100">
                    <a:lnL w="25400" cap="flat" cmpd="sng" algn="ctr">
                      <a:solidFill>
                        <a:srgbClr val="FFFFFF"/>
                      </a:solidFill>
                      <a:prstDash val="solid"/>
                      <a:round/>
                      <a:headEnd type="none" w="med" len="med"/>
                      <a:tailEnd type="none" w="med" len="med"/>
                    </a:lnL>
                    <a:lnR w="12700" cmpd="sng">
                      <a:noFill/>
                      <a:prstDash val="solid"/>
                    </a:lnR>
                    <a:lnT w="25400" cap="flat" cmpd="sng" algn="ctr">
                      <a:solidFill>
                        <a:srgbClr val="FFFFFF"/>
                      </a:solidFill>
                      <a:prstDash val="solid"/>
                      <a:round/>
                      <a:headEnd type="none" w="med" len="med"/>
                      <a:tailEnd type="none" w="med" len="med"/>
                    </a:lnT>
                    <a:lnB w="12700" cmpd="sng">
                      <a:noFill/>
                      <a:prstDash val="solid"/>
                    </a:lnB>
                    <a:solidFill>
                      <a:schemeClr val="bg1">
                        <a:lumMod val="95000"/>
                      </a:schemeClr>
                    </a:solidFill>
                  </a:tcPr>
                </a:tc>
                <a:extLst>
                  <a:ext uri="{0D108BD9-81ED-4DB2-BD59-A6C34878D82A}">
                    <a16:rowId xmlns:a16="http://schemas.microsoft.com/office/drawing/2014/main" val="10002"/>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Block future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Request block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Sends a request to a blocking device to block this attacker host.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12700" cmpd="sng">
                      <a:noFill/>
                      <a:prstDash val="soli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dirty="0">
                          <a:solidFill>
                            <a:srgbClr val="58585B"/>
                          </a:solidFill>
                        </a:rPr>
                        <a:t>Block future activity</a:t>
                      </a:r>
                      <a:endParaRPr lang="en-US" sz="1200" dirty="0"/>
                    </a:p>
                    <a:p>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Request SNMP trap</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Sends a request to the notification application component of the sensor to perform SNMP notification.</a:t>
                      </a:r>
                      <a:endParaRPr lang="en-US" sz="1200" dirty="0"/>
                    </a:p>
                  </a:txBody>
                  <a:tcPr marL="38100" marR="38100" marT="38100" marB="38100">
                    <a:lnL w="25400" cap="flat" cmpd="sng" algn="ctr">
                      <a:solidFill>
                        <a:srgbClr val="FFFFFF"/>
                      </a:solidFill>
                      <a:prstDash val="solid"/>
                      <a:round/>
                      <a:headEnd type="none" w="med" len="med"/>
                      <a:tailEnd type="none" w="med" len="med"/>
                    </a:lnL>
                    <a:lnR w="12700" cmpd="sng">
                      <a:noFill/>
                      <a:prstDash val="solid"/>
                    </a:lnR>
                    <a:lnT w="25400" cap="flat" cmpd="sng" algn="ctr">
                      <a:solidFill>
                        <a:srgbClr val="FFFFFF"/>
                      </a:solidFill>
                      <a:prstDash val="solid"/>
                      <a:round/>
                      <a:headEnd type="none" w="med" len="med"/>
                      <a:tailEnd type="none" w="med" len="med"/>
                    </a:lnT>
                    <a:lnB w="12700" cmpd="sng">
                      <a:noFill/>
                      <a:prstDash val="soli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16</a:t>
            </a:fld>
            <a:endParaRPr lang="en-US" dirty="0"/>
          </a:p>
        </p:txBody>
      </p:sp>
    </p:spTree>
    <p:extLst>
      <p:ext uri="{BB962C8B-B14F-4D97-AF65-F5344CB8AC3E}">
        <p14:creationId xmlns:p14="http://schemas.microsoft.com/office/powerpoint/2010/main" val="333614930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50098"/>
            <a:ext cx="9144000" cy="914400"/>
          </a:xfrm>
          <a:prstGeom prst="rect">
            <a:avLst/>
          </a:prstGeom>
          <a:noFill/>
          <a:ln/>
        </p:spPr>
        <p:txBody>
          <a:bodyPr wrap="square" rtlCol="0"/>
          <a:lstStyle/>
          <a:p>
            <a:pPr marL="0" indent="0">
              <a:buNone/>
            </a:pPr>
            <a:r>
              <a:rPr lang="en-US" dirty="0"/>
              <a:t>Evaluating Alerts</a:t>
            </a:r>
          </a:p>
        </p:txBody>
      </p:sp>
      <p:sp>
        <p:nvSpPr>
          <p:cNvPr id="7" name="TextBox 6">
            <a:extLst>
              <a:ext uri="{FF2B5EF4-FFF2-40B4-BE49-F238E27FC236}">
                <a16:creationId xmlns:a16="http://schemas.microsoft.com/office/drawing/2014/main" id="{BBCD3E97-5F9B-4EB7-8656-7007B2490213}"/>
              </a:ext>
            </a:extLst>
          </p:cNvPr>
          <p:cNvSpPr txBox="1"/>
          <p:nvPr/>
        </p:nvSpPr>
        <p:spPr>
          <a:xfrm>
            <a:off x="91439" y="735770"/>
            <a:ext cx="8840613" cy="369332"/>
          </a:xfrm>
          <a:prstGeom prst="rect">
            <a:avLst/>
          </a:prstGeom>
          <a:noFill/>
        </p:spPr>
        <p:txBody>
          <a:bodyPr wrap="square">
            <a:spAutoFit/>
          </a:bodyPr>
          <a:lstStyle/>
          <a:p>
            <a:r>
              <a:rPr lang="en-US" dirty="0">
                <a:latin typeface="Arial" panose="020B0604020202020204" pitchFamily="34" charset="0"/>
                <a:cs typeface="Arial" panose="020B0604020202020204" pitchFamily="34" charset="0"/>
              </a:rPr>
              <a:t>The table summarizes the following four types of alarms.</a:t>
            </a:r>
          </a:p>
        </p:txBody>
      </p:sp>
      <p:graphicFrame>
        <p:nvGraphicFramePr>
          <p:cNvPr id="14" name="Table 13"/>
          <p:cNvGraphicFramePr>
            <a:graphicFrameLocks noGrp="1"/>
          </p:cNvGraphicFramePr>
          <p:nvPr>
            <p:extLst>
              <p:ext uri="{D42A27DB-BD31-4B8C-83A1-F6EECF244321}">
                <p14:modId xmlns:p14="http://schemas.microsoft.com/office/powerpoint/2010/main" val="1862315017"/>
              </p:ext>
            </p:extLst>
          </p:nvPr>
        </p:nvGraphicFramePr>
        <p:xfrm>
          <a:off x="91439" y="1164498"/>
          <a:ext cx="8961120" cy="1295400"/>
        </p:xfrm>
        <a:graphic>
          <a:graphicData uri="http://schemas.openxmlformats.org/drawingml/2006/table">
            <a:tbl>
              <a:tblPr/>
              <a:tblGrid>
                <a:gridCol w="224028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240280">
                  <a:extLst>
                    <a:ext uri="{9D8B030D-6E8A-4147-A177-3AD203B41FA5}">
                      <a16:colId xmlns:a16="http://schemas.microsoft.com/office/drawing/2014/main" val="20002"/>
                    </a:ext>
                  </a:extLst>
                </a:gridCol>
                <a:gridCol w="2240280">
                  <a:extLst>
                    <a:ext uri="{9D8B030D-6E8A-4147-A177-3AD203B41FA5}">
                      <a16:colId xmlns:a16="http://schemas.microsoft.com/office/drawing/2014/main" val="20003"/>
                    </a:ext>
                  </a:extLst>
                </a:gridCol>
              </a:tblGrid>
              <a:tr h="0">
                <a:tc>
                  <a:txBody>
                    <a:bodyPr/>
                    <a:lstStyle/>
                    <a:p>
                      <a:r>
                        <a:rPr lang="en-US" sz="1200" dirty="0">
                          <a:solidFill>
                            <a:srgbClr val="FFFFFF"/>
                          </a:solidFill>
                        </a:rPr>
                        <a:t>Alarm 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Network Activity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IPS Activity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Outcome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True positive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Attack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Alarm generated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Ideal setting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True negative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Normal user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No alarm generated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Ideal setting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False positive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Normal user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Alarm generated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Tune alarm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False negative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Attack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No alarm generated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Tune alarm</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bl>
          </a:graphicData>
        </a:graphic>
      </p:graphicFrame>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17</a:t>
            </a:fld>
            <a:endParaRPr 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Signatures </a:t>
            </a:r>
          </a:p>
        </p:txBody>
      </p:sp>
      <p:sp>
        <p:nvSpPr>
          <p:cNvPr id="3" name="Object2"/>
          <p:cNvSpPr>
            <a:spLocks noGrp="1"/>
          </p:cNvSpPr>
          <p:nvPr>
            <p:ph type="body" idx="100" hasCustomPrompt="1"/>
          </p:nvPr>
        </p:nvSpPr>
        <p:spPr>
          <a:xfrm>
            <a:off x="0" y="250098"/>
            <a:ext cx="9144000" cy="914400"/>
          </a:xfrm>
          <a:prstGeom prst="rect">
            <a:avLst/>
          </a:prstGeom>
          <a:noFill/>
          <a:ln/>
        </p:spPr>
        <p:txBody>
          <a:bodyPr wrap="square" rtlCol="0"/>
          <a:lstStyle/>
          <a:p>
            <a:pPr marL="0" indent="0">
              <a:buNone/>
            </a:pPr>
            <a:r>
              <a:rPr lang="en-US" dirty="0"/>
              <a:t>Evaluating Alerts (Cont.)</a:t>
            </a:r>
          </a:p>
        </p:txBody>
      </p:sp>
      <p:sp>
        <p:nvSpPr>
          <p:cNvPr id="9" name="TextBox 8">
            <a:extLst>
              <a:ext uri="{FF2B5EF4-FFF2-40B4-BE49-F238E27FC236}">
                <a16:creationId xmlns:a16="http://schemas.microsoft.com/office/drawing/2014/main" id="{6C3230F0-FB62-4A9D-9535-E7D4A1F08DE5}"/>
              </a:ext>
            </a:extLst>
          </p:cNvPr>
          <p:cNvSpPr txBox="1"/>
          <p:nvPr/>
        </p:nvSpPr>
        <p:spPr>
          <a:xfrm>
            <a:off x="0" y="707298"/>
            <a:ext cx="8841219" cy="3970318"/>
          </a:xfrm>
          <a:prstGeom prst="rect">
            <a:avLst/>
          </a:prstGeom>
          <a:noFill/>
        </p:spPr>
        <p:txBody>
          <a:bodyPr wrap="square">
            <a:spAutoFit/>
          </a:bodyPr>
          <a:lstStyle/>
          <a:p>
            <a:r>
              <a:rPr lang="en-US" sz="1400" dirty="0">
                <a:latin typeface="Arial" panose="020B0604020202020204" pitchFamily="34" charset="0"/>
                <a:cs typeface="Arial" panose="020B0604020202020204" pitchFamily="34" charset="0"/>
              </a:rPr>
              <a:t>Alerts can be classified as follows:</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True positive </a:t>
            </a:r>
            <a:r>
              <a:rPr lang="en-US" sz="1400" dirty="0">
                <a:latin typeface="Arial" panose="020B0604020202020204" pitchFamily="34" charset="0"/>
                <a:cs typeface="Arial" panose="020B0604020202020204" pitchFamily="34" charset="0"/>
              </a:rPr>
              <a:t>- (Desirable) This is used when the IPS generates an alarm because it detected know attack traffic. The alert has been verified to be an actual security incident and also indicates that the IPS rule worked correctly.</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True negative </a:t>
            </a:r>
            <a:r>
              <a:rPr lang="en-US" sz="1400" dirty="0">
                <a:latin typeface="Arial" panose="020B0604020202020204" pitchFamily="34" charset="0"/>
                <a:cs typeface="Arial" panose="020B0604020202020204" pitchFamily="34" charset="0"/>
              </a:rPr>
              <a:t>- (Desirable) This is used when normal network traffic does not generate an alarm. No alerts are issued because the traffic that is passing through the system is clear of threats.</a:t>
            </a:r>
          </a:p>
          <a:p>
            <a:endParaRPr lang="en-US" sz="1400" b="1"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False positive </a:t>
            </a:r>
            <a:r>
              <a:rPr lang="en-US" sz="1400" dirty="0">
                <a:latin typeface="Arial" panose="020B0604020202020204" pitchFamily="34" charset="0"/>
                <a:cs typeface="Arial" panose="020B0604020202020204" pitchFamily="34" charset="0"/>
              </a:rPr>
              <a:t>- (Undesirable) This is used when an IPS generates an alarm after processing normal user traffic that should not have triggered an alarm. The IPS must be tuned to change these alarm types to true negatives. The alert does not indicate an actual security incident. Benign activity that results in a false positive is sometimes referred to as a benign trigger. False positives are costly because they must be investigated.</a:t>
            </a:r>
          </a:p>
          <a:p>
            <a:endParaRPr lang="en-US" sz="1400" dirty="0">
              <a:latin typeface="Arial" panose="020B0604020202020204" pitchFamily="34" charset="0"/>
              <a:cs typeface="Arial" panose="020B0604020202020204" pitchFamily="34" charset="0"/>
            </a:endParaRPr>
          </a:p>
          <a:p>
            <a:r>
              <a:rPr lang="en-US" sz="1400" b="1" dirty="0">
                <a:latin typeface="Arial" panose="020B0604020202020204" pitchFamily="34" charset="0"/>
                <a:cs typeface="Arial" panose="020B0604020202020204" pitchFamily="34" charset="0"/>
              </a:rPr>
              <a:t>False negative </a:t>
            </a:r>
            <a:r>
              <a:rPr lang="en-US" sz="1400" dirty="0">
                <a:latin typeface="Arial" panose="020B0604020202020204" pitchFamily="34" charset="0"/>
                <a:cs typeface="Arial" panose="020B0604020202020204" pitchFamily="34" charset="0"/>
              </a:rPr>
              <a:t>- (Dangerous) This is used when an IPS fails to generate an alarm and known attacks are not being detected. This means that exploits are not being detected by the security systems that are in place. These incidents could go undetected for a long time, and ongoing data loss and damage could result. The goal is for these alarm types to generate true positive alarms.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18</a:t>
            </a:fld>
            <a:endParaRPr lang="en-US" dirty="0"/>
          </a:p>
        </p:txBody>
      </p:sp>
    </p:spTree>
    <p:extLst>
      <p:ext uri="{BB962C8B-B14F-4D97-AF65-F5344CB8AC3E}">
        <p14:creationId xmlns:p14="http://schemas.microsoft.com/office/powerpoint/2010/main" val="258345322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12.2 Cisco Snort 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19</a:t>
            </a:fld>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Cisco IPS</a:t>
            </a:r>
          </a:p>
        </p:txBody>
      </p:sp>
      <p:sp>
        <p:nvSpPr>
          <p:cNvPr id="5" name="Object4"/>
          <p:cNvSpPr/>
          <p:nvPr/>
        </p:nvSpPr>
        <p:spPr>
          <a:xfrm>
            <a:off x="0"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Organizations now have three options available to provide intrusion prevention services.</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Cisco Firepower Next-Generation IPS (NGIPS)</a:t>
            </a:r>
            <a:r>
              <a:rPr lang="en-US" sz="1600" dirty="0">
                <a:latin typeface="Arial" panose="020B0604020202020204" pitchFamily="34" charset="0"/>
                <a:cs typeface="Arial" panose="020B0604020202020204" pitchFamily="34" charset="0"/>
              </a:rPr>
              <a:t> - These are dedicated in-line threat prevention appliances that provide industry leading effectiveness against both known and unknown threats.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Cisco Snort IPS</a:t>
            </a:r>
            <a:r>
              <a:rPr lang="en-US" sz="1600" dirty="0">
                <a:latin typeface="Arial" panose="020B0604020202020204" pitchFamily="34" charset="0"/>
                <a:cs typeface="Arial" panose="020B0604020202020204" pitchFamily="34" charset="0"/>
              </a:rPr>
              <a:t> - This is an IPS service that can be enabled on a second generation ISR (ISR G2) (i.e., ISR 4000s). Note that Cisco 4000 ISRs no longer support Cisco IOS IPS.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External Snort IPS Server</a:t>
            </a:r>
            <a:r>
              <a:rPr lang="en-US" sz="1600" dirty="0">
                <a:latin typeface="Arial" panose="020B0604020202020204" pitchFamily="34" charset="0"/>
                <a:cs typeface="Arial" panose="020B0604020202020204" pitchFamily="34" charset="0"/>
              </a:rPr>
              <a:t> - This is similar to the Cisco Snort IPS solution but requires a promiscuous (i.e., a SPAN switch port) port and an external Snort IDS/IPS.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20</a:t>
            </a:fld>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NGIPS</a:t>
            </a:r>
          </a:p>
        </p:txBody>
      </p:sp>
      <p:sp>
        <p:nvSpPr>
          <p:cNvPr id="5" name="Object4"/>
          <p:cNvSpPr/>
          <p:nvPr/>
        </p:nvSpPr>
        <p:spPr>
          <a:xfrm>
            <a:off x="257695" y="839585"/>
            <a:ext cx="82296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NGIPS are dedicated IPS appliances. They are built on the core open technology of Snort and use vulnerability-focused IPS rules and embedded IP-, URL-, and DNS-based security intelligence that is provided by Cisco’s Talos Security Intelligence and Research Group.</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NGIPS features include:</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IPS rules that identify and block attack traffic that target network vulnerabilities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Tightly integrated defense against advanced malware incorporating advanced analysis of network and endpoint activity</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Sandboxing technology that uses hundreds of behavioral indicators to identify zero-day and evasive attacks</a:t>
            </a:r>
          </a:p>
          <a:p>
            <a:pPr marL="742950" lvl="1"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Also includes Application Visibility and Control (AVC), Cisco Advanced Malware Protection (AMP) for Networks, and URL Filtering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21</a:t>
            </a:fld>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a:t>
            </a:r>
          </a:p>
        </p:txBody>
      </p:sp>
      <p:sp>
        <p:nvSpPr>
          <p:cNvPr id="5" name="Object4"/>
          <p:cNvSpPr/>
          <p:nvPr/>
        </p:nvSpPr>
        <p:spPr>
          <a:xfrm>
            <a:off x="74814" y="939338"/>
            <a:ext cx="8994371" cy="2571750"/>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Snort is an open source network IPS that performs real-time traffic analysis and generates alerts when threats are detected on IP networks. It can also perform protocol analysis, content searching or matching, and detect a variety of attacks and probes, such as buffer overflows, stealth port scans, and so on.</a:t>
            </a:r>
          </a:p>
          <a:p>
            <a:pPr>
              <a:lnSpc>
                <a:spcPts val="2000"/>
              </a:lnSpc>
            </a:pPr>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Snort IPS on the 4000 Series ISR provides the following functionalities:</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Intrusion detection system (IDS) and IPS mode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Three signature levels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An allowed list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Snort health monitoring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Fail open and close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Signature update </a:t>
            </a:r>
          </a:p>
          <a:p>
            <a:pPr marL="742950" lvl="1"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Event logging</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22</a:t>
            </a:fld>
            <a:endParaRPr lang="en-US"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Components and Rules</a:t>
            </a:r>
          </a:p>
        </p:txBody>
      </p:sp>
      <p:sp>
        <p:nvSpPr>
          <p:cNvPr id="5" name="Object4"/>
          <p:cNvSpPr/>
          <p:nvPr/>
        </p:nvSpPr>
        <p:spPr>
          <a:xfrm>
            <a:off x="0" y="669174"/>
            <a:ext cx="9027622" cy="2571750"/>
          </a:xfrm>
          <a:prstGeom prst="rect">
            <a:avLst/>
          </a:prstGeom>
          <a:noFill/>
          <a:ln/>
        </p:spPr>
        <p:txBody>
          <a:bodyPr wrap="square" rtlCol="0" anchor="t"/>
          <a:lstStyle/>
          <a:p>
            <a:r>
              <a:rPr lang="en-US" sz="1400" dirty="0">
                <a:latin typeface="Arial" panose="020B0604020202020204" pitchFamily="34" charset="0"/>
                <a:cs typeface="Arial" panose="020B0604020202020204" pitchFamily="34" charset="0"/>
              </a:rPr>
              <a:t>Snort IPS for 4000 Series ISRs consists of two components: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Snort engine</a:t>
            </a:r>
            <a:r>
              <a:rPr lang="en-US" sz="1400" dirty="0">
                <a:latin typeface="Arial" panose="020B0604020202020204" pitchFamily="34" charset="0"/>
                <a:cs typeface="Arial" panose="020B0604020202020204" pitchFamily="34" charset="0"/>
              </a:rPr>
              <a:t> - This is the IPS detection and enforcement engine that is included in the SEC license for 4000 Series ISRs.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Snort rule software subscriptions for signature updates</a:t>
            </a:r>
            <a:r>
              <a:rPr lang="en-US" sz="1400" dirty="0">
                <a:latin typeface="Arial" panose="020B0604020202020204" pitchFamily="34" charset="0"/>
                <a:cs typeface="Arial" panose="020B0604020202020204" pitchFamily="34" charset="0"/>
              </a:rPr>
              <a:t> - Snort rule sets to keep current with the latest threat protection are term-based subscriptions, available for one or three years.</a:t>
            </a:r>
          </a:p>
          <a:p>
            <a:pPr lvl="1"/>
            <a:endParaRPr lang="en-US" sz="1400" dirty="0">
              <a:latin typeface="Arial" panose="020B0604020202020204" pitchFamily="34" charset="0"/>
              <a:cs typeface="Arial" panose="020B0604020202020204" pitchFamily="34" charset="0"/>
            </a:endParaRPr>
          </a:p>
          <a:p>
            <a:pPr lvl="1"/>
            <a:r>
              <a:rPr lang="en-US" sz="1400" dirty="0">
                <a:latin typeface="Arial" panose="020B0604020202020204" pitchFamily="34" charset="0"/>
                <a:cs typeface="Arial" panose="020B0604020202020204" pitchFamily="34" charset="0"/>
              </a:rPr>
              <a:t>To address the rapidly evolving threat landscape, it is important to ensure that signatures are as up-to-date as possible.</a:t>
            </a:r>
          </a:p>
          <a:p>
            <a:endParaRPr lang="en-US" sz="1400" dirty="0">
              <a:latin typeface="Arial" panose="020B0604020202020204" pitchFamily="34" charset="0"/>
              <a:cs typeface="Arial" panose="020B0604020202020204" pitchFamily="34" charset="0"/>
            </a:endParaRPr>
          </a:p>
          <a:p>
            <a:r>
              <a:rPr lang="en-US" sz="1400" dirty="0">
                <a:latin typeface="Arial" panose="020B0604020202020204" pitchFamily="34" charset="0"/>
                <a:cs typeface="Arial" panose="020B0604020202020204" pitchFamily="34" charset="0"/>
              </a:rPr>
              <a:t>There are two types of term-based subscriptions:</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Community Rule Set</a:t>
            </a:r>
            <a:r>
              <a:rPr lang="en-US" sz="1400" dirty="0">
                <a:latin typeface="Arial" panose="020B0604020202020204" pitchFamily="34" charset="0"/>
                <a:cs typeface="Arial" panose="020B0604020202020204" pitchFamily="34" charset="0"/>
              </a:rPr>
              <a:t> - Available for free, the rules that are provided offer limited coverage against threats. The community rule set focuses on reactive response to security threats versus proactive research work. There is also a 30-day delayed access to updated signatures meaning that newest rule will be a minimum of 30 days old. In addition, there is no Cisco customer support available.</a:t>
            </a:r>
          </a:p>
          <a:p>
            <a:pPr marL="742950" lvl="1" indent="-285750">
              <a:buFont typeface="Arial" panose="020B0604020202020204" pitchFamily="34" charset="0"/>
              <a:buChar char="•"/>
            </a:pPr>
            <a:r>
              <a:rPr lang="en-US" sz="1400" b="1" dirty="0">
                <a:latin typeface="Arial" panose="020B0604020202020204" pitchFamily="34" charset="0"/>
                <a:cs typeface="Arial" panose="020B0604020202020204" pitchFamily="34" charset="0"/>
              </a:rPr>
              <a:t>Subscriber Rule Set</a:t>
            </a:r>
            <a:r>
              <a:rPr lang="en-US" sz="1400" dirty="0">
                <a:latin typeface="Arial" panose="020B0604020202020204" pitchFamily="34" charset="0"/>
                <a:cs typeface="Arial" panose="020B0604020202020204" pitchFamily="34" charset="0"/>
              </a:rPr>
              <a:t> - Available for a fee, this service provides the best protection against threats. It includes coverage of advance of exploits by using the research work of the Cisco Talos security experts. The Subscriber Rule Set also provides the fastest access to updated signatures in response to a security incident or the proactive discovery of a new threat. This subscription is fully supported by Cisco.</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23</a:t>
            </a:fld>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ISR Container Applications</a:t>
            </a:r>
          </a:p>
        </p:txBody>
      </p:sp>
      <p:sp>
        <p:nvSpPr>
          <p:cNvPr id="5" name="Object4"/>
          <p:cNvSpPr/>
          <p:nvPr/>
        </p:nvSpPr>
        <p:spPr>
          <a:xfrm>
            <a:off x="-1" y="914400"/>
            <a:ext cx="9143999"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Routers were initially packet processing devices. Routers have acquired so much processing power that server applications can now be hosted inside the router using service containers.</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Service containers are virtual machines that run on the routers. Applications such as Snort IPS can be uploaded and hosted on these routers. Service containers are supported on most IOS XE platforms. IOS XE is based on the Linux architecture and supports virtual machine hosting.</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The Snort engine runs as a Linux Service Container application on the ISR 4000. This provides it with dedicated computing resources that run independently of the data plane CPU load. It also makes it easier for the Snort engine to be regularly updated.</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24</a:t>
            </a:fld>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Rule Alarms</a:t>
            </a:r>
          </a:p>
        </p:txBody>
      </p:sp>
      <p:sp>
        <p:nvSpPr>
          <p:cNvPr id="5" name="Object4"/>
          <p:cNvSpPr/>
          <p:nvPr/>
        </p:nvSpPr>
        <p:spPr>
          <a:xfrm>
            <a:off x="0" y="914400"/>
            <a:ext cx="896112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In Snort IPS, signatures are configured using “rules”. These rules serve as the signature alarms by comparing incoming traffic to the Snort rules. Traffic matching a rule header generates an action. A rule header is conceptually similar to an access control list (ACL) statement (i.e., ACE). It is a one line statement that identifies malicious traffic.</a:t>
            </a:r>
          </a:p>
          <a:p>
            <a:endParaRPr lang="en-US" sz="1400" dirty="0"/>
          </a:p>
        </p:txBody>
      </p:sp>
      <p:sp>
        <p:nvSpPr>
          <p:cNvPr id="8" name="TextBox 7">
            <a:extLst>
              <a:ext uri="{FF2B5EF4-FFF2-40B4-BE49-F238E27FC236}">
                <a16:creationId xmlns:a16="http://schemas.microsoft.com/office/drawing/2014/main" id="{FA554BFE-E441-4584-8094-F670AE15AC91}"/>
              </a:ext>
            </a:extLst>
          </p:cNvPr>
          <p:cNvSpPr txBox="1"/>
          <p:nvPr/>
        </p:nvSpPr>
        <p:spPr>
          <a:xfrm>
            <a:off x="0" y="2067163"/>
            <a:ext cx="3424844" cy="2554545"/>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The basic rule header command syntax is:</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action</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protocol</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sourceIP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sourceport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-&gt;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destIP</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destport</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 ([</a:t>
            </a:r>
            <a:r>
              <a:rPr kumimoji="0" lang="en-US" sz="1600" b="0" i="1"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Rule options</a:t>
            </a: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Refer to the figure for more information regarding the rule header command syntax.</a:t>
            </a:r>
          </a:p>
        </p:txBody>
      </p:sp>
      <p:pic>
        <p:nvPicPr>
          <p:cNvPr id="4" name="Picture 3">
            <a:extLst>
              <a:ext uri="{FF2B5EF4-FFF2-40B4-BE49-F238E27FC236}">
                <a16:creationId xmlns:a16="http://schemas.microsoft.com/office/drawing/2014/main" id="{656B246A-85A9-4843-8223-B1DB4159D3C9}"/>
              </a:ext>
            </a:extLst>
          </p:cNvPr>
          <p:cNvPicPr>
            <a:picLocks noChangeAspect="1"/>
          </p:cNvPicPr>
          <p:nvPr/>
        </p:nvPicPr>
        <p:blipFill>
          <a:blip r:embed="rId3"/>
          <a:stretch>
            <a:fillRect/>
          </a:stretch>
        </p:blipFill>
        <p:spPr>
          <a:xfrm>
            <a:off x="3465555" y="1935451"/>
            <a:ext cx="5587005" cy="2571749"/>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25</a:t>
            </a:fld>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Rule Actions</a:t>
            </a:r>
          </a:p>
        </p:txBody>
      </p:sp>
      <p:sp>
        <p:nvSpPr>
          <p:cNvPr id="5" name="Object4"/>
          <p:cNvSpPr/>
          <p:nvPr/>
        </p:nvSpPr>
        <p:spPr>
          <a:xfrm>
            <a:off x="207818" y="764771"/>
            <a:ext cx="9144000"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Snort can be enabled in IDS mode or in IPS mode.</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Snort IDS mode can perform the following three actions:</a:t>
            </a:r>
          </a:p>
          <a:p>
            <a:endParaRPr lang="en-US" sz="16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Alert</a:t>
            </a:r>
            <a:r>
              <a:rPr lang="en-US" sz="1600" dirty="0">
                <a:effectLst/>
                <a:latin typeface="Arial" panose="020B0604020202020204" pitchFamily="34" charset="0"/>
                <a:cs typeface="Arial" panose="020B0604020202020204" pitchFamily="34" charset="0"/>
              </a:rPr>
              <a:t> - Generate an alert using the selected alert method, and then log the packet.</a:t>
            </a: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Log</a:t>
            </a:r>
            <a:r>
              <a:rPr lang="en-US" sz="1600" dirty="0">
                <a:effectLst/>
                <a:latin typeface="Arial" panose="020B0604020202020204" pitchFamily="34" charset="0"/>
                <a:cs typeface="Arial" panose="020B0604020202020204" pitchFamily="34" charset="0"/>
              </a:rPr>
              <a:t> - Log the packet.</a:t>
            </a: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Pass</a:t>
            </a:r>
            <a:r>
              <a:rPr lang="en-US" sz="1600" dirty="0">
                <a:effectLst/>
                <a:latin typeface="Arial" panose="020B0604020202020204" pitchFamily="34" charset="0"/>
                <a:cs typeface="Arial" panose="020B0604020202020204" pitchFamily="34" charset="0"/>
              </a:rPr>
              <a:t> - Ignore the packet.</a:t>
            </a:r>
          </a:p>
          <a:p>
            <a:pPr>
              <a:buFont typeface="Arial" panose="020B0604020202020204" pitchFamily="34" charset="0"/>
              <a:buChar char="•"/>
            </a:pPr>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Snort IPS mode can perform all of the IDS actions plus the following:</a:t>
            </a:r>
          </a:p>
          <a:p>
            <a:endParaRPr lang="en-US" sz="1600" dirty="0">
              <a:effectLst/>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Drop</a:t>
            </a:r>
            <a:r>
              <a:rPr lang="en-US" sz="1600" dirty="0">
                <a:effectLst/>
                <a:latin typeface="Arial" panose="020B0604020202020204" pitchFamily="34" charset="0"/>
                <a:cs typeface="Arial" panose="020B0604020202020204" pitchFamily="34" charset="0"/>
              </a:rPr>
              <a:t> - Block and log the packet.</a:t>
            </a: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Reject</a:t>
            </a:r>
            <a:r>
              <a:rPr lang="en-US" sz="1600" dirty="0">
                <a:effectLst/>
                <a:latin typeface="Arial" panose="020B0604020202020204" pitchFamily="34" charset="0"/>
                <a:cs typeface="Arial" panose="020B0604020202020204" pitchFamily="34" charset="0"/>
              </a:rPr>
              <a:t> - Block the packet, log it, and then send a TCP reset if the protocol is TCP or an ICMP port unreachable message if the protocol is UDP.</a:t>
            </a:r>
          </a:p>
          <a:p>
            <a:pPr marL="285750"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Sdrop</a:t>
            </a:r>
            <a:r>
              <a:rPr lang="en-US" sz="1600" dirty="0">
                <a:effectLst/>
                <a:latin typeface="Arial" panose="020B0604020202020204" pitchFamily="34" charset="0"/>
                <a:cs typeface="Arial" panose="020B0604020202020204" pitchFamily="34" charset="0"/>
              </a:rPr>
              <a:t> - Block the packet but do not log it.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26</a:t>
            </a:fld>
            <a:endParaRPr lang="en-US"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Header Rule Options</a:t>
            </a:r>
          </a:p>
        </p:txBody>
      </p:sp>
      <p:graphicFrame>
        <p:nvGraphicFramePr>
          <p:cNvPr id="24" name="Table 23"/>
          <p:cNvGraphicFramePr>
            <a:graphicFrameLocks noGrp="1"/>
          </p:cNvGraphicFramePr>
          <p:nvPr>
            <p:extLst>
              <p:ext uri="{D42A27DB-BD31-4B8C-83A1-F6EECF244321}">
                <p14:modId xmlns:p14="http://schemas.microsoft.com/office/powerpoint/2010/main" val="684937292"/>
              </p:ext>
            </p:extLst>
          </p:nvPr>
        </p:nvGraphicFramePr>
        <p:xfrm>
          <a:off x="116378" y="2106584"/>
          <a:ext cx="8570422" cy="2545080"/>
        </p:xfrm>
        <a:graphic>
          <a:graphicData uri="http://schemas.openxmlformats.org/drawingml/2006/table">
            <a:tbl>
              <a:tblPr/>
              <a:tblGrid>
                <a:gridCol w="1647771">
                  <a:extLst>
                    <a:ext uri="{9D8B030D-6E8A-4147-A177-3AD203B41FA5}">
                      <a16:colId xmlns:a16="http://schemas.microsoft.com/office/drawing/2014/main" val="20000"/>
                    </a:ext>
                  </a:extLst>
                </a:gridCol>
                <a:gridCol w="6922651">
                  <a:extLst>
                    <a:ext uri="{9D8B030D-6E8A-4147-A177-3AD203B41FA5}">
                      <a16:colId xmlns:a16="http://schemas.microsoft.com/office/drawing/2014/main" val="20001"/>
                    </a:ext>
                  </a:extLst>
                </a:gridCol>
              </a:tblGrid>
              <a:tr h="0">
                <a:tc>
                  <a:txBody>
                    <a:bodyPr/>
                    <a:lstStyle/>
                    <a:p>
                      <a:r>
                        <a:rPr lang="en-US" sz="1200" dirty="0">
                          <a:solidFill>
                            <a:srgbClr val="FFFFFF"/>
                          </a:solidFill>
                        </a:rPr>
                        <a:t>Rule Option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Specific Action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msg:</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This is a simple text string that provides a meaningful message to output when the rule matches.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1"/>
                  </a:ext>
                </a:extLst>
              </a:tr>
              <a:tr h="0">
                <a:tc>
                  <a:txBody>
                    <a:bodyPr/>
                    <a:lstStyle/>
                    <a:p>
                      <a:r>
                        <a:rPr lang="en-US" sz="1200" dirty="0">
                          <a:solidFill>
                            <a:srgbClr val="58585B"/>
                          </a:solidFill>
                        </a:rPr>
                        <a:t>flow:</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Specifies the direction of network traffic.</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r h="0">
                <a:tc>
                  <a:txBody>
                    <a:bodyPr/>
                    <a:lstStyle/>
                    <a:p>
                      <a:r>
                        <a:rPr lang="en-US" sz="1200" dirty="0">
                          <a:solidFill>
                            <a:srgbClr val="58585B"/>
                          </a:solidFill>
                        </a:rPr>
                        <a:t>content: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detection rule option that allows the user to set rules that search for specific content in the packet payload and trigger response based on that data. The option data can contain mixed text and binary data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3"/>
                  </a:ext>
                </a:extLst>
              </a:tr>
              <a:tr h="0">
                <a:tc>
                  <a:txBody>
                    <a:bodyPr/>
                    <a:lstStyle/>
                    <a:p>
                      <a:r>
                        <a:rPr lang="en-US" sz="1200" dirty="0">
                          <a:solidFill>
                            <a:srgbClr val="58585B"/>
                          </a:solidFill>
                        </a:rPr>
                        <a:t>distance: / offset: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Detection rule keywords that allow the rule writer to specify where to start searching relative to the beginning of the payload or the beginning of a content match.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4"/>
                  </a:ext>
                </a:extLst>
              </a:tr>
              <a:tr h="0">
                <a:tc>
                  <a:txBody>
                    <a:bodyPr/>
                    <a:lstStyle/>
                    <a:p>
                      <a:r>
                        <a:rPr lang="en-US" sz="1200" dirty="0">
                          <a:solidFill>
                            <a:srgbClr val="58585B"/>
                          </a:solidFill>
                        </a:rPr>
                        <a:t>within: / depth:</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Detection rule keywords that allow the rule write to specify how far forward to search relative to the end of a previous content match and, once that content match is found, how far to search for it.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5"/>
                  </a:ext>
                </a:extLst>
              </a:tr>
              <a:tr h="0">
                <a:tc>
                  <a:txBody>
                    <a:bodyPr/>
                    <a:lstStyle/>
                    <a:p>
                      <a:r>
                        <a:rPr lang="en-US" sz="1200" dirty="0">
                          <a:solidFill>
                            <a:srgbClr val="58585B"/>
                          </a:solidFill>
                        </a:rPr>
                        <a:t>pcre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 detection rule keyword that allows rules to be written using “perl compatible regular expressions” which allows for more complex matches.</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6"/>
                  </a:ext>
                </a:extLst>
              </a:tr>
            </a:tbl>
          </a:graphicData>
        </a:graphic>
      </p:graphicFrame>
      <p:sp>
        <p:nvSpPr>
          <p:cNvPr id="7" name="TextBox 6">
            <a:extLst>
              <a:ext uri="{FF2B5EF4-FFF2-40B4-BE49-F238E27FC236}">
                <a16:creationId xmlns:a16="http://schemas.microsoft.com/office/drawing/2014/main" id="{6223837D-B447-4D5B-A003-509D2F3C2F96}"/>
              </a:ext>
            </a:extLst>
          </p:cNvPr>
          <p:cNvSpPr txBox="1"/>
          <p:nvPr/>
        </p:nvSpPr>
        <p:spPr>
          <a:xfrm>
            <a:off x="0" y="639399"/>
            <a:ext cx="9235440" cy="1569660"/>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A Snort rule header also contains rule options (fields) to provide additional information for the rule. Options are separated by semicolons (;) and the rule option keywords are separated from their arguments using colons (:).</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table describes the common general rule and the detection rule options in the sample rule header.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27</a:t>
            </a:fld>
            <a:endParaRPr 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Header Rule Options (Cont.)</a:t>
            </a:r>
          </a:p>
        </p:txBody>
      </p:sp>
      <p:graphicFrame>
        <p:nvGraphicFramePr>
          <p:cNvPr id="24" name="Table 23"/>
          <p:cNvGraphicFramePr>
            <a:graphicFrameLocks noGrp="1"/>
          </p:cNvGraphicFramePr>
          <p:nvPr>
            <p:extLst>
              <p:ext uri="{D42A27DB-BD31-4B8C-83A1-F6EECF244321}">
                <p14:modId xmlns:p14="http://schemas.microsoft.com/office/powerpoint/2010/main" val="594808448"/>
              </p:ext>
            </p:extLst>
          </p:nvPr>
        </p:nvGraphicFramePr>
        <p:xfrm>
          <a:off x="91440" y="1948815"/>
          <a:ext cx="8961120" cy="1920240"/>
        </p:xfrm>
        <a:graphic>
          <a:graphicData uri="http://schemas.openxmlformats.org/drawingml/2006/table">
            <a:tbl>
              <a:tblPr/>
              <a:tblGrid>
                <a:gridCol w="4480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tblGrid>
              <a:tr h="0">
                <a:tc>
                  <a:txBody>
                    <a:bodyPr/>
                    <a:lstStyle/>
                    <a:p>
                      <a:r>
                        <a:rPr lang="en-US" sz="1200" dirty="0">
                          <a:solidFill>
                            <a:srgbClr val="FFFFFF"/>
                          </a:solidFill>
                        </a:rPr>
                        <a:t>Rule Option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tc>
                  <a:txBody>
                    <a:bodyPr/>
                    <a:lstStyle/>
                    <a:p>
                      <a:r>
                        <a:rPr lang="en-US" sz="1200" dirty="0">
                          <a:solidFill>
                            <a:srgbClr val="FFFFFF"/>
                          </a:solidFill>
                        </a:rPr>
                        <a:t>Specific Action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024C69"/>
                    </a:solidFill>
                  </a:tcPr>
                </a:tc>
                <a:extLst>
                  <a:ext uri="{0D108BD9-81ED-4DB2-BD59-A6C34878D82A}">
                    <a16:rowId xmlns:a16="http://schemas.microsoft.com/office/drawing/2014/main" val="10000"/>
                  </a:ext>
                </a:extLst>
              </a:tr>
              <a:tr h="0">
                <a:tc>
                  <a:txBody>
                    <a:bodyPr/>
                    <a:lstStyle/>
                    <a:p>
                      <a:r>
                        <a:rPr lang="en-US" sz="1200" dirty="0">
                          <a:solidFill>
                            <a:srgbClr val="58585B"/>
                          </a:solidFill>
                        </a:rPr>
                        <a:t>byte_test</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 detection rule keyword that allows a rule to test a number of bytes against a specific value in binary.</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7"/>
                  </a:ext>
                </a:extLst>
              </a:tr>
              <a:tr h="0">
                <a:tc>
                  <a:txBody>
                    <a:bodyPr/>
                    <a:lstStyle/>
                    <a:p>
                      <a:r>
                        <a:rPr lang="en-US" sz="1200" dirty="0">
                          <a:solidFill>
                            <a:srgbClr val="58585B"/>
                          </a:solidFill>
                        </a:rPr>
                        <a:t>metadata:</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Allows a rule writer to embed additional information about the rule.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8"/>
                  </a:ext>
                </a:extLst>
              </a:tr>
              <a:tr h="0">
                <a:tc>
                  <a:txBody>
                    <a:bodyPr/>
                    <a:lstStyle/>
                    <a:p>
                      <a:r>
                        <a:rPr lang="en-US" sz="1200" dirty="0">
                          <a:solidFill>
                            <a:srgbClr val="58585B"/>
                          </a:solidFill>
                        </a:rPr>
                        <a:t>reference: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Allows rules to include references to external sources of information.</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09"/>
                  </a:ext>
                </a:extLst>
              </a:tr>
              <a:tr h="0">
                <a:tc>
                  <a:txBody>
                    <a:bodyPr/>
                    <a:lstStyle/>
                    <a:p>
                      <a:r>
                        <a:rPr lang="en-US" sz="1200" dirty="0">
                          <a:solidFill>
                            <a:srgbClr val="58585B"/>
                          </a:solidFill>
                        </a:rPr>
                        <a:t>classtype: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tc>
                  <a:txBody>
                    <a:bodyPr/>
                    <a:lstStyle/>
                    <a:p>
                      <a:r>
                        <a:rPr lang="en-US" sz="1200" dirty="0">
                          <a:solidFill>
                            <a:srgbClr val="58585B"/>
                          </a:solidFill>
                        </a:rPr>
                        <a:t>Identifies the potential effect of what a successful attack would be.</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10"/>
                  </a:ext>
                </a:extLst>
              </a:tr>
              <a:tr h="0">
                <a:tc>
                  <a:txBody>
                    <a:bodyPr/>
                    <a:lstStyle/>
                    <a:p>
                      <a:r>
                        <a:rPr lang="en-US" sz="1200" dirty="0">
                          <a:solidFill>
                            <a:srgbClr val="58585B"/>
                          </a:solidFill>
                        </a:rPr>
                        <a:t>sid / rev</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tc>
                  <a:txBody>
                    <a:bodyPr/>
                    <a:lstStyle/>
                    <a:p>
                      <a:r>
                        <a:rPr lang="en-US" sz="1200" dirty="0">
                          <a:solidFill>
                            <a:srgbClr val="58585B"/>
                          </a:solidFill>
                        </a:rPr>
                        <a:t>The sid is a unique identifier for each rule making them easy to identify. It should be used with the rev (revision) keyword.</a:t>
                      </a:r>
                      <a:endParaRPr lang="en-US" sz="1200" dirty="0"/>
                    </a:p>
                  </a:txBody>
                  <a:tcPr marL="38100" marR="38100" marT="38100" marB="38100">
                    <a:lnL w="25400" cap="flat" cmpd="sng" algn="ctr">
                      <a:solidFill>
                        <a:srgbClr val="FFFFFF"/>
                      </a:solidFill>
                      <a:prstDash val="solid"/>
                      <a:round/>
                      <a:headEnd type="none" w="med" len="med"/>
                      <a:tailEnd type="none" w="med" len="med"/>
                    </a:lnL>
                    <a:lnR w="25400" cap="flat" cmpd="sng" algn="ctr">
                      <a:solidFill>
                        <a:srgbClr val="FFFFFF"/>
                      </a:solidFill>
                      <a:prstDash val="solid"/>
                      <a:round/>
                      <a:headEnd type="none" w="med" len="med"/>
                      <a:tailEnd type="none" w="med" len="med"/>
                    </a:lnR>
                    <a:lnT w="25400" cap="flat" cmpd="sng" algn="ctr">
                      <a:solidFill>
                        <a:srgbClr val="FFFFFF"/>
                      </a:solidFill>
                      <a:prstDash val="solid"/>
                      <a:round/>
                      <a:headEnd type="none" w="med" len="med"/>
                      <a:tailEnd type="none" w="med" len="med"/>
                    </a:lnT>
                    <a:lnB w="25400" cap="flat" cmpd="sng" algn="ctr">
                      <a:solidFill>
                        <a:srgbClr val="FFFFFF"/>
                      </a:solidFill>
                      <a:prstDash val="solid"/>
                      <a:round/>
                      <a:headEnd type="none" w="med" len="med"/>
                      <a:tailEnd type="none" w="med" len="med"/>
                    </a:lnB>
                    <a:solidFill>
                      <a:srgbClr val="CBD0D4"/>
                    </a:solidFill>
                  </a:tcPr>
                </a:tc>
                <a:extLst>
                  <a:ext uri="{0D108BD9-81ED-4DB2-BD59-A6C34878D82A}">
                    <a16:rowId xmlns:a16="http://schemas.microsoft.com/office/drawing/2014/main" val="10011"/>
                  </a:ext>
                </a:extLst>
              </a:tr>
            </a:tbl>
          </a:graphicData>
        </a:graphic>
      </p:graphicFrame>
      <p:sp>
        <p:nvSpPr>
          <p:cNvPr id="7" name="TextBox 6">
            <a:extLst>
              <a:ext uri="{FF2B5EF4-FFF2-40B4-BE49-F238E27FC236}">
                <a16:creationId xmlns:a16="http://schemas.microsoft.com/office/drawing/2014/main" id="{2956883A-6DDB-4BBB-BAD8-AF1B74560B27}"/>
              </a:ext>
            </a:extLst>
          </p:cNvPr>
          <p:cNvSpPr txBox="1"/>
          <p:nvPr/>
        </p:nvSpPr>
        <p:spPr>
          <a:xfrm>
            <a:off x="91440" y="922436"/>
            <a:ext cx="8753302" cy="646331"/>
          </a:xfrm>
          <a:prstGeom prst="rect">
            <a:avLst/>
          </a:prstGeom>
          <a:noFill/>
        </p:spPr>
        <p:txBody>
          <a:bodyPr wrap="square">
            <a:spAutoFit/>
          </a:bodyPr>
          <a:lstStyle/>
          <a:p>
            <a:r>
              <a:rPr lang="en-US" sz="1800" dirty="0">
                <a:latin typeface="Arial" panose="020B0604020202020204" pitchFamily="34" charset="0"/>
                <a:cs typeface="Arial" panose="020B0604020202020204" pitchFamily="34" charset="0"/>
              </a:rPr>
              <a:t>The table describes the common general rule and the detection rule options in the sample rule header.</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28</a:t>
            </a:fld>
            <a:endParaRPr lang="en-US" dirty="0"/>
          </a:p>
        </p:txBody>
      </p:sp>
    </p:spTree>
    <p:extLst>
      <p:ext uri="{BB962C8B-B14F-4D97-AF65-F5344CB8AC3E}">
        <p14:creationId xmlns:p14="http://schemas.microsoft.com/office/powerpoint/2010/main" val="374042785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Operation</a:t>
            </a:r>
          </a:p>
        </p:txBody>
      </p:sp>
      <p:sp>
        <p:nvSpPr>
          <p:cNvPr id="5" name="Object4"/>
          <p:cNvSpPr/>
          <p:nvPr/>
        </p:nvSpPr>
        <p:spPr>
          <a:xfrm>
            <a:off x="83127" y="914400"/>
            <a:ext cx="9060873" cy="2571750"/>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Packets arriving on Snort enabled interfaces are inspected as follows:</a:t>
            </a:r>
          </a:p>
          <a:p>
            <a:pPr lvl="1"/>
            <a:endParaRPr lang="en-US" sz="1600" dirty="0">
              <a:effectLst/>
              <a:latin typeface="Arial" panose="020B0604020202020204" pitchFamily="34" charset="0"/>
              <a:cs typeface="Arial" panose="020B0604020202020204" pitchFamily="34" charset="0"/>
            </a:endParaRPr>
          </a:p>
          <a:p>
            <a:pPr marL="800100" lvl="1" indent="-342900">
              <a:buFont typeface="+mj-lt"/>
              <a:buAutoNum type="arabicPeriod"/>
            </a:pPr>
            <a:r>
              <a:rPr lang="en-US" sz="1600" dirty="0">
                <a:effectLst/>
                <a:latin typeface="Arial" panose="020B0604020202020204" pitchFamily="34" charset="0"/>
                <a:cs typeface="Arial" panose="020B0604020202020204" pitchFamily="34" charset="0"/>
              </a:rPr>
              <a:t>Cisco IOS Software forwards the packets to be inspected to the Snort IPS engine using an internal virtual port group (VPG) interface.</a:t>
            </a:r>
          </a:p>
          <a:p>
            <a:pPr marL="800100" lvl="1" indent="-342900">
              <a:buFont typeface="+mj-lt"/>
              <a:buAutoNum type="arabicPeriod"/>
            </a:pPr>
            <a:r>
              <a:rPr lang="en-US" sz="1600" dirty="0">
                <a:effectLst/>
                <a:latin typeface="Arial" panose="020B0604020202020204" pitchFamily="34" charset="0"/>
                <a:cs typeface="Arial" panose="020B0604020202020204" pitchFamily="34" charset="0"/>
              </a:rPr>
              <a:t>Snort IPS inspects the traffic and takes necessary action.</a:t>
            </a:r>
          </a:p>
          <a:p>
            <a:pPr marL="800100" lvl="1" indent="-342900">
              <a:buFont typeface="+mj-lt"/>
              <a:buAutoNum type="arabicPeriod"/>
            </a:pPr>
            <a:r>
              <a:rPr lang="en-US" sz="1600" dirty="0">
                <a:effectLst/>
                <a:latin typeface="Arial" panose="020B0604020202020204" pitchFamily="34" charset="0"/>
                <a:cs typeface="Arial" panose="020B0604020202020204" pitchFamily="34" charset="0"/>
              </a:rPr>
              <a:t>Snort drops the packets associated with bad flows (IPS mode). Good flow packets are returned back to the router for further processing.</a:t>
            </a:r>
          </a:p>
          <a:p>
            <a:pPr>
              <a:buFont typeface="+mj-lt"/>
              <a:buAutoNum type="arabicPeriod"/>
            </a:pPr>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Packet exchange between the container applications and the IOS data plane is done using VPG interfaces. These routed interfaces are connected through the router back plane. The corresponding interface on the container side will appear as virtual Ethernet ports.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29</a:t>
            </a:fld>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Cisco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Operation</a:t>
            </a:r>
          </a:p>
        </p:txBody>
      </p:sp>
      <p:sp>
        <p:nvSpPr>
          <p:cNvPr id="5" name="Object4"/>
          <p:cNvSpPr/>
          <p:nvPr/>
        </p:nvSpPr>
        <p:spPr>
          <a:xfrm>
            <a:off x="-1" y="914400"/>
            <a:ext cx="4455623" cy="2571750"/>
          </a:xfrm>
          <a:prstGeom prst="rect">
            <a:avLst/>
          </a:prstGeom>
          <a:noFill/>
          <a:ln/>
        </p:spPr>
        <p:txBody>
          <a:bodyPr wrap="square" rtlCol="0" anchor="t"/>
          <a:lstStyle/>
          <a:p>
            <a:r>
              <a:rPr lang="en-US" sz="1500" dirty="0">
                <a:effectLst/>
                <a:latin typeface="Arial" panose="020B0604020202020204" pitchFamily="34" charset="0"/>
                <a:cs typeface="Arial" panose="020B0604020202020204" pitchFamily="34" charset="0"/>
              </a:rPr>
              <a:t>Snort IPS requires two VPG interfaces:</a:t>
            </a:r>
          </a:p>
          <a:p>
            <a:endParaRPr lang="en-US" sz="1500" dirty="0">
              <a:effectLst/>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Management interface</a:t>
            </a:r>
            <a:r>
              <a:rPr lang="en-US" sz="1500" dirty="0">
                <a:effectLst/>
                <a:latin typeface="Arial" panose="020B0604020202020204" pitchFamily="34" charset="0"/>
                <a:cs typeface="Arial" panose="020B0604020202020204" pitchFamily="34" charset="0"/>
              </a:rPr>
              <a:t> - This is the interface that is used to source logs to the log collector and for retrieving signature updates from Cisco.com. For this reason, this interface requires a routable IP address.</a:t>
            </a:r>
          </a:p>
          <a:p>
            <a:pPr marL="742950" lvl="1" indent="-285750">
              <a:buFont typeface="Arial" panose="020B0604020202020204" pitchFamily="34" charset="0"/>
              <a:buChar char="•"/>
            </a:pPr>
            <a:r>
              <a:rPr lang="en-US" sz="1500" b="1" dirty="0">
                <a:effectLst/>
                <a:latin typeface="Arial" panose="020B0604020202020204" pitchFamily="34" charset="0"/>
                <a:cs typeface="Arial" panose="020B0604020202020204" pitchFamily="34" charset="0"/>
              </a:rPr>
              <a:t>Data interface</a:t>
            </a:r>
            <a:r>
              <a:rPr lang="en-US" sz="1500" dirty="0">
                <a:effectLst/>
                <a:latin typeface="Arial" panose="020B0604020202020204" pitchFamily="34" charset="0"/>
                <a:cs typeface="Arial" panose="020B0604020202020204" pitchFamily="34" charset="0"/>
              </a:rPr>
              <a:t> - This is the interface that is used to send user traffic between the Snort virtual container service and the router forwarding plane.</a:t>
            </a:r>
          </a:p>
          <a:p>
            <a:endParaRPr lang="en-US" sz="1400" dirty="0">
              <a:effectLst/>
            </a:endParaRPr>
          </a:p>
        </p:txBody>
      </p:sp>
      <p:sp>
        <p:nvSpPr>
          <p:cNvPr id="8" name="TextBox 7">
            <a:extLst>
              <a:ext uri="{FF2B5EF4-FFF2-40B4-BE49-F238E27FC236}">
                <a16:creationId xmlns:a16="http://schemas.microsoft.com/office/drawing/2014/main" id="{53BF7581-261A-4F2B-AE42-8BFAB0397A07}"/>
              </a:ext>
            </a:extLst>
          </p:cNvPr>
          <p:cNvSpPr txBox="1"/>
          <p:nvPr/>
        </p:nvSpPr>
        <p:spPr>
          <a:xfrm>
            <a:off x="95598" y="3720055"/>
            <a:ext cx="9222968" cy="78483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0" i="0" u="none" strike="noStrike" kern="1200" cap="none" spc="0" normalizeH="0" baseline="0" noProof="0" dirty="0">
                <a:ln>
                  <a:noFill/>
                </a:ln>
                <a:solidFill>
                  <a:prstClr val="black"/>
                </a:solidFill>
                <a:effectLst/>
                <a:uLnTx/>
                <a:uFillTx/>
                <a:latin typeface="Arial" panose="020B0604020202020204" pitchFamily="34" charset="0"/>
                <a:cs typeface="Arial" panose="020B0604020202020204" pitchFamily="34" charset="0"/>
              </a:rPr>
              <a:t>In the figure, VPG0 is used for Snort management traffic while VPG1 is used for user traffic to be inspected. User traffic to be inspected is forwarded to the Snort engine using VPG1 as shown. Traffic is then inspected and either rejected (dropped) or forwarded back to the router.</a:t>
            </a:r>
          </a:p>
        </p:txBody>
      </p:sp>
      <p:pic>
        <p:nvPicPr>
          <p:cNvPr id="4" name="Picture 3">
            <a:extLst>
              <a:ext uri="{FF2B5EF4-FFF2-40B4-BE49-F238E27FC236}">
                <a16:creationId xmlns:a16="http://schemas.microsoft.com/office/drawing/2014/main" id="{78D92105-838C-4A02-9AD5-7E505B80A36D}"/>
              </a:ext>
            </a:extLst>
          </p:cNvPr>
          <p:cNvPicPr>
            <a:picLocks noChangeAspect="1"/>
          </p:cNvPicPr>
          <p:nvPr/>
        </p:nvPicPr>
        <p:blipFill>
          <a:blip r:embed="rId3"/>
          <a:stretch>
            <a:fillRect/>
          </a:stretch>
        </p:blipFill>
        <p:spPr>
          <a:xfrm>
            <a:off x="4503509" y="1097188"/>
            <a:ext cx="4640491" cy="2252842"/>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30</a:t>
            </a:fld>
            <a:endParaRPr lang="en-US" dirty="0"/>
          </a:p>
        </p:txBody>
      </p:sp>
    </p:spTree>
    <p:extLst>
      <p:ext uri="{BB962C8B-B14F-4D97-AF65-F5344CB8AC3E}">
        <p14:creationId xmlns:p14="http://schemas.microsoft.com/office/powerpoint/2010/main" val="2502115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12.3 Configure Snort IPS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31</a:t>
            </a:fld>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Snort IPS Configuration Steps</a:t>
            </a:r>
          </a:p>
        </p:txBody>
      </p:sp>
      <p:sp>
        <p:nvSpPr>
          <p:cNvPr id="5" name="Object4"/>
          <p:cNvSpPr/>
          <p:nvPr/>
        </p:nvSpPr>
        <p:spPr>
          <a:xfrm>
            <a:off x="166255" y="914400"/>
            <a:ext cx="82296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To deploy Snort IPS on supported devices, perform the following tasks:</a:t>
            </a:r>
          </a:p>
          <a:p>
            <a:endParaRPr lang="en-US" sz="1600" dirty="0">
              <a:latin typeface="Arial" panose="020B0604020202020204" pitchFamily="34" charset="0"/>
              <a:cs typeface="Arial" panose="020B0604020202020204" pitchFamily="34" charset="0"/>
            </a:endParaRPr>
          </a:p>
          <a:p>
            <a:pPr marL="800100" lvl="1" indent="-342900">
              <a:buFont typeface="+mj-lt"/>
              <a:buAutoNum type="arabicPeriod"/>
            </a:pPr>
            <a:r>
              <a:rPr lang="en-US" sz="1600" dirty="0">
                <a:latin typeface="Arial" panose="020B0604020202020204" pitchFamily="34" charset="0"/>
                <a:cs typeface="Arial" panose="020B0604020202020204" pitchFamily="34" charset="0"/>
              </a:rPr>
              <a:t>Download the Snort OVA file.</a:t>
            </a:r>
          </a:p>
          <a:p>
            <a:pPr marL="800100" lvl="1" indent="-342900">
              <a:buFont typeface="+mj-lt"/>
              <a:buAutoNum type="arabicPeriod"/>
            </a:pPr>
            <a:r>
              <a:rPr lang="en-US" sz="1600" dirty="0">
                <a:latin typeface="Arial" panose="020B0604020202020204" pitchFamily="34" charset="0"/>
                <a:cs typeface="Arial" panose="020B0604020202020204" pitchFamily="34" charset="0"/>
              </a:rPr>
              <a:t>Install the OVA file.</a:t>
            </a:r>
          </a:p>
          <a:p>
            <a:pPr marL="800100" lvl="1" indent="-342900">
              <a:buFont typeface="+mj-lt"/>
              <a:buAutoNum type="arabicPeriod"/>
            </a:pPr>
            <a:r>
              <a:rPr lang="en-US" sz="1600" dirty="0">
                <a:latin typeface="Arial" panose="020B0604020202020204" pitchFamily="34" charset="0"/>
                <a:cs typeface="Arial" panose="020B0604020202020204" pitchFamily="34" charset="0"/>
              </a:rPr>
              <a:t>Configure VirtualPortGroup interfaces.</a:t>
            </a:r>
          </a:p>
          <a:p>
            <a:pPr marL="800100" lvl="1" indent="-342900">
              <a:buFont typeface="+mj-lt"/>
              <a:buAutoNum type="arabicPeriod"/>
            </a:pPr>
            <a:r>
              <a:rPr lang="en-US" sz="1600" dirty="0">
                <a:latin typeface="Arial" panose="020B0604020202020204" pitchFamily="34" charset="0"/>
                <a:cs typeface="Arial" panose="020B0604020202020204" pitchFamily="34" charset="0"/>
              </a:rPr>
              <a:t>Activate the virtual services.</a:t>
            </a:r>
          </a:p>
          <a:p>
            <a:pPr marL="800100" lvl="1" indent="-342900">
              <a:buFont typeface="+mj-lt"/>
              <a:buAutoNum type="arabicPeriod"/>
            </a:pPr>
            <a:r>
              <a:rPr lang="en-US" sz="1600" dirty="0">
                <a:latin typeface="Arial" panose="020B0604020202020204" pitchFamily="34" charset="0"/>
                <a:cs typeface="Arial" panose="020B0604020202020204" pitchFamily="34" charset="0"/>
              </a:rPr>
              <a:t>Configure Snort specifics (e.g., IPS or IDS mode, policy, reporting of events to an external alert/log server or IOS syslog or both, and the Signature update method.</a:t>
            </a:r>
          </a:p>
          <a:p>
            <a:pPr marL="800100" lvl="1" indent="-342900">
              <a:buFont typeface="+mj-lt"/>
              <a:buAutoNum type="arabicPeriod"/>
            </a:pPr>
            <a:r>
              <a:rPr lang="en-US" sz="1600" dirty="0">
                <a:latin typeface="Arial" panose="020B0604020202020204" pitchFamily="34" charset="0"/>
                <a:cs typeface="Arial" panose="020B0604020202020204" pitchFamily="34" charset="0"/>
              </a:rPr>
              <a:t>Enable IPS globally or on desired interfaces.</a:t>
            </a:r>
          </a:p>
          <a:p>
            <a:pPr marL="800100" lvl="1" indent="-342900">
              <a:buFont typeface="+mj-lt"/>
              <a:buAutoNum type="arabicPeriod"/>
            </a:pPr>
            <a:r>
              <a:rPr lang="en-US" sz="1600" dirty="0">
                <a:latin typeface="Arial" panose="020B0604020202020204" pitchFamily="34" charset="0"/>
                <a:cs typeface="Arial" panose="020B0604020202020204" pitchFamily="34" charset="0"/>
              </a:rPr>
              <a:t>Verify Snort.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32</a:t>
            </a:fld>
            <a:endParaRPr lang="en-US"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1. Download the Snort OVA File</a:t>
            </a:r>
          </a:p>
        </p:txBody>
      </p:sp>
      <p:sp>
        <p:nvSpPr>
          <p:cNvPr id="5" name="Object4"/>
          <p:cNvSpPr/>
          <p:nvPr/>
        </p:nvSpPr>
        <p:spPr>
          <a:xfrm>
            <a:off x="149629" y="922713"/>
            <a:ext cx="86868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An Open Virtualization Archive (OVA) is a file that contains a compressed, installable version of a virtual machine.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service OVA file is not bundled with the Cisco IOS XE Release images installed on the router. although the OVA files may be preinstalled in the flash of the router, it is recommended that the latest OVA file be downloaded from Cisco.com.</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33</a:t>
            </a:fld>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2. Install the Snort OVA File</a:t>
            </a:r>
          </a:p>
        </p:txBody>
      </p:sp>
      <p:sp>
        <p:nvSpPr>
          <p:cNvPr id="5" name="Object4"/>
          <p:cNvSpPr/>
          <p:nvPr/>
        </p:nvSpPr>
        <p:spPr>
          <a:xfrm>
            <a:off x="-1" y="760185"/>
            <a:ext cx="9085811"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OVA file must be downloaded and saved in a file location available to the ISR router (e.g., Flash).</a:t>
            </a:r>
          </a:p>
          <a:p>
            <a:r>
              <a:rPr lang="en-US" sz="1600" dirty="0">
                <a:latin typeface="Arial" panose="020B0604020202020204" pitchFamily="34" charset="0"/>
                <a:cs typeface="Arial" panose="020B0604020202020204" pitchFamily="34" charset="0"/>
              </a:rPr>
              <a:t>To install, the OVA file, use the </a:t>
            </a:r>
            <a:r>
              <a:rPr lang="en-US" sz="1600" b="1" dirty="0">
                <a:latin typeface="Arial" panose="020B0604020202020204" pitchFamily="34" charset="0"/>
                <a:cs typeface="Arial" panose="020B0604020202020204" pitchFamily="34" charset="0"/>
              </a:rPr>
              <a:t>virtual-service install name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virtual-service-name</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package</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file-url</a:t>
            </a:r>
            <a:r>
              <a:rPr lang="en-US" sz="1600" dirty="0">
                <a:latin typeface="Arial" panose="020B0604020202020204" pitchFamily="34" charset="0"/>
                <a:cs typeface="Arial" panose="020B0604020202020204" pitchFamily="34" charset="0"/>
              </a:rPr>
              <a:t> </a:t>
            </a:r>
            <a:r>
              <a:rPr lang="en-US" sz="1600" b="1" dirty="0">
                <a:latin typeface="Arial" panose="020B0604020202020204" pitchFamily="34" charset="0"/>
                <a:cs typeface="Arial" panose="020B0604020202020204" pitchFamily="34" charset="0"/>
              </a:rPr>
              <a:t>media</a:t>
            </a:r>
            <a:r>
              <a:rPr lang="en-US" sz="1600" dirty="0">
                <a:latin typeface="Arial" panose="020B0604020202020204" pitchFamily="34" charset="0"/>
                <a:cs typeface="Arial" panose="020B0604020202020204" pitchFamily="34" charset="0"/>
              </a:rPr>
              <a:t> </a:t>
            </a:r>
            <a:r>
              <a:rPr lang="en-US" sz="1600" i="1" dirty="0">
                <a:latin typeface="Arial" panose="020B0604020202020204" pitchFamily="34" charset="0"/>
                <a:cs typeface="Arial" panose="020B0604020202020204" pitchFamily="34" charset="0"/>
              </a:rPr>
              <a:t>file-system</a:t>
            </a:r>
            <a:r>
              <a:rPr lang="en-US" sz="1600" dirty="0">
                <a:latin typeface="Arial" panose="020B0604020202020204" pitchFamily="34" charset="0"/>
                <a:cs typeface="Arial" panose="020B0604020202020204" pitchFamily="34" charset="0"/>
              </a:rPr>
              <a:t> privilege EXEC command to install the OVA file to the router. The length of the </a:t>
            </a:r>
            <a:r>
              <a:rPr lang="en-US" sz="1600" i="1" dirty="0">
                <a:latin typeface="Arial" panose="020B0604020202020204" pitchFamily="34" charset="0"/>
                <a:cs typeface="Arial" panose="020B0604020202020204" pitchFamily="34" charset="0"/>
              </a:rPr>
              <a:t>name</a:t>
            </a:r>
            <a:r>
              <a:rPr lang="en-US" sz="1600" dirty="0">
                <a:latin typeface="Arial" panose="020B0604020202020204" pitchFamily="34" charset="0"/>
                <a:cs typeface="Arial" panose="020B0604020202020204" pitchFamily="34" charset="0"/>
              </a:rPr>
              <a:t> is 20 characters and the complete path to the OVA file must be specified.</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An example configuration is shown below.</a:t>
            </a:r>
          </a:p>
        </p:txBody>
      </p:sp>
      <p:sp>
        <p:nvSpPr>
          <p:cNvPr id="8" name="TextBox 7">
            <a:extLst>
              <a:ext uri="{FF2B5EF4-FFF2-40B4-BE49-F238E27FC236}">
                <a16:creationId xmlns:a16="http://schemas.microsoft.com/office/drawing/2014/main" id="{336DC213-26F2-49E4-8BAE-7F163204D06F}"/>
              </a:ext>
            </a:extLst>
          </p:cNvPr>
          <p:cNvSpPr txBox="1"/>
          <p:nvPr/>
        </p:nvSpPr>
        <p:spPr>
          <a:xfrm>
            <a:off x="-1" y="4143285"/>
            <a:ext cx="9285317" cy="584775"/>
          </a:xfrm>
          <a:prstGeom prst="rect">
            <a:avLst/>
          </a:prstGeom>
          <a:noFill/>
        </p:spPr>
        <p:txBody>
          <a:bodyPr wrap="square">
            <a:spAutoFit/>
          </a:bodyPr>
          <a:lstStyle/>
          <a:p>
            <a:r>
              <a:rPr lang="en-US" sz="1600" dirty="0">
                <a:latin typeface="Arial" panose="020B0604020202020204" pitchFamily="34" charset="0"/>
                <a:cs typeface="Arial" panose="020B0604020202020204" pitchFamily="34" charset="0"/>
              </a:rPr>
              <a:t>Use the </a:t>
            </a:r>
            <a:r>
              <a:rPr lang="en-US" sz="1600" b="1" dirty="0">
                <a:latin typeface="Arial" panose="020B0604020202020204" pitchFamily="34" charset="0"/>
                <a:cs typeface="Arial" panose="020B0604020202020204" pitchFamily="34" charset="0"/>
              </a:rPr>
              <a:t>show virtual-service list</a:t>
            </a:r>
            <a:r>
              <a:rPr lang="en-US" sz="1600" dirty="0">
                <a:latin typeface="Arial" panose="020B0604020202020204" pitchFamily="34" charset="0"/>
                <a:cs typeface="Arial" panose="020B0604020202020204" pitchFamily="34" charset="0"/>
              </a:rPr>
              <a:t> command to display the status of the installation of all applications installed on the virtual service container.</a:t>
            </a:r>
          </a:p>
        </p:txBody>
      </p:sp>
      <p:pic>
        <p:nvPicPr>
          <p:cNvPr id="4" name="Picture 3">
            <a:extLst>
              <a:ext uri="{FF2B5EF4-FFF2-40B4-BE49-F238E27FC236}">
                <a16:creationId xmlns:a16="http://schemas.microsoft.com/office/drawing/2014/main" id="{9D82C2D3-3FD7-49F9-828A-51EC1CDE1AA6}"/>
              </a:ext>
            </a:extLst>
          </p:cNvPr>
          <p:cNvPicPr>
            <a:picLocks noChangeAspect="1"/>
          </p:cNvPicPr>
          <p:nvPr/>
        </p:nvPicPr>
        <p:blipFill>
          <a:blip r:embed="rId3"/>
          <a:stretch>
            <a:fillRect/>
          </a:stretch>
        </p:blipFill>
        <p:spPr>
          <a:xfrm>
            <a:off x="1138844" y="2502678"/>
            <a:ext cx="5370022" cy="165851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34</a:t>
            </a:fld>
            <a:endParaRPr lang="en-US"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3. Configure Virtual Port Group Interfaces</a:t>
            </a:r>
          </a:p>
        </p:txBody>
      </p:sp>
      <p:sp>
        <p:nvSpPr>
          <p:cNvPr id="5" name="Object4"/>
          <p:cNvSpPr/>
          <p:nvPr/>
        </p:nvSpPr>
        <p:spPr>
          <a:xfrm>
            <a:off x="0" y="706582"/>
            <a:ext cx="8229600" cy="2779568"/>
          </a:xfrm>
          <a:prstGeom prst="rect">
            <a:avLst/>
          </a:prstGeom>
          <a:noFill/>
          <a:ln/>
        </p:spPr>
        <p:txBody>
          <a:bodyPr wrap="square" rtlCol="0" anchor="t"/>
          <a:lstStyle/>
          <a:p>
            <a:r>
              <a:rPr lang="en-US" sz="1600" dirty="0">
                <a:effectLst/>
                <a:latin typeface="Arial" panose="020B0604020202020204" pitchFamily="34" charset="0"/>
                <a:cs typeface="Arial" panose="020B0604020202020204" pitchFamily="34" charset="0"/>
              </a:rPr>
              <a:t>Two VirtualPortGroup (VPG) interfaces must then be configured along with their guest IP addresses.</a:t>
            </a:r>
          </a:p>
          <a:p>
            <a:endParaRPr lang="en-US" sz="1600" dirty="0">
              <a:effectLst/>
              <a:latin typeface="Arial" panose="020B0604020202020204" pitchFamily="34" charset="0"/>
              <a:cs typeface="Arial" panose="020B0604020202020204" pitchFamily="34" charset="0"/>
            </a:endParaRPr>
          </a:p>
          <a:p>
            <a:r>
              <a:rPr lang="en-US" sz="1600" dirty="0">
                <a:effectLst/>
                <a:latin typeface="Arial" panose="020B0604020202020204" pitchFamily="34" charset="0"/>
                <a:cs typeface="Arial" panose="020B0604020202020204" pitchFamily="34" charset="0"/>
              </a:rPr>
              <a:t>In our example, the VPG interfaces will be configured as follows:</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VGP0 -</a:t>
            </a:r>
            <a:r>
              <a:rPr lang="en-US" sz="1600" dirty="0">
                <a:effectLst/>
                <a:latin typeface="Arial" panose="020B0604020202020204" pitchFamily="34" charset="0"/>
                <a:cs typeface="Arial" panose="020B0604020202020204" pitchFamily="34" charset="0"/>
              </a:rPr>
              <a:t> This is for management traffic to exchange information with IPS servers. The guest IP address needs to be routable to connect to the signature update server and external log server. It is also used to log traffic to log collectors.</a:t>
            </a:r>
          </a:p>
          <a:p>
            <a:pPr marL="742950" lvl="1" indent="-285750">
              <a:buFont typeface="Arial" panose="020B0604020202020204" pitchFamily="34" charset="0"/>
              <a:buChar char="•"/>
            </a:pPr>
            <a:r>
              <a:rPr lang="en-US" sz="1600" b="1" dirty="0">
                <a:effectLst/>
                <a:latin typeface="Arial" panose="020B0604020202020204" pitchFamily="34" charset="0"/>
                <a:cs typeface="Arial" panose="020B0604020202020204" pitchFamily="34" charset="0"/>
              </a:rPr>
              <a:t>VPG1 -</a:t>
            </a:r>
            <a:r>
              <a:rPr lang="en-US" sz="1600" dirty="0">
                <a:effectLst/>
                <a:latin typeface="Arial" panose="020B0604020202020204" pitchFamily="34" charset="0"/>
                <a:cs typeface="Arial" panose="020B0604020202020204" pitchFamily="34" charset="0"/>
              </a:rPr>
              <a:t> This is for user traffic marked that should be inspected. This should not be routable and therefore use a non-routable private IP address.</a:t>
            </a:r>
          </a:p>
          <a:p>
            <a:endParaRPr lang="en-US" sz="1400" dirty="0">
              <a:effectLst/>
            </a:endParaRPr>
          </a:p>
        </p:txBody>
      </p:sp>
      <p:sp>
        <p:nvSpPr>
          <p:cNvPr id="8" name="TextBox 7">
            <a:extLst>
              <a:ext uri="{FF2B5EF4-FFF2-40B4-BE49-F238E27FC236}">
                <a16:creationId xmlns:a16="http://schemas.microsoft.com/office/drawing/2014/main" id="{8A49C0BF-9217-48C8-87C7-338C88BFC216}"/>
              </a:ext>
            </a:extLst>
          </p:cNvPr>
          <p:cNvSpPr txBox="1"/>
          <p:nvPr/>
        </p:nvSpPr>
        <p:spPr>
          <a:xfrm>
            <a:off x="-41564" y="3198798"/>
            <a:ext cx="3325091" cy="646331"/>
          </a:xfrm>
          <a:prstGeom prst="rect">
            <a:avLst/>
          </a:prstGeom>
          <a:noFill/>
        </p:spPr>
        <p:txBody>
          <a:bodyPr wrap="square">
            <a:spAutoFit/>
          </a:bodyPr>
          <a:lstStyle/>
          <a:p>
            <a:r>
              <a:rPr lang="en-US" sz="1800" dirty="0">
                <a:effectLst/>
              </a:rPr>
              <a:t>This is a sample configuration of VPG0 and VPG1.</a:t>
            </a:r>
          </a:p>
        </p:txBody>
      </p:sp>
      <p:pic>
        <p:nvPicPr>
          <p:cNvPr id="4" name="Picture 3">
            <a:extLst>
              <a:ext uri="{FF2B5EF4-FFF2-40B4-BE49-F238E27FC236}">
                <a16:creationId xmlns:a16="http://schemas.microsoft.com/office/drawing/2014/main" id="{06DA715B-7EE7-4D7C-9825-551B3C3AE196}"/>
              </a:ext>
            </a:extLst>
          </p:cNvPr>
          <p:cNvPicPr>
            <a:picLocks noChangeAspect="1"/>
          </p:cNvPicPr>
          <p:nvPr/>
        </p:nvPicPr>
        <p:blipFill>
          <a:blip r:embed="rId3"/>
          <a:stretch>
            <a:fillRect/>
          </a:stretch>
        </p:blipFill>
        <p:spPr>
          <a:xfrm>
            <a:off x="3416531" y="2930791"/>
            <a:ext cx="5020887" cy="212316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35</a:t>
            </a:fld>
            <a:endParaRPr lang="en-US"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4. Activate Virtual Services</a:t>
            </a:r>
          </a:p>
        </p:txBody>
      </p:sp>
      <p:sp>
        <p:nvSpPr>
          <p:cNvPr id="5" name="Object4"/>
          <p:cNvSpPr/>
          <p:nvPr/>
        </p:nvSpPr>
        <p:spPr>
          <a:xfrm>
            <a:off x="1" y="708659"/>
            <a:ext cx="5246914" cy="2992483"/>
          </a:xfrm>
          <a:prstGeom prst="rect">
            <a:avLst/>
          </a:prstGeom>
          <a:noFill/>
          <a:ln/>
        </p:spPr>
        <p:txBody>
          <a:bodyPr wrap="square" rtlCol="0" anchor="t"/>
          <a:lstStyle/>
          <a:p>
            <a:pPr>
              <a:lnSpc>
                <a:spcPts val="2000"/>
              </a:lnSpc>
            </a:pPr>
            <a:r>
              <a:rPr lang="en-US" sz="1600" dirty="0">
                <a:latin typeface="Arial" panose="020B0604020202020204" pitchFamily="34" charset="0"/>
                <a:cs typeface="Arial" panose="020B0604020202020204" pitchFamily="34" charset="0"/>
              </a:rPr>
              <a:t>The next step is to configure guest IPs on the same subnet for the container side and activate the virtual service.</a:t>
            </a:r>
          </a:p>
          <a:p>
            <a:pPr>
              <a:lnSpc>
                <a:spcPts val="2000"/>
              </a:lnSpc>
            </a:pP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a:t>
            </a:r>
            <a:r>
              <a:rPr lang="en-US" sz="1600" b="1" dirty="0">
                <a:effectLst/>
                <a:latin typeface="Arial" panose="020B0604020202020204" pitchFamily="34" charset="0"/>
                <a:cs typeface="Arial" panose="020B0604020202020204" pitchFamily="34" charset="0"/>
              </a:rPr>
              <a:t>virtual-service MYIPS</a:t>
            </a:r>
            <a:r>
              <a:rPr lang="en-US" sz="1600" dirty="0">
                <a:effectLst/>
                <a:latin typeface="Arial" panose="020B0604020202020204" pitchFamily="34" charset="0"/>
                <a:cs typeface="Arial" panose="020B0604020202020204" pitchFamily="34" charset="0"/>
              </a:rPr>
              <a:t> command configures the logical name that is used to identify the virtual container service.</a:t>
            </a:r>
          </a:p>
          <a:p>
            <a:pPr marL="285750" indent="-285750">
              <a:buFont typeface="Arial" panose="020B0604020202020204" pitchFamily="34" charset="0"/>
              <a:buChar char="•"/>
            </a:pPr>
            <a:r>
              <a:rPr lang="en-US" sz="1600" dirty="0">
                <a:effectLst/>
                <a:latin typeface="Arial" panose="020B0604020202020204" pitchFamily="34" charset="0"/>
                <a:cs typeface="Arial" panose="020B0604020202020204" pitchFamily="34" charset="0"/>
              </a:rPr>
              <a:t>The </a:t>
            </a:r>
            <a:r>
              <a:rPr lang="en-US" sz="1600" b="1" dirty="0">
                <a:effectLst/>
                <a:latin typeface="Arial" panose="020B0604020202020204" pitchFamily="34" charset="0"/>
                <a:cs typeface="Arial" panose="020B0604020202020204" pitchFamily="34" charset="0"/>
              </a:rPr>
              <a:t>vnic gateway VirtualPortGroup</a:t>
            </a:r>
            <a:r>
              <a:rPr lang="en-US" sz="1600" dirty="0">
                <a:effectLst/>
                <a:latin typeface="Arial" panose="020B0604020202020204" pitchFamily="34" charset="0"/>
                <a:cs typeface="Arial" panose="020B0604020202020204" pitchFamily="34" charset="0"/>
              </a:rPr>
              <a:t> </a:t>
            </a:r>
            <a:r>
              <a:rPr lang="en-US" sz="1600" i="1" dirty="0">
                <a:effectLst/>
                <a:latin typeface="Arial" panose="020B0604020202020204" pitchFamily="34" charset="0"/>
                <a:cs typeface="Arial" panose="020B0604020202020204" pitchFamily="34" charset="0"/>
              </a:rPr>
              <a:t>interface-number</a:t>
            </a:r>
            <a:r>
              <a:rPr lang="en-US" sz="1600" dirty="0">
                <a:effectLst/>
                <a:latin typeface="Arial" panose="020B0604020202020204" pitchFamily="34" charset="0"/>
                <a:cs typeface="Arial" panose="020B0604020202020204" pitchFamily="34" charset="0"/>
              </a:rPr>
              <a:t> command creates a virtual network interface card (</a:t>
            </a:r>
            <a:r>
              <a:rPr lang="en-US" sz="1600" dirty="0" err="1">
                <a:effectLst/>
                <a:latin typeface="Arial" panose="020B0604020202020204" pitchFamily="34" charset="0"/>
                <a:cs typeface="Arial" panose="020B0604020202020204" pitchFamily="34" charset="0"/>
              </a:rPr>
              <a:t>vNIC</a:t>
            </a:r>
            <a:r>
              <a:rPr lang="en-US" sz="1600" dirty="0">
                <a:effectLst/>
                <a:latin typeface="Arial" panose="020B0604020202020204" pitchFamily="34" charset="0"/>
                <a:cs typeface="Arial" panose="020B0604020202020204" pitchFamily="34" charset="0"/>
              </a:rPr>
              <a:t>) gateway interface for the virtual container service. </a:t>
            </a:r>
            <a:endParaRPr lang="en-US" sz="16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guest ip address </a:t>
            </a:r>
            <a:r>
              <a:rPr lang="en-US" sz="1600" dirty="0">
                <a:latin typeface="Arial" panose="020B0604020202020204" pitchFamily="34" charset="0"/>
                <a:cs typeface="Arial" panose="020B0604020202020204" pitchFamily="34" charset="0"/>
              </a:rPr>
              <a:t>command configures a guest </a:t>
            </a:r>
            <a:r>
              <a:rPr lang="en-US" sz="1600" dirty="0" err="1">
                <a:latin typeface="Arial" panose="020B0604020202020204" pitchFamily="34" charset="0"/>
                <a:cs typeface="Arial" panose="020B0604020202020204" pitchFamily="34" charset="0"/>
              </a:rPr>
              <a:t>vNIC</a:t>
            </a:r>
            <a:r>
              <a:rPr lang="en-US" sz="1600" dirty="0">
                <a:latin typeface="Arial" panose="020B0604020202020204" pitchFamily="34" charset="0"/>
                <a:cs typeface="Arial" panose="020B0604020202020204" pitchFamily="34" charset="0"/>
              </a:rPr>
              <a:t> address for the </a:t>
            </a:r>
            <a:r>
              <a:rPr lang="en-US" sz="1600" dirty="0" err="1">
                <a:latin typeface="Arial" panose="020B0604020202020204" pitchFamily="34" charset="0"/>
                <a:cs typeface="Arial" panose="020B0604020202020204" pitchFamily="34" charset="0"/>
              </a:rPr>
              <a:t>vNIC</a:t>
            </a:r>
            <a:r>
              <a:rPr lang="en-US" sz="1600" dirty="0">
                <a:latin typeface="Arial" panose="020B0604020202020204" pitchFamily="34" charset="0"/>
                <a:cs typeface="Arial" panose="020B0604020202020204" pitchFamily="34" charset="0"/>
              </a:rPr>
              <a:t> gateway interface.</a:t>
            </a:r>
          </a:p>
          <a:p>
            <a:pPr marL="285750" indent="-285750">
              <a:buFont typeface="Arial" panose="020B0604020202020204" pitchFamily="34" charset="0"/>
              <a:buChar char="•"/>
            </a:pPr>
            <a:r>
              <a:rPr lang="en-US" sz="1600" dirty="0">
                <a:latin typeface="Arial" panose="020B0604020202020204" pitchFamily="34" charset="0"/>
                <a:cs typeface="Arial" panose="020B0604020202020204" pitchFamily="34" charset="0"/>
              </a:rPr>
              <a:t>Finally, the </a:t>
            </a:r>
            <a:r>
              <a:rPr lang="en-US" sz="1600" b="1" dirty="0">
                <a:latin typeface="Arial" panose="020B0604020202020204" pitchFamily="34" charset="0"/>
                <a:cs typeface="Arial" panose="020B0604020202020204" pitchFamily="34" charset="0"/>
              </a:rPr>
              <a:t>activate </a:t>
            </a:r>
            <a:r>
              <a:rPr lang="en-US" sz="1600" dirty="0">
                <a:latin typeface="Arial" panose="020B0604020202020204" pitchFamily="34" charset="0"/>
                <a:cs typeface="Arial" panose="020B0604020202020204" pitchFamily="34" charset="0"/>
              </a:rPr>
              <a:t>command activates the application installed in a virtual container service.</a:t>
            </a:r>
          </a:p>
          <a:p>
            <a:endParaRPr lang="en-US" sz="1600" dirty="0">
              <a:effectLst/>
              <a:latin typeface="Arial" panose="020B0604020202020204" pitchFamily="34" charset="0"/>
              <a:cs typeface="Arial" panose="020B0604020202020204" pitchFamily="34" charset="0"/>
            </a:endParaRPr>
          </a:p>
          <a:p>
            <a:endParaRPr lang="en-US" sz="1400" dirty="0">
              <a:effectLst/>
            </a:endParaRPr>
          </a:p>
          <a:p>
            <a:pPr>
              <a:lnSpc>
                <a:spcPts val="2000"/>
              </a:lnSpc>
            </a:pPr>
            <a:endParaRPr lang="en-US" sz="1400" dirty="0"/>
          </a:p>
        </p:txBody>
      </p:sp>
      <p:pic>
        <p:nvPicPr>
          <p:cNvPr id="6" name="Picture 5">
            <a:extLst>
              <a:ext uri="{FF2B5EF4-FFF2-40B4-BE49-F238E27FC236}">
                <a16:creationId xmlns:a16="http://schemas.microsoft.com/office/drawing/2014/main" id="{22FF54FE-7629-4F08-947E-B3E057F7425E}"/>
              </a:ext>
            </a:extLst>
          </p:cNvPr>
          <p:cNvPicPr>
            <a:picLocks noChangeAspect="1"/>
          </p:cNvPicPr>
          <p:nvPr/>
        </p:nvPicPr>
        <p:blipFill>
          <a:blip r:embed="rId3"/>
          <a:stretch>
            <a:fillRect/>
          </a:stretch>
        </p:blipFill>
        <p:spPr>
          <a:xfrm>
            <a:off x="5217292" y="1960452"/>
            <a:ext cx="3780325" cy="1222595"/>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36</a:t>
            </a:fld>
            <a:endParaRPr lang="en-US"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5. Configure Snort Specifics</a:t>
            </a:r>
          </a:p>
        </p:txBody>
      </p:sp>
      <p:sp>
        <p:nvSpPr>
          <p:cNvPr id="9" name="Object4">
            <a:extLst>
              <a:ext uri="{FF2B5EF4-FFF2-40B4-BE49-F238E27FC236}">
                <a16:creationId xmlns:a16="http://schemas.microsoft.com/office/drawing/2014/main" id="{D0D07C18-0FFE-4208-9D89-054F90EC1AD2}"/>
              </a:ext>
            </a:extLst>
          </p:cNvPr>
          <p:cNvSpPr/>
          <p:nvPr/>
        </p:nvSpPr>
        <p:spPr>
          <a:xfrm>
            <a:off x="0" y="663411"/>
            <a:ext cx="4572000" cy="209169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utd engine standard</a:t>
            </a:r>
            <a:r>
              <a:rPr lang="en-US" sz="1600" dirty="0">
                <a:latin typeface="Arial" panose="020B0604020202020204" pitchFamily="34" charset="0"/>
                <a:cs typeface="Arial" panose="020B0604020202020204" pitchFamily="34" charset="0"/>
              </a:rPr>
              <a:t> command configures the united threat defense (UTD) standard engine and enters UTD standard engine configuration mode.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logging host</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logging syslog</a:t>
            </a:r>
            <a:r>
              <a:rPr lang="en-US" sz="1600" dirty="0">
                <a:latin typeface="Arial" panose="020B0604020202020204" pitchFamily="34" charset="0"/>
                <a:cs typeface="Arial" panose="020B0604020202020204" pitchFamily="34" charset="0"/>
              </a:rPr>
              <a:t> commands enable the logging of emergency messages to a server.</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threat-inspection</a:t>
            </a:r>
            <a:r>
              <a:rPr lang="en-US" sz="1600" dirty="0">
                <a:latin typeface="Arial" panose="020B0604020202020204" pitchFamily="34" charset="0"/>
                <a:cs typeface="Arial" panose="020B0604020202020204" pitchFamily="34" charset="0"/>
              </a:rPr>
              <a:t> command configures threat inspection for the Snort engine. From here you can specify which mode Snort will be in:</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threat protection -</a:t>
            </a:r>
            <a:r>
              <a:rPr lang="en-US" sz="1600" dirty="0">
                <a:latin typeface="Arial" panose="020B0604020202020204" pitchFamily="34" charset="0"/>
                <a:cs typeface="Arial" panose="020B0604020202020204" pitchFamily="34" charset="0"/>
              </a:rPr>
              <a:t> Snort will be in IPS mode.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threat detection -</a:t>
            </a:r>
            <a:r>
              <a:rPr lang="en-US" sz="1600" dirty="0">
                <a:latin typeface="Arial" panose="020B0604020202020204" pitchFamily="34" charset="0"/>
                <a:cs typeface="Arial" panose="020B0604020202020204" pitchFamily="34" charset="0"/>
              </a:rPr>
              <a:t> Snort will be in IDS mode.</a:t>
            </a:r>
          </a:p>
        </p:txBody>
      </p:sp>
      <p:pic>
        <p:nvPicPr>
          <p:cNvPr id="7" name="Picture 6">
            <a:extLst>
              <a:ext uri="{FF2B5EF4-FFF2-40B4-BE49-F238E27FC236}">
                <a16:creationId xmlns:a16="http://schemas.microsoft.com/office/drawing/2014/main" id="{E0AC97CB-9569-4D88-B027-7D72DBE771FF}"/>
              </a:ext>
            </a:extLst>
          </p:cNvPr>
          <p:cNvPicPr>
            <a:picLocks noChangeAspect="1"/>
          </p:cNvPicPr>
          <p:nvPr/>
        </p:nvPicPr>
        <p:blipFill>
          <a:blip r:embed="rId3"/>
          <a:stretch>
            <a:fillRect/>
          </a:stretch>
        </p:blipFill>
        <p:spPr>
          <a:xfrm>
            <a:off x="4608559" y="1110542"/>
            <a:ext cx="4405407" cy="2488474"/>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5. Configure Snort Specifics (Cont.)</a:t>
            </a:r>
          </a:p>
        </p:txBody>
      </p:sp>
      <p:sp>
        <p:nvSpPr>
          <p:cNvPr id="5" name="Object4"/>
          <p:cNvSpPr/>
          <p:nvPr/>
        </p:nvSpPr>
        <p:spPr>
          <a:xfrm>
            <a:off x="0" y="982980"/>
            <a:ext cx="8986058"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utd engine standard</a:t>
            </a:r>
            <a:r>
              <a:rPr lang="en-US" sz="1600" dirty="0">
                <a:latin typeface="Arial" panose="020B0604020202020204" pitchFamily="34" charset="0"/>
                <a:cs typeface="Arial" panose="020B0604020202020204" pitchFamily="34" charset="0"/>
              </a:rPr>
              <a:t> command configures the united threat defense (UTD) standard engine and enters UTD standard engine configuration mode.</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logging host</a:t>
            </a:r>
            <a:r>
              <a:rPr lang="en-US" sz="1600" dirty="0">
                <a:latin typeface="Arial" panose="020B0604020202020204" pitchFamily="34" charset="0"/>
                <a:cs typeface="Arial" panose="020B0604020202020204" pitchFamily="34" charset="0"/>
              </a:rPr>
              <a:t> and </a:t>
            </a:r>
            <a:r>
              <a:rPr lang="en-US" sz="1600" b="1" dirty="0">
                <a:latin typeface="Arial" panose="020B0604020202020204" pitchFamily="34" charset="0"/>
                <a:cs typeface="Arial" panose="020B0604020202020204" pitchFamily="34" charset="0"/>
              </a:rPr>
              <a:t>logging syslog</a:t>
            </a:r>
            <a:r>
              <a:rPr lang="en-US" sz="1600" dirty="0">
                <a:latin typeface="Arial" panose="020B0604020202020204" pitchFamily="34" charset="0"/>
                <a:cs typeface="Arial" panose="020B0604020202020204" pitchFamily="34" charset="0"/>
              </a:rPr>
              <a:t> commands enable the logging of emergency messages to a server.</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threat-inspection</a:t>
            </a:r>
            <a:r>
              <a:rPr lang="en-US" sz="1600" dirty="0">
                <a:latin typeface="Arial" panose="020B0604020202020204" pitchFamily="34" charset="0"/>
                <a:cs typeface="Arial" panose="020B0604020202020204" pitchFamily="34" charset="0"/>
              </a:rPr>
              <a:t> command configures threat inspection for the Snort engine. From here you can specify which mode Snort will be in:</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threat protection -</a:t>
            </a:r>
            <a:r>
              <a:rPr lang="en-US" sz="1600" dirty="0">
                <a:latin typeface="Arial" panose="020B0604020202020204" pitchFamily="34" charset="0"/>
                <a:cs typeface="Arial" panose="020B0604020202020204" pitchFamily="34" charset="0"/>
              </a:rPr>
              <a:t> Snort will be in IPS mode.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threat detection -</a:t>
            </a:r>
            <a:r>
              <a:rPr lang="en-US" sz="1600" dirty="0">
                <a:latin typeface="Arial" panose="020B0604020202020204" pitchFamily="34" charset="0"/>
                <a:cs typeface="Arial" panose="020B0604020202020204" pitchFamily="34" charset="0"/>
              </a:rPr>
              <a:t> Snort will be in IDS mode.</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38</a:t>
            </a:fld>
            <a:endParaRPr lang="en-US" dirty="0"/>
          </a:p>
        </p:txBody>
      </p:sp>
    </p:spTree>
    <p:extLst>
      <p:ext uri="{BB962C8B-B14F-4D97-AF65-F5344CB8AC3E}">
        <p14:creationId xmlns:p14="http://schemas.microsoft.com/office/powerpoint/2010/main" val="6902971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5. Configure Snort Specifics (Cont.)</a:t>
            </a:r>
          </a:p>
        </p:txBody>
      </p:sp>
      <p:sp>
        <p:nvSpPr>
          <p:cNvPr id="5" name="Object4"/>
          <p:cNvSpPr/>
          <p:nvPr/>
        </p:nvSpPr>
        <p:spPr>
          <a:xfrm>
            <a:off x="0" y="708660"/>
            <a:ext cx="9144000"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The </a:t>
            </a:r>
            <a:r>
              <a:rPr lang="en-US" sz="1600" b="1" dirty="0">
                <a:latin typeface="Arial" panose="020B0604020202020204" pitchFamily="34" charset="0"/>
                <a:cs typeface="Arial" panose="020B0604020202020204" pitchFamily="34" charset="0"/>
              </a:rPr>
              <a:t>policy</a:t>
            </a:r>
            <a:r>
              <a:rPr lang="en-US" sz="1600" dirty="0">
                <a:latin typeface="Arial" panose="020B0604020202020204" pitchFamily="34" charset="0"/>
                <a:cs typeface="Arial" panose="020B0604020202020204" pitchFamily="34" charset="0"/>
              </a:rPr>
              <a:t> command specifies three security policies that can be used by Snort. These are base policies provided by Cisco Talos. The three policy settings in order from least protection to most protection are:</a:t>
            </a:r>
          </a:p>
          <a:p>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connectivity</a:t>
            </a:r>
            <a:r>
              <a:rPr lang="en-US" sz="1600" dirty="0">
                <a:latin typeface="Arial" panose="020B0604020202020204" pitchFamily="34" charset="0"/>
                <a:cs typeface="Arial" panose="020B0604020202020204" pitchFamily="34" charset="0"/>
              </a:rPr>
              <a:t> - This provides the least protection as it prioritizes connectivity over security. Approximately 1,000 rules are pre-loaded using this policy.</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balanced</a:t>
            </a:r>
            <a:r>
              <a:rPr lang="en-US" sz="1600" dirty="0">
                <a:latin typeface="Arial" panose="020B0604020202020204" pitchFamily="34" charset="0"/>
                <a:cs typeface="Arial" panose="020B0604020202020204" pitchFamily="34" charset="0"/>
              </a:rPr>
              <a:t> - This is the default policy. It is recommended for initial deployments. This policy attempts to balance security needs and performance characteristics of the network. Approximately 8,000 rules are pre-loaded using this policy.</a:t>
            </a:r>
          </a:p>
          <a:p>
            <a:pPr marL="742950" lvl="1" indent="-285750">
              <a:buFont typeface="Arial" panose="020B0604020202020204" pitchFamily="34" charset="0"/>
              <a:buChar char="•"/>
            </a:pPr>
            <a:endParaRPr lang="en-US" sz="1600" dirty="0">
              <a:latin typeface="Arial" panose="020B0604020202020204" pitchFamily="34" charset="0"/>
              <a:cs typeface="Arial" panose="020B0604020202020204" pitchFamily="34" charset="0"/>
            </a:endParaRP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security</a:t>
            </a:r>
            <a:r>
              <a:rPr lang="en-US" sz="1600" dirty="0">
                <a:latin typeface="Arial" panose="020B0604020202020204" pitchFamily="34" charset="0"/>
                <a:cs typeface="Arial" panose="020B0604020202020204" pitchFamily="34" charset="0"/>
              </a:rPr>
              <a:t> - This provides the most protection. It is designed for organizations that are exceptionally concerned about security. Customers deploy this policy in protected networks, that have a lower bandwidth requirements, but much higher security requirements. Approximately 12,000 rules are pre-loaded using this policy.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39</a:t>
            </a:fld>
            <a:endParaRPr lang="en-US" dirty="0"/>
          </a:p>
        </p:txBody>
      </p:sp>
    </p:spTree>
    <p:extLst>
      <p:ext uri="{BB962C8B-B14F-4D97-AF65-F5344CB8AC3E}">
        <p14:creationId xmlns:p14="http://schemas.microsoft.com/office/powerpoint/2010/main" val="281921134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498566"/>
          </a:xfrm>
          <a:prstGeom prst="rect">
            <a:avLst/>
          </a:prstGeom>
          <a:noFill/>
          <a:ln/>
        </p:spPr>
        <p:txBody>
          <a:bodyPr wrap="square" rtlCol="0"/>
          <a:lstStyle/>
          <a:p>
            <a:pPr marL="0" indent="0">
              <a:buNone/>
            </a:pPr>
            <a:r>
              <a:rPr lang="en-US" dirty="0"/>
              <a:t>Step 6. Enable IPS Globally or on Desired Interfaces</a:t>
            </a:r>
          </a:p>
        </p:txBody>
      </p:sp>
      <p:sp>
        <p:nvSpPr>
          <p:cNvPr id="5" name="Object4"/>
          <p:cNvSpPr/>
          <p:nvPr/>
        </p:nvSpPr>
        <p:spPr>
          <a:xfrm>
            <a:off x="217420" y="1369849"/>
            <a:ext cx="2493124" cy="1088571"/>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You can enable UTD globally on all interfaces or on selected interface.</a:t>
            </a:r>
            <a:endParaRPr lang="en-US" sz="1600" dirty="0"/>
          </a:p>
        </p:txBody>
      </p:sp>
      <p:sp>
        <p:nvSpPr>
          <p:cNvPr id="8" name="Object4">
            <a:extLst>
              <a:ext uri="{FF2B5EF4-FFF2-40B4-BE49-F238E27FC236}">
                <a16:creationId xmlns:a16="http://schemas.microsoft.com/office/drawing/2014/main" id="{C0CCB7DD-78F0-4893-918F-D11DAA4D6BE1}"/>
              </a:ext>
            </a:extLst>
          </p:cNvPr>
          <p:cNvSpPr/>
          <p:nvPr/>
        </p:nvSpPr>
        <p:spPr>
          <a:xfrm>
            <a:off x="3636625" y="843640"/>
            <a:ext cx="1328057" cy="337457"/>
          </a:xfrm>
          <a:prstGeom prst="rect">
            <a:avLst/>
          </a:prstGeom>
          <a:noFill/>
          <a:ln/>
        </p:spPr>
        <p:txBody>
          <a:bodyPr wrap="square" rtlCol="0" anchor="t"/>
          <a:lstStyle/>
          <a:p>
            <a:pPr algn="ctr">
              <a:lnSpc>
                <a:spcPts val="2000"/>
              </a:lnSpc>
            </a:pPr>
            <a:r>
              <a:rPr lang="en-US" sz="1400" b="1" dirty="0">
                <a:solidFill>
                  <a:srgbClr val="000000"/>
                </a:solidFill>
                <a:latin typeface="Arial" pitchFamily="34" charset="0"/>
                <a:ea typeface="Arial" pitchFamily="34" charset="-122"/>
                <a:cs typeface="Arial" pitchFamily="34" charset="-120"/>
              </a:rPr>
              <a:t>Globally</a:t>
            </a:r>
            <a:endParaRPr lang="en-US" sz="1400" b="1" dirty="0"/>
          </a:p>
        </p:txBody>
      </p:sp>
      <p:sp>
        <p:nvSpPr>
          <p:cNvPr id="9" name="Object4">
            <a:extLst>
              <a:ext uri="{FF2B5EF4-FFF2-40B4-BE49-F238E27FC236}">
                <a16:creationId xmlns:a16="http://schemas.microsoft.com/office/drawing/2014/main" id="{8A04D432-8F68-45E3-9E5E-75B8606F67A6}"/>
              </a:ext>
            </a:extLst>
          </p:cNvPr>
          <p:cNvSpPr/>
          <p:nvPr/>
        </p:nvSpPr>
        <p:spPr>
          <a:xfrm>
            <a:off x="6736506" y="827067"/>
            <a:ext cx="1872343" cy="337457"/>
          </a:xfrm>
          <a:prstGeom prst="rect">
            <a:avLst/>
          </a:prstGeom>
          <a:noFill/>
          <a:ln/>
        </p:spPr>
        <p:txBody>
          <a:bodyPr wrap="square" rtlCol="0" anchor="t"/>
          <a:lstStyle/>
          <a:p>
            <a:pPr algn="ctr">
              <a:lnSpc>
                <a:spcPts val="2000"/>
              </a:lnSpc>
            </a:pPr>
            <a:r>
              <a:rPr lang="en-US" sz="1400" b="1" dirty="0">
                <a:solidFill>
                  <a:srgbClr val="000000"/>
                </a:solidFill>
                <a:latin typeface="Arial" pitchFamily="34" charset="0"/>
                <a:ea typeface="Arial" pitchFamily="34" charset="-122"/>
                <a:cs typeface="Arial" pitchFamily="34" charset="-120"/>
              </a:rPr>
              <a:t>Selected Interfaces</a:t>
            </a:r>
            <a:endParaRPr lang="en-US" sz="1400" b="1" dirty="0"/>
          </a:p>
        </p:txBody>
      </p:sp>
      <p:sp>
        <p:nvSpPr>
          <p:cNvPr id="12" name="Object4">
            <a:extLst>
              <a:ext uri="{FF2B5EF4-FFF2-40B4-BE49-F238E27FC236}">
                <a16:creationId xmlns:a16="http://schemas.microsoft.com/office/drawing/2014/main" id="{DB99BAF2-6EB1-47AB-A228-AC237E85A40E}"/>
              </a:ext>
            </a:extLst>
          </p:cNvPr>
          <p:cNvSpPr/>
          <p:nvPr/>
        </p:nvSpPr>
        <p:spPr>
          <a:xfrm>
            <a:off x="217420" y="2887317"/>
            <a:ext cx="2493124" cy="1088571"/>
          </a:xfrm>
          <a:prstGeom prst="rect">
            <a:avLst/>
          </a:prstGeom>
          <a:noFill/>
          <a:ln/>
        </p:spPr>
        <p:txBody>
          <a:bodyPr wrap="square" rtlCol="0" anchor="t"/>
          <a:lstStyle/>
          <a:p>
            <a:pPr>
              <a:lnSpc>
                <a:spcPts val="2000"/>
              </a:lnSpc>
            </a:pPr>
            <a:r>
              <a:rPr lang="en-US" sz="1600" dirty="0">
                <a:solidFill>
                  <a:srgbClr val="000000"/>
                </a:solidFill>
                <a:latin typeface="Arial" pitchFamily="34" charset="0"/>
                <a:ea typeface="Arial" pitchFamily="34" charset="-122"/>
                <a:cs typeface="Arial" pitchFamily="34" charset="-120"/>
              </a:rPr>
              <a:t>You can also enable the UTD allowed list feature. This enables you to identify IPS signature IDs to be suppressed (not used)</a:t>
            </a:r>
            <a:endParaRPr lang="en-US" sz="1600" dirty="0"/>
          </a:p>
        </p:txBody>
      </p:sp>
      <p:pic>
        <p:nvPicPr>
          <p:cNvPr id="6" name="Picture 5">
            <a:extLst>
              <a:ext uri="{FF2B5EF4-FFF2-40B4-BE49-F238E27FC236}">
                <a16:creationId xmlns:a16="http://schemas.microsoft.com/office/drawing/2014/main" id="{0199C5A2-623E-4C52-A8AD-2AD27368A590}"/>
              </a:ext>
            </a:extLst>
          </p:cNvPr>
          <p:cNvPicPr>
            <a:picLocks noChangeAspect="1"/>
          </p:cNvPicPr>
          <p:nvPr/>
        </p:nvPicPr>
        <p:blipFill>
          <a:blip r:embed="rId3"/>
          <a:stretch>
            <a:fillRect/>
          </a:stretch>
        </p:blipFill>
        <p:spPr>
          <a:xfrm>
            <a:off x="2871831" y="1218705"/>
            <a:ext cx="2857647" cy="1568531"/>
          </a:xfrm>
          <a:prstGeom prst="rect">
            <a:avLst/>
          </a:prstGeom>
        </p:spPr>
      </p:pic>
      <p:pic>
        <p:nvPicPr>
          <p:cNvPr id="10" name="Picture 9">
            <a:extLst>
              <a:ext uri="{FF2B5EF4-FFF2-40B4-BE49-F238E27FC236}">
                <a16:creationId xmlns:a16="http://schemas.microsoft.com/office/drawing/2014/main" id="{FA777C3E-1FF3-473B-8A42-8CCDB7B9610A}"/>
              </a:ext>
            </a:extLst>
          </p:cNvPr>
          <p:cNvPicPr>
            <a:picLocks noChangeAspect="1"/>
          </p:cNvPicPr>
          <p:nvPr/>
        </p:nvPicPr>
        <p:blipFill>
          <a:blip r:embed="rId4"/>
          <a:stretch>
            <a:fillRect/>
          </a:stretch>
        </p:blipFill>
        <p:spPr>
          <a:xfrm>
            <a:off x="6466116" y="1218775"/>
            <a:ext cx="2413124" cy="1390721"/>
          </a:xfrm>
          <a:prstGeom prst="rect">
            <a:avLst/>
          </a:prstGeom>
        </p:spPr>
      </p:pic>
      <p:pic>
        <p:nvPicPr>
          <p:cNvPr id="13" name="Picture 12">
            <a:extLst>
              <a:ext uri="{FF2B5EF4-FFF2-40B4-BE49-F238E27FC236}">
                <a16:creationId xmlns:a16="http://schemas.microsoft.com/office/drawing/2014/main" id="{349AC7CF-B8DD-4CBF-8DF2-7C1C5EDA05A6}"/>
              </a:ext>
            </a:extLst>
          </p:cNvPr>
          <p:cNvPicPr>
            <a:picLocks noChangeAspect="1"/>
          </p:cNvPicPr>
          <p:nvPr/>
        </p:nvPicPr>
        <p:blipFill>
          <a:blip r:embed="rId5"/>
          <a:stretch>
            <a:fillRect/>
          </a:stretch>
        </p:blipFill>
        <p:spPr>
          <a:xfrm>
            <a:off x="2871831" y="3215008"/>
            <a:ext cx="6007409" cy="647733"/>
          </a:xfrm>
          <a:prstGeom prst="rect">
            <a:avLst/>
          </a:prstGeom>
        </p:spPr>
      </p:pic>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40</a:t>
            </a:fld>
            <a:endParaRPr lang="en-US"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Configure Snort IPS</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Step 7. Verify Snort IPS</a:t>
            </a:r>
          </a:p>
        </p:txBody>
      </p:sp>
      <p:sp>
        <p:nvSpPr>
          <p:cNvPr id="5" name="Object4"/>
          <p:cNvSpPr/>
          <p:nvPr/>
        </p:nvSpPr>
        <p:spPr>
          <a:xfrm>
            <a:off x="-1" y="914400"/>
            <a:ext cx="8969433" cy="2571750"/>
          </a:xfrm>
          <a:prstGeom prst="rect">
            <a:avLst/>
          </a:prstGeom>
          <a:noFill/>
          <a:ln/>
        </p:spPr>
        <p:txBody>
          <a:bodyPr wrap="square" rtlCol="0" anchor="t"/>
          <a:lstStyle/>
          <a:p>
            <a:r>
              <a:rPr lang="en-US" sz="1600" dirty="0">
                <a:latin typeface="Arial" panose="020B0604020202020204" pitchFamily="34" charset="0"/>
                <a:cs typeface="Arial" panose="020B0604020202020204" pitchFamily="34" charset="0"/>
              </a:rPr>
              <a:t>After Snort IPS is implemented, it is necessary to verify the configuration to ensure correct operation.</a:t>
            </a:r>
          </a:p>
          <a:p>
            <a:endParaRPr lang="en-US" sz="1600" dirty="0">
              <a:latin typeface="Arial" panose="020B0604020202020204" pitchFamily="34" charset="0"/>
              <a:cs typeface="Arial" panose="020B0604020202020204" pitchFamily="34" charset="0"/>
            </a:endParaRPr>
          </a:p>
          <a:p>
            <a:r>
              <a:rPr lang="en-US" sz="1600" dirty="0">
                <a:latin typeface="Arial" panose="020B0604020202020204" pitchFamily="34" charset="0"/>
                <a:cs typeface="Arial" panose="020B0604020202020204" pitchFamily="34" charset="0"/>
              </a:rPr>
              <a:t>There are several </a:t>
            </a:r>
            <a:r>
              <a:rPr lang="en-US" sz="1600" b="1" dirty="0">
                <a:latin typeface="Arial" panose="020B0604020202020204" pitchFamily="34" charset="0"/>
                <a:cs typeface="Arial" panose="020B0604020202020204" pitchFamily="34" charset="0"/>
              </a:rPr>
              <a:t>show</a:t>
            </a:r>
            <a:r>
              <a:rPr lang="en-US" sz="1600" dirty="0">
                <a:latin typeface="Arial" panose="020B0604020202020204" pitchFamily="34" charset="0"/>
                <a:cs typeface="Arial" panose="020B0604020202020204" pitchFamily="34" charset="0"/>
              </a:rPr>
              <a:t> commands that can be used to verify the Snort IPS configuration and operation.</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show virtual-service list</a:t>
            </a:r>
            <a:r>
              <a:rPr lang="en-US" sz="1600" dirty="0">
                <a:latin typeface="Arial" panose="020B0604020202020204" pitchFamily="34" charset="0"/>
                <a:cs typeface="Arial" panose="020B0604020202020204" pitchFamily="34" charset="0"/>
              </a:rPr>
              <a:t> - The command displays an overview of resources that are utilized by the applications.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show virtual-service detail</a:t>
            </a:r>
            <a:r>
              <a:rPr lang="en-US" sz="1600" dirty="0">
                <a:latin typeface="Arial" panose="020B0604020202020204" pitchFamily="34" charset="0"/>
                <a:cs typeface="Arial" panose="020B0604020202020204" pitchFamily="34" charset="0"/>
              </a:rPr>
              <a:t> - The command displays a list of resources that are committed to a specified application, including attached devices.</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show utd engine standard config</a:t>
            </a:r>
            <a:r>
              <a:rPr lang="en-US" sz="1600" dirty="0">
                <a:latin typeface="Arial" panose="020B0604020202020204" pitchFamily="34" charset="0"/>
                <a:cs typeface="Arial" panose="020B0604020202020204" pitchFamily="34" charset="0"/>
              </a:rPr>
              <a:t> - The command displays the UTD configuration.</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show utd engine standard status</a:t>
            </a:r>
            <a:r>
              <a:rPr lang="en-US" sz="1600" dirty="0">
                <a:latin typeface="Arial" panose="020B0604020202020204" pitchFamily="34" charset="0"/>
                <a:cs typeface="Arial" panose="020B0604020202020204" pitchFamily="34" charset="0"/>
              </a:rPr>
              <a:t> - The command displays the status of the UTD engine.</a:t>
            </a:r>
          </a:p>
          <a:p>
            <a:pPr marL="742950" lvl="1" indent="-285750">
              <a:buFont typeface="Arial" panose="020B0604020202020204" pitchFamily="34" charset="0"/>
              <a:buChar char="•"/>
            </a:pPr>
            <a:r>
              <a:rPr lang="en-US" sz="1600" b="1" dirty="0">
                <a:latin typeface="Arial" panose="020B0604020202020204" pitchFamily="34" charset="0"/>
                <a:cs typeface="Arial" panose="020B0604020202020204" pitchFamily="34" charset="0"/>
              </a:rPr>
              <a:t>show platform hardware qfp active feature utd stats</a:t>
            </a:r>
            <a:r>
              <a:rPr lang="en-US" sz="1600" dirty="0">
                <a:latin typeface="Arial" panose="020B0604020202020204" pitchFamily="34" charset="0"/>
                <a:cs typeface="Arial" panose="020B0604020202020204" pitchFamily="34" charset="0"/>
              </a:rPr>
              <a:t> - The command checks the data plane. It verifies increments for encap, decap, redirect, and reinject and displays a health of "Green".</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41</a:t>
            </a:fld>
            <a:endParaRPr lang="en-US"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Object1"/>
          <p:cNvSpPr>
            <a:spLocks noGrp="1"/>
          </p:cNvSpPr>
          <p:nvPr>
            <p:ph type="body" idx="100" hasCustomPrompt="1"/>
          </p:nvPr>
        </p:nvSpPr>
        <p:spPr>
          <a:xfrm>
            <a:off x="457200" y="2057400"/>
            <a:ext cx="8229600" cy="914400"/>
          </a:xfrm>
          <a:prstGeom prst="rect">
            <a:avLst/>
          </a:prstGeom>
          <a:noFill/>
          <a:ln/>
        </p:spPr>
        <p:txBody>
          <a:bodyPr wrap="square" rtlCol="0"/>
          <a:lstStyle/>
          <a:p>
            <a:pPr marL="0" indent="0">
              <a:buNone/>
            </a:pPr>
            <a:r>
              <a:rPr lang="en-US" dirty="0"/>
              <a:t>12.4 IPS Operation and Implementation Summary</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42</a:t>
            </a:fld>
            <a:endParaRPr lang="en-US"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Operation and Implementation Summary</a:t>
            </a:r>
          </a:p>
        </p:txBody>
      </p:sp>
      <p:sp>
        <p:nvSpPr>
          <p:cNvPr id="3" name="Object2"/>
          <p:cNvSpPr>
            <a:spLocks noGrp="1"/>
          </p:cNvSpPr>
          <p:nvPr>
            <p:ph type="body" idx="100" hasCustomPrompt="1"/>
          </p:nvPr>
        </p:nvSpPr>
        <p:spPr>
          <a:xfrm>
            <a:off x="0" y="274320"/>
            <a:ext cx="9144000" cy="444137"/>
          </a:xfrm>
          <a:prstGeom prst="rect">
            <a:avLst/>
          </a:prstGeom>
          <a:noFill/>
          <a:ln/>
        </p:spPr>
        <p:txBody>
          <a:bodyPr wrap="square" rtlCol="0"/>
          <a:lstStyle/>
          <a:p>
            <a:pPr marL="0" indent="0">
              <a:buNone/>
            </a:pPr>
            <a:r>
              <a:rPr lang="en-US" dirty="0"/>
              <a:t>What Did I Learn in this Module?</a:t>
            </a:r>
          </a:p>
        </p:txBody>
      </p:sp>
      <p:sp>
        <p:nvSpPr>
          <p:cNvPr id="5" name="Object4"/>
          <p:cNvSpPr/>
          <p:nvPr/>
        </p:nvSpPr>
        <p:spPr>
          <a:xfrm>
            <a:off x="137160" y="889462"/>
            <a:ext cx="8869680" cy="2571750"/>
          </a:xfrm>
          <a:prstGeom prst="rect">
            <a:avLst/>
          </a:prstGeom>
          <a:noFill/>
          <a:ln/>
        </p:spPr>
        <p:txBody>
          <a:bodyPr wrap="square" rtlCol="0" anchor="t"/>
          <a:lstStyle/>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IPS signatures have three attributes: type, trigger, and action.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The signature type can be atomic or composite.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The signature alarms can use pattern-based detection, anomaly-based detection, policy-based detection, or honey pot-based detection.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The are a variety of IPS signature actions including generate an alert, log the activity, deny the activity, and others.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Triggering mechanisms can generate results such as true positive, true positive, false negatives, and false negatives.</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Snort IPS on ISR device can provide both IDS or IPS services.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Snort IPS consists of a Snort engine and Snort rule set.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To configure Snort IPS, configure VPG interfaces, activate the virtual services, configure Snort IPS specifics, and enable UTD. </a:t>
            </a:r>
          </a:p>
          <a:p>
            <a:pPr marL="285750" indent="-285750">
              <a:lnSpc>
                <a:spcPts val="2000"/>
              </a:lnSpc>
              <a:buFont typeface="Arial" panose="020B0604020202020204" pitchFamily="34" charset="0"/>
              <a:buChar char="•"/>
            </a:pPr>
            <a:r>
              <a:rPr lang="en-US" sz="1600" dirty="0">
                <a:solidFill>
                  <a:srgbClr val="000000"/>
                </a:solidFill>
                <a:latin typeface="Arial" pitchFamily="34" charset="0"/>
                <a:ea typeface="Arial" pitchFamily="34" charset="-122"/>
                <a:cs typeface="Arial" pitchFamily="34" charset="-120"/>
              </a:rPr>
              <a:t>Use show commands to verify its operation.</a:t>
            </a:r>
            <a:endParaRPr lang="en-US" sz="1600" dirty="0"/>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43</a:t>
            </a:fld>
            <a:endParaRPr lang="en-US"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Operation and Implementation</a:t>
            </a:r>
          </a:p>
        </p:txBody>
      </p:sp>
      <p:sp>
        <p:nvSpPr>
          <p:cNvPr id="3" name="Object2"/>
          <p:cNvSpPr>
            <a:spLocks noGrp="1"/>
          </p:cNvSpPr>
          <p:nvPr>
            <p:ph type="body" idx="100" hasCustomPrompt="1"/>
          </p:nvPr>
        </p:nvSpPr>
        <p:spPr>
          <a:xfrm>
            <a:off x="0" y="274320"/>
            <a:ext cx="9144000" cy="914400"/>
          </a:xfrm>
          <a:prstGeom prst="rect">
            <a:avLst/>
          </a:prstGeom>
          <a:noFill/>
          <a:ln/>
        </p:spPr>
        <p:txBody>
          <a:bodyPr wrap="square" rtlCol="0"/>
          <a:lstStyle/>
          <a:p>
            <a:pPr marL="0" indent="0">
              <a:buNone/>
            </a:pPr>
            <a:r>
              <a:rPr lang="en-US" dirty="0"/>
              <a:t>New Terms and Commands</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 xmlns:ma14="http://schemas.microsoft.com/office/mac/drawingml/2011/main" val="0"/>
            </a:ext>
          </a:extLst>
        </p:spPr>
        <p:txBody>
          <a:bodyPr/>
          <a:lstStyle>
            <a:lvl1pPr>
              <a:defRPr sz="600">
                <a:solidFill>
                  <a:srgbClr val="D9D9D9"/>
                </a:solidFill>
              </a:defRPr>
            </a:lvl1pPr>
          </a:lstStyle>
          <a:p>
            <a:fld id="{F7021451-1387-4CA6-816F-3879F97B5CBC}" type="slidenum">
              <a:rPr lang="en-US"/>
              <a:t>44</a:t>
            </a:fld>
            <a:endParaRPr lang="en-US" dirty="0"/>
          </a:p>
        </p:txBody>
      </p:sp>
      <p:graphicFrame>
        <p:nvGraphicFramePr>
          <p:cNvPr id="6" name="Content Placeholder 2">
            <a:extLst>
              <a:ext uri="{FF2B5EF4-FFF2-40B4-BE49-F238E27FC236}">
                <a16:creationId xmlns:a16="http://schemas.microsoft.com/office/drawing/2014/main" id="{5AA25D95-E6EE-41A4-9A62-056C4789A5B2}"/>
              </a:ext>
            </a:extLst>
          </p:cNvPr>
          <p:cNvGraphicFramePr>
            <a:graphicFrameLocks/>
          </p:cNvGraphicFramePr>
          <p:nvPr>
            <p:extLst>
              <p:ext uri="{D42A27DB-BD31-4B8C-83A1-F6EECF244321}">
                <p14:modId xmlns:p14="http://schemas.microsoft.com/office/powerpoint/2010/main" val="864142069"/>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atomic signature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composite signature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pattern-based detection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anomaly-based detection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policy-based detection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honey pot-based detection</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true positive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true negative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false positive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false negative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Snort community rule set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Snort subscriber rule set </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virtual port group (VPG) interface</a:t>
                      </a:r>
                    </a:p>
                    <a:p>
                      <a:pPr marL="173038" indent="-173038">
                        <a:spcBef>
                          <a:spcPts val="200"/>
                        </a:spcBef>
                        <a:spcAft>
                          <a:spcPts val="200"/>
                        </a:spcAft>
                        <a:buFont typeface="Arial" panose="020B0604020202020204" pitchFamily="34" charset="0"/>
                        <a:buChar char="•"/>
                      </a:pPr>
                      <a:r>
                        <a:rPr lang="en-US" sz="1400" b="0" kern="1200" dirty="0">
                          <a:solidFill>
                            <a:schemeClr val="tx1"/>
                          </a:solidFill>
                          <a:latin typeface="+mn-lt"/>
                          <a:ea typeface="+mn-ea"/>
                          <a:cs typeface="+mn-cs"/>
                        </a:rPr>
                        <a:t>Open Virtualization Archive (OVA)</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virtual-service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install</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name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virtual-service-name</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package</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file-url</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media</a:t>
                      </a:r>
                      <a:r>
                        <a:rPr lang="en-US" sz="1400" b="0" kern="1200" dirty="0">
                          <a:solidFill>
                            <a:schemeClr val="tx1"/>
                          </a:solidFill>
                          <a:latin typeface="+mn-lt"/>
                          <a:ea typeface="+mn-ea"/>
                          <a:cs typeface="+mn-cs"/>
                        </a:rPr>
                        <a:t> </a:t>
                      </a:r>
                      <a:r>
                        <a:rPr lang="en-US" sz="1400" b="0" i="1" kern="1200" dirty="0">
                          <a:solidFill>
                            <a:schemeClr val="tx1"/>
                          </a:solidFill>
                          <a:latin typeface="+mn-lt"/>
                          <a:ea typeface="+mn-ea"/>
                          <a:cs typeface="+mn-cs"/>
                        </a:rPr>
                        <a:t>file-system</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virtual-service </a:t>
                      </a:r>
                      <a:r>
                        <a:rPr lang="en-US" sz="1400" b="0" i="1" kern="1200" dirty="0">
                          <a:solidFill>
                            <a:schemeClr val="tx1"/>
                          </a:solidFill>
                          <a:latin typeface="+mn-lt"/>
                          <a:ea typeface="+mn-ea"/>
                          <a:cs typeface="+mn-cs"/>
                        </a:rPr>
                        <a:t>virtual-service-name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vnic gateway VirtualPortGroup </a:t>
                      </a:r>
                      <a:r>
                        <a:rPr lang="en-US" sz="1400" b="0" i="1" kern="1200" dirty="0">
                          <a:solidFill>
                            <a:schemeClr val="tx1"/>
                          </a:solidFill>
                          <a:latin typeface="+mn-lt"/>
                          <a:ea typeface="+mn-ea"/>
                          <a:cs typeface="+mn-cs"/>
                        </a:rPr>
                        <a:t>interface-number</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guest ip address </a:t>
                      </a:r>
                      <a:r>
                        <a:rPr lang="en-US" sz="1400" b="0" i="1" kern="1200" dirty="0">
                          <a:solidFill>
                            <a:schemeClr val="tx1"/>
                          </a:solidFill>
                          <a:latin typeface="+mn-lt"/>
                          <a:ea typeface="+mn-ea"/>
                          <a:cs typeface="+mn-cs"/>
                        </a:rPr>
                        <a:t>ip-address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utd engine standard</a:t>
                      </a:r>
                      <a:r>
                        <a:rPr lang="en-US" sz="1400" b="0" kern="1200" dirty="0">
                          <a:solidFill>
                            <a:schemeClr val="tx1"/>
                          </a:solidFill>
                          <a:latin typeface="+mn-lt"/>
                          <a:ea typeface="+mn-ea"/>
                          <a:cs typeface="+mn-cs"/>
                        </a:rPr>
                        <a:t>, and then </a:t>
                      </a:r>
                      <a:r>
                        <a:rPr lang="en-US" sz="1400" b="1" kern="1200" dirty="0">
                          <a:solidFill>
                            <a:schemeClr val="tx1"/>
                          </a:solidFill>
                          <a:latin typeface="+mn-lt"/>
                          <a:ea typeface="+mn-ea"/>
                          <a:cs typeface="+mn-cs"/>
                        </a:rPr>
                        <a:t>logging host </a:t>
                      </a:r>
                      <a:r>
                        <a:rPr lang="en-US" sz="1400" b="0" i="1" kern="1200" dirty="0">
                          <a:solidFill>
                            <a:schemeClr val="tx1"/>
                          </a:solidFill>
                          <a:latin typeface="+mn-lt"/>
                          <a:ea typeface="+mn-ea"/>
                          <a:cs typeface="+mn-cs"/>
                        </a:rPr>
                        <a:t>ip-address</a:t>
                      </a:r>
                      <a:r>
                        <a:rPr lang="en-US" sz="1400" b="0" i="0" kern="1200" dirty="0">
                          <a:solidFill>
                            <a:schemeClr val="tx1"/>
                          </a:solidFill>
                          <a:latin typeface="+mn-lt"/>
                          <a:ea typeface="+mn-ea"/>
                          <a:cs typeface="+mn-cs"/>
                        </a:rPr>
                        <a:t>, and </a:t>
                      </a:r>
                      <a:r>
                        <a:rPr lang="en-US" sz="1400" b="1" i="0" kern="1200" dirty="0">
                          <a:solidFill>
                            <a:schemeClr val="tx1"/>
                          </a:solidFill>
                          <a:latin typeface="+mn-lt"/>
                          <a:ea typeface="+mn-ea"/>
                          <a:cs typeface="+mn-cs"/>
                        </a:rPr>
                        <a:t>logging syslog</a:t>
                      </a:r>
                      <a:endParaRPr lang="en-US" sz="1400" b="1" kern="1200" dirty="0">
                        <a:solidFill>
                          <a:schemeClr val="tx1"/>
                        </a:solidFill>
                        <a:latin typeface="+mn-lt"/>
                        <a:ea typeface="+mn-ea"/>
                        <a:cs typeface="+mn-cs"/>
                      </a:endParaRP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threat-inspection</a:t>
                      </a:r>
                      <a:r>
                        <a:rPr lang="en-US" sz="1400" b="0" kern="1200" dirty="0">
                          <a:solidFill>
                            <a:schemeClr val="tx1"/>
                          </a:solidFill>
                          <a:latin typeface="+mn-lt"/>
                          <a:ea typeface="+mn-ea"/>
                          <a:cs typeface="+mn-cs"/>
                        </a:rPr>
                        <a:t>,</a:t>
                      </a:r>
                      <a:r>
                        <a:rPr lang="en-US" sz="1400" b="1" kern="1200" dirty="0">
                          <a:solidFill>
                            <a:schemeClr val="tx1"/>
                          </a:solidFill>
                          <a:latin typeface="+mn-lt"/>
                          <a:ea typeface="+mn-ea"/>
                          <a:cs typeface="+mn-cs"/>
                        </a:rPr>
                        <a:t> </a:t>
                      </a:r>
                      <a:r>
                        <a:rPr lang="en-US" sz="1400" b="0" kern="1200" dirty="0">
                          <a:solidFill>
                            <a:schemeClr val="tx1"/>
                          </a:solidFill>
                          <a:latin typeface="+mn-lt"/>
                          <a:ea typeface="+mn-ea"/>
                          <a:cs typeface="+mn-cs"/>
                        </a:rPr>
                        <a:t>and then</a:t>
                      </a:r>
                      <a:r>
                        <a:rPr lang="en-US" sz="1400" b="1" kern="1200" dirty="0">
                          <a:solidFill>
                            <a:schemeClr val="tx1"/>
                          </a:solidFill>
                          <a:latin typeface="+mn-lt"/>
                          <a:ea typeface="+mn-ea"/>
                          <a:cs typeface="+mn-cs"/>
                        </a:rPr>
                        <a:t> threat protection</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policy balanced</a:t>
                      </a:r>
                      <a:r>
                        <a:rPr lang="en-US" sz="1400" b="0" kern="1200" dirty="0">
                          <a:solidFill>
                            <a:schemeClr val="tx1"/>
                          </a:solidFill>
                          <a:latin typeface="+mn-lt"/>
                          <a:ea typeface="+mn-ea"/>
                          <a:cs typeface="+mn-cs"/>
                        </a:rPr>
                        <a:t>, </a:t>
                      </a:r>
                      <a:r>
                        <a:rPr lang="en-US" sz="1400" b="1" kern="1200" dirty="0">
                          <a:solidFill>
                            <a:schemeClr val="tx1"/>
                          </a:solidFill>
                          <a:latin typeface="+mn-lt"/>
                          <a:ea typeface="+mn-ea"/>
                          <a:cs typeface="+mn-cs"/>
                        </a:rPr>
                        <a:t>signature update</a:t>
                      </a:r>
                      <a:r>
                        <a:rPr lang="en-US" sz="1400" b="0" kern="1200" dirty="0">
                          <a:solidFill>
                            <a:schemeClr val="tx1"/>
                          </a:solidFill>
                          <a:latin typeface="+mn-lt"/>
                          <a:ea typeface="+mn-ea"/>
                          <a:cs typeface="+mn-cs"/>
                        </a:rPr>
                        <a:t>, and </a:t>
                      </a:r>
                      <a:r>
                        <a:rPr lang="en-US" sz="1400" b="1" kern="1200" dirty="0">
                          <a:solidFill>
                            <a:schemeClr val="tx1"/>
                          </a:solidFill>
                          <a:latin typeface="+mn-lt"/>
                          <a:ea typeface="+mn-ea"/>
                          <a:cs typeface="+mn-cs"/>
                        </a:rPr>
                        <a:t>signature update server</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utd</a:t>
                      </a:r>
                      <a:r>
                        <a:rPr lang="en-US" sz="1400" b="0" kern="1200" dirty="0">
                          <a:solidFill>
                            <a:schemeClr val="tx1"/>
                          </a:solidFill>
                          <a:latin typeface="+mn-lt"/>
                          <a:ea typeface="+mn-ea"/>
                          <a:cs typeface="+mn-cs"/>
                        </a:rPr>
                        <a:t>, and then </a:t>
                      </a:r>
                      <a:r>
                        <a:rPr lang="en-US" sz="1400" b="1" kern="1200" dirty="0">
                          <a:solidFill>
                            <a:schemeClr val="tx1"/>
                          </a:solidFill>
                          <a:latin typeface="+mn-lt"/>
                          <a:ea typeface="+mn-ea"/>
                          <a:cs typeface="+mn-cs"/>
                        </a:rPr>
                        <a:t>all-interfaces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engine standard</a:t>
                      </a:r>
                      <a:r>
                        <a:rPr lang="en-US" sz="1400" b="0" kern="1200" dirty="0">
                          <a:solidFill>
                            <a:schemeClr val="tx1"/>
                          </a:solidFill>
                          <a:latin typeface="+mn-lt"/>
                          <a:ea typeface="+mn-ea"/>
                          <a:cs typeface="+mn-cs"/>
                        </a:rPr>
                        <a:t>, and then </a:t>
                      </a:r>
                      <a:r>
                        <a:rPr lang="en-US" sz="1400" b="1" kern="1200" dirty="0">
                          <a:solidFill>
                            <a:schemeClr val="tx1"/>
                          </a:solidFill>
                          <a:latin typeface="+mn-lt"/>
                          <a:ea typeface="+mn-ea"/>
                          <a:cs typeface="+mn-cs"/>
                        </a:rPr>
                        <a:t>fail close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utd enable</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utd threat-inspection whitelist</a:t>
                      </a:r>
                      <a:r>
                        <a:rPr lang="en-US" sz="1400" b="0" kern="1200" dirty="0">
                          <a:solidFill>
                            <a:schemeClr val="tx1"/>
                          </a:solidFill>
                          <a:latin typeface="+mn-lt"/>
                          <a:ea typeface="+mn-ea"/>
                          <a:cs typeface="+mn-cs"/>
                        </a:rPr>
                        <a:t>, and then </a:t>
                      </a:r>
                      <a:r>
                        <a:rPr lang="en-US" sz="1400" b="1" kern="1200" dirty="0">
                          <a:solidFill>
                            <a:schemeClr val="tx1"/>
                          </a:solidFill>
                          <a:latin typeface="+mn-lt"/>
                          <a:ea typeface="+mn-ea"/>
                          <a:cs typeface="+mn-cs"/>
                        </a:rPr>
                        <a:t>signature</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101057472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1"/>
          <p:cNvSpPr>
            <a:spLocks noGrp="1"/>
          </p:cNvSpPr>
          <p:nvPr>
            <p:ph type="body" idx="101" hasCustomPrompt="1"/>
          </p:nvPr>
        </p:nvSpPr>
        <p:spPr>
          <a:xfrm>
            <a:off x="0" y="0"/>
            <a:ext cx="9144000" cy="274320"/>
          </a:xfrm>
          <a:prstGeom prst="rect">
            <a:avLst/>
          </a:prstGeom>
          <a:noFill/>
          <a:ln/>
        </p:spPr>
        <p:txBody>
          <a:bodyPr wrap="square" rtlCol="0"/>
          <a:lstStyle/>
          <a:p>
            <a:pPr marL="0" indent="0">
              <a:buNone/>
            </a:pPr>
            <a:r>
              <a:rPr lang="en-US" dirty="0"/>
              <a:t>IPS Operation and Implementation</a:t>
            </a:r>
          </a:p>
        </p:txBody>
      </p:sp>
      <p:sp>
        <p:nvSpPr>
          <p:cNvPr id="3" name="Object2"/>
          <p:cNvSpPr>
            <a:spLocks noGrp="1"/>
          </p:cNvSpPr>
          <p:nvPr>
            <p:ph type="body" idx="100" hasCustomPrompt="1"/>
          </p:nvPr>
        </p:nvSpPr>
        <p:spPr>
          <a:xfrm>
            <a:off x="0" y="274320"/>
            <a:ext cx="9144000" cy="376130"/>
          </a:xfrm>
          <a:prstGeom prst="rect">
            <a:avLst/>
          </a:prstGeom>
          <a:noFill/>
          <a:ln/>
        </p:spPr>
        <p:txBody>
          <a:bodyPr wrap="square" rtlCol="0"/>
          <a:lstStyle/>
          <a:p>
            <a:pPr marL="0" indent="0">
              <a:buNone/>
            </a:pPr>
            <a:r>
              <a:rPr lang="en-US" dirty="0"/>
              <a:t>New Terms and Commands (cont.)</a:t>
            </a:r>
          </a:p>
        </p:txBody>
      </p:sp>
      <p:sp>
        <p:nvSpPr>
          <p:cNvPr id="25" name="Slide Number Placeholder 24"/>
          <p:cNvSpPr>
            <a:spLocks noGrp="1"/>
          </p:cNvSpPr>
          <p:nvPr>
            <p:ph type="sldNum" sz="quarter" idx="4294967295"/>
          </p:nvPr>
        </p:nvSpPr>
        <p:spPr>
          <a:xfrm>
            <a:off x="8686800" y="4629150"/>
            <a:ext cx="457200" cy="228600"/>
          </a:xfrm>
          <a:prstGeom prst="rect">
            <a:avLst/>
          </a:prstGeom>
          <a:extLst>
            <a:ext uri="{C572A759-6A51-4108-AA02-DFA0A04FC94B}">
              <ma14:wrappingTextBoxFlag xmlns:ma14="http://schemas.microsoft.com/office/mac/drawingml/2011/main" xmlns="" val="0"/>
            </a:ext>
          </a:extLst>
        </p:spPr>
        <p:txBody>
          <a:bodyPr/>
          <a:lstStyle>
            <a:lvl1pPr>
              <a:defRPr sz="600">
                <a:solidFill>
                  <a:srgbClr val="D9D9D9"/>
                </a:solidFill>
              </a:defRPr>
            </a:lvl1pPr>
          </a:lstStyle>
          <a:p>
            <a:fld id="{F7021451-1387-4CA6-816F-3879F97B5CBC}" type="slidenum">
              <a:rPr lang="en-US"/>
              <a:t>45</a:t>
            </a:fld>
            <a:endParaRPr lang="en-US" dirty="0"/>
          </a:p>
        </p:txBody>
      </p:sp>
      <p:graphicFrame>
        <p:nvGraphicFramePr>
          <p:cNvPr id="6" name="Content Placeholder 2">
            <a:extLst>
              <a:ext uri="{FF2B5EF4-FFF2-40B4-BE49-F238E27FC236}">
                <a16:creationId xmlns:a16="http://schemas.microsoft.com/office/drawing/2014/main" id="{5AA25D95-E6EE-41A4-9A62-056C4789A5B2}"/>
              </a:ext>
            </a:extLst>
          </p:cNvPr>
          <p:cNvGraphicFramePr>
            <a:graphicFrameLocks/>
          </p:cNvGraphicFramePr>
          <p:nvPr>
            <p:extLst>
              <p:ext uri="{D42A27DB-BD31-4B8C-83A1-F6EECF244321}">
                <p14:modId xmlns:p14="http://schemas.microsoft.com/office/powerpoint/2010/main" val="46699692"/>
              </p:ext>
            </p:extLst>
          </p:nvPr>
        </p:nvGraphicFramePr>
        <p:xfrm>
          <a:off x="294640" y="650450"/>
          <a:ext cx="8458662" cy="3911390"/>
        </p:xfrm>
        <a:graphic>
          <a:graphicData uri="http://schemas.openxmlformats.org/drawingml/2006/table">
            <a:tbl>
              <a:tblPr firstRow="1" bandRow="1">
                <a:tableStyleId>{F5AB1C69-6EDB-4FF4-983F-18BD219EF322}</a:tableStyleId>
              </a:tblPr>
              <a:tblGrid>
                <a:gridCol w="3999424">
                  <a:extLst>
                    <a:ext uri="{9D8B030D-6E8A-4147-A177-3AD203B41FA5}">
                      <a16:colId xmlns:a16="http://schemas.microsoft.com/office/drawing/2014/main" val="2731093094"/>
                    </a:ext>
                  </a:extLst>
                </a:gridCol>
                <a:gridCol w="4459238">
                  <a:extLst>
                    <a:ext uri="{9D8B030D-6E8A-4147-A177-3AD203B41FA5}">
                      <a16:colId xmlns:a16="http://schemas.microsoft.com/office/drawing/2014/main" val="2353496225"/>
                    </a:ext>
                  </a:extLst>
                </a:gridCol>
              </a:tblGrid>
              <a:tr h="3911390">
                <a:tc>
                  <a:txBody>
                    <a:bodyPr/>
                    <a:lstStyle/>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virtual-service list</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virtual-service detail</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utd engine standard config</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utd engine standard status</a:t>
                      </a:r>
                    </a:p>
                    <a:p>
                      <a:pPr marL="173038" indent="-173038">
                        <a:spcBef>
                          <a:spcPts val="200"/>
                        </a:spcBef>
                        <a:spcAft>
                          <a:spcPts val="200"/>
                        </a:spcAft>
                        <a:buFont typeface="Arial" panose="020B0604020202020204" pitchFamily="34" charset="0"/>
                        <a:buChar char="•"/>
                      </a:pPr>
                      <a:r>
                        <a:rPr lang="en-US" sz="1400" b="1" kern="1200" dirty="0">
                          <a:solidFill>
                            <a:schemeClr val="tx1"/>
                          </a:solidFill>
                          <a:latin typeface="+mn-lt"/>
                          <a:ea typeface="+mn-ea"/>
                          <a:cs typeface="+mn-cs"/>
                        </a:rPr>
                        <a:t>show platform hardware qfp active feature utd stats </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marL="173038" indent="-173038">
                        <a:spcBef>
                          <a:spcPts val="200"/>
                        </a:spcBef>
                        <a:spcAft>
                          <a:spcPts val="200"/>
                        </a:spcAft>
                        <a:buFont typeface="Arial" panose="020B0604020202020204" pitchFamily="34" charset="0"/>
                        <a:buChar char="•"/>
                      </a:pPr>
                      <a:endParaRPr lang="en-US" sz="1400" b="1" kern="1200" dirty="0">
                        <a:solidFill>
                          <a:schemeClr val="tx1"/>
                        </a:solidFill>
                        <a:latin typeface="+mn-lt"/>
                        <a:ea typeface="+mn-ea"/>
                        <a:cs typeface="+mn-cs"/>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600795013"/>
                  </a:ext>
                </a:extLst>
              </a:tr>
            </a:tbl>
          </a:graphicData>
        </a:graphic>
      </p:graphicFrame>
    </p:spTree>
    <p:extLst>
      <p:ext uri="{BB962C8B-B14F-4D97-AF65-F5344CB8AC3E}">
        <p14:creationId xmlns:p14="http://schemas.microsoft.com/office/powerpoint/2010/main" val="423018681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ustDataLst>
      <p:tags r:id="rId1"/>
    </p:custDataLst>
    <p:extLst>
      <p:ext uri="{BB962C8B-B14F-4D97-AF65-F5344CB8AC3E}">
        <p14:creationId xmlns:p14="http://schemas.microsoft.com/office/powerpoint/2010/main" val="4190828277"/>
      </p:ext>
    </p:extLst>
  </p:cSld>
  <p:clrMapOvr>
    <a:masterClrMapping/>
  </p:clrMapOvr>
  <p:transition spd="slow">
    <p:wipe/>
  </p:transition>
</p:sld>
</file>

<file path=ppt/tags/tag1.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2.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3.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4.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5.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6.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ags/tag7.xml><?xml version="1.0" encoding="utf-8"?>
<p:tagLst xmlns:a="http://schemas.openxmlformats.org/drawingml/2006/main" xmlns:r="http://schemas.openxmlformats.org/officeDocument/2006/relationships" xmlns:p="http://schemas.openxmlformats.org/presentationml/2006/main">
  <p:tag name="ARTICULATE_SLIDE_THUMBNAIL_REFRESH" val="1"/>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Default Theme" id="{A3178FD6-045E-43BB-9FF9-79BDC55288A1}" vid="{B3635A64-254C-4D4D-B1C2-6197525273FD}"/>
    </a:ext>
  </a:extLst>
</a:theme>
</file>

<file path=ppt/theme/theme3.xml><?xml version="1.0" encoding="utf-8"?>
<a:theme xmlns:a="http://schemas.openxmlformats.org/drawingml/2006/main" name="1_Default Theme">
  <a:themeElements>
    <a:clrScheme name="Custom 6">
      <a:dk1>
        <a:srgbClr val="58585B"/>
      </a:dk1>
      <a:lt1>
        <a:srgbClr val="FFFFFF"/>
      </a:lt1>
      <a:dk2>
        <a:srgbClr val="58585B"/>
      </a:dk2>
      <a:lt2>
        <a:srgbClr val="81C569"/>
      </a:lt2>
      <a:accent1>
        <a:srgbClr val="004C69"/>
      </a:accent1>
      <a:accent2>
        <a:srgbClr val="9E0B0F"/>
      </a:accent2>
      <a:accent3>
        <a:srgbClr val="FFFFFF"/>
      </a:accent3>
      <a:accent4>
        <a:srgbClr val="367187"/>
      </a:accent4>
      <a:accent5>
        <a:srgbClr val="38C6F4"/>
      </a:accent5>
      <a:accent6>
        <a:srgbClr val="FBAB18"/>
      </a:accent6>
      <a:hlink>
        <a:srgbClr val="38C6F4"/>
      </a:hlink>
      <a:folHlink>
        <a:srgbClr val="81C569"/>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36A4D7"/>
        </a:solidFill>
        <a:ln>
          <a:noFill/>
        </a:ln>
        <a:effectLst/>
      </a:spPr>
      <a:bodyPr rtlCol="0" anchor="ctr"/>
      <a:lstStyle>
        <a:defPPr algn="ctr">
          <a:defRPr dirty="0"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ITE7_Chp1_Example-1" id="{4A20ED44-3835-F149-9AE4-C332C230E09E}" vid="{AFB5BC48-58F8-AD45-912F-AE2AD65EB694}"/>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2485</TotalTime>
  <Words>5582</Words>
  <Application>Microsoft Office PowerPoint</Application>
  <PresentationFormat>On-screen Show (16:9)</PresentationFormat>
  <Paragraphs>599</Paragraphs>
  <Slides>46</Slides>
  <Notes>44</Notes>
  <HiddenSlides>5</HiddenSlides>
  <MMClips>0</MMClips>
  <ScaleCrop>false</ScaleCrop>
  <HeadingPairs>
    <vt:vector size="6" baseType="variant">
      <vt:variant>
        <vt:lpstr>Fonts Used</vt:lpstr>
      </vt:variant>
      <vt:variant>
        <vt:i4>4</vt:i4>
      </vt:variant>
      <vt:variant>
        <vt:lpstr>Theme</vt:lpstr>
      </vt:variant>
      <vt:variant>
        <vt:i4>3</vt:i4>
      </vt:variant>
      <vt:variant>
        <vt:lpstr>Slide Titles</vt:lpstr>
      </vt:variant>
      <vt:variant>
        <vt:i4>46</vt:i4>
      </vt:variant>
    </vt:vector>
  </HeadingPairs>
  <TitlesOfParts>
    <vt:vector size="53" baseType="lpstr">
      <vt:lpstr>Arial</vt:lpstr>
      <vt:lpstr>Calibri</vt:lpstr>
      <vt:lpstr>CiscoSans ExtraLight</vt:lpstr>
      <vt:lpstr>Wingdings</vt:lpstr>
      <vt:lpstr>Office Theme</vt:lpstr>
      <vt:lpstr>Default Theme</vt:lpstr>
      <vt:lpstr>1_Default Theme</vt:lpstr>
      <vt:lpstr>PowerPoint Presentation</vt:lpstr>
      <vt:lpstr>PowerPoint Presentation</vt:lpstr>
      <vt:lpstr>What to Expect in this Module</vt:lpstr>
      <vt:lpstr>What to Expect in this Module (Cont.)</vt:lpstr>
      <vt:lpstr>Check Your Understanding</vt:lpstr>
      <vt:lpstr>PowerPoint Presentation</vt:lpstr>
      <vt:lpstr>Module 12: Best Practices</vt:lpstr>
      <vt:lpstr>Module 12: Best Practices (Cont.)</vt:lpstr>
      <vt:lpstr>PowerPoint Presentation</vt:lpstr>
      <vt:lpstr>Module Objectives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Sue Livingston -X (suliving - UNICON INC at Cisco)</cp:lastModifiedBy>
  <cp:revision>53</cp:revision>
  <dcterms:created xsi:type="dcterms:W3CDTF">2020-12-08T18:27:12Z</dcterms:created>
  <dcterms:modified xsi:type="dcterms:W3CDTF">2021-03-16T14:17:43Z</dcterms:modified>
</cp:coreProperties>
</file>