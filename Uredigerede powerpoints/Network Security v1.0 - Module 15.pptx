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7.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8.xml" ContentType="application/vnd.openxmlformats-officedocument.presentationml.tags+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5" r:id="rId2"/>
  </p:sldMasterIdLst>
  <p:notesMasterIdLst>
    <p:notesMasterId r:id="rId40"/>
  </p:notesMasterIdLst>
  <p:sldIdLst>
    <p:sldId id="256" r:id="rId3"/>
    <p:sldId id="257" r:id="rId4"/>
    <p:sldId id="1070" r:id="rId5"/>
    <p:sldId id="1071" r:id="rId6"/>
    <p:sldId id="880" r:id="rId7"/>
    <p:sldId id="1072" r:id="rId8"/>
    <p:sldId id="1073" r:id="rId9"/>
    <p:sldId id="1080" r:id="rId10"/>
    <p:sldId id="1081" r:id="rId11"/>
    <p:sldId id="262" r:id="rId12"/>
    <p:sldId id="925" r:id="rId13"/>
    <p:sldId id="263" r:id="rId14"/>
    <p:sldId id="264" r:id="rId15"/>
    <p:sldId id="265" r:id="rId16"/>
    <p:sldId id="266" r:id="rId17"/>
    <p:sldId id="267" r:id="rId18"/>
    <p:sldId id="269" r:id="rId19"/>
    <p:sldId id="270" r:id="rId20"/>
    <p:sldId id="271" r:id="rId21"/>
    <p:sldId id="272" r:id="rId22"/>
    <p:sldId id="273" r:id="rId23"/>
    <p:sldId id="1074" r:id="rId24"/>
    <p:sldId id="274" r:id="rId25"/>
    <p:sldId id="275" r:id="rId26"/>
    <p:sldId id="276" r:id="rId27"/>
    <p:sldId id="277" r:id="rId28"/>
    <p:sldId id="278" r:id="rId29"/>
    <p:sldId id="280" r:id="rId30"/>
    <p:sldId id="281" r:id="rId31"/>
    <p:sldId id="282" r:id="rId32"/>
    <p:sldId id="283" r:id="rId33"/>
    <p:sldId id="285" r:id="rId34"/>
    <p:sldId id="286" r:id="rId35"/>
    <p:sldId id="287" r:id="rId36"/>
    <p:sldId id="1082" r:id="rId37"/>
    <p:sldId id="1078" r:id="rId38"/>
    <p:sldId id="1079" r:id="rId3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3416" autoAdjust="0"/>
  </p:normalViewPr>
  <p:slideViewPr>
    <p:cSldViewPr snapToGrid="0" snapToObjects="1">
      <p:cViewPr varScale="1">
        <p:scale>
          <a:sx n="77" d="100"/>
          <a:sy n="77" d="100"/>
        </p:scale>
        <p:origin x="30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6281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15: Cryptographic Services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1700" rtl="0" eaLnBrk="0" fontAlgn="auto" latinLnBrk="0" hangingPunct="0">
              <a:lnSpc>
                <a:spcPct val="100000"/>
              </a:lnSpc>
              <a:spcBef>
                <a:spcPts val="0"/>
              </a:spcBef>
              <a:spcAft>
                <a:spcPts val="0"/>
              </a:spcAft>
              <a:buClrTx/>
              <a:buSzTx/>
              <a:buFontTx/>
              <a:buNone/>
              <a:tabLst/>
              <a:defRPr/>
            </a:pPr>
            <a:fld id="{ACE20BE7-F2F3-4E26-9454-50B18F790A4E}"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1700" rtl="0" eaLnBrk="0" fontAlgn="auto" latinLnBrk="0" hangingPunct="0">
                <a:lnSpc>
                  <a:spcPct val="100000"/>
                </a:lnSpc>
                <a:spcBef>
                  <a:spcPts val="0"/>
                </a:spcBef>
                <a:spcAft>
                  <a:spcPts val="0"/>
                </a:spcAft>
                <a:buClrTx/>
                <a:buSzTx/>
                <a:buFontTx/>
                <a:buNone/>
                <a:tabLst/>
                <a:defRPr/>
              </a:pPr>
              <a:t>5</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7391C207-9349-46D5-9D89-8ADDA5014D1F}"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7</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1079690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7391C207-9349-46D5-9D89-8ADDA5014D1F}"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8</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7076191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7391C207-9349-46D5-9D89-8ADDA5014D1F}"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9</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5026444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15: Cryptographic Services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11</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t>15 – Cryptographic Services</a:t>
            </a:r>
          </a:p>
          <a:p>
            <a:r>
              <a:rPr lang="en-GB" dirty="0"/>
              <a:t>15.0.2 – What will I learn to do in this module?</a:t>
            </a:r>
          </a:p>
        </p:txBody>
      </p:sp>
    </p:spTree>
    <p:extLst>
      <p:ext uri="{BB962C8B-B14F-4D97-AF65-F5344CB8AC3E}">
        <p14:creationId xmlns:p14="http://schemas.microsoft.com/office/powerpoint/2010/main" val="15879240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15.1: Secure Communications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15.1: Secure Communications
15.1.1: Authentication, Integrity, and Confidentiality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15.1: Secure Communications
15.1.2: Authentication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15.1: Secure Communications
15.1.3: Data Integrity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15.1: Secure Communications
15.1.4: Data Confidentiality</a:t>
            </a:r>
          </a:p>
          <a:p>
            <a:r>
              <a:rPr lang="en-US" dirty="0"/>
              <a:t>15.1.5: Check Your Understanding - Identify the Secure Communication Objective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15.2: Cryptography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15.2: Cryptography
15.2.1: Creating Cipher Text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15.2: Cryptography
15.2.2: Transposition Ciphers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15.2: Cryptography
15.2.3: Substitution Ciphers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15.2: Cryptography
15.2.4: A More Complex Substitution Cipher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15.2: Cryptography
15.2.4: A More Complex Substitution Cipher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29177512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15.2: Cryptography
15.2.5: One-Time Pad Ciphers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15.3: Cryptanalysis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15.3: Cryptanalysis
15.3.1: Cracking Code
</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15.3: Cryptanalysis
15.3.2: Methods of Cracking Code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15.3: Cryptanalysis
15.3.3: Cracking Code Example</a:t>
            </a:r>
          </a:p>
          <a:p>
            <a:r>
              <a:rPr lang="en-US" dirty="0"/>
              <a:t>15.3.4: Check your Understanding- Crack the Code
</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15.4: Cryptology
</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15.4: Cryptology
15.4.1: Making and Breaking Secret Codes
</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15.4: Cryptology
15.4.2: Cryptanalysts
</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15.4: Cryptology
15.4.3: The Secret is in the Keys</a:t>
            </a:r>
          </a:p>
          <a:p>
            <a:r>
              <a:rPr lang="en-US" dirty="0"/>
              <a:t>15.4.4: Check Your Understanding - Cryptology Terminology
</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15.4: Cryptology
15.4.5: Lab - Exploring Encryption Methods
</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15.5: Cryptographic Services - Summary
</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15.5: Cryptographic Services - Summary
15.5.1: What Did I Learn in this Module?
</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Cryptographic Services
15.5: Cryptographic Services - Summary
15.5.1: What Did I Learn in this Module?</a:t>
            </a:r>
          </a:p>
          <a:p>
            <a:r>
              <a:rPr lang="en-US" dirty="0"/>
              <a:t>15.5.2: Module Quiz
</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dirty="0"/>
          </a:p>
        </p:txBody>
      </p:sp>
    </p:spTree>
    <p:extLst>
      <p:ext uri="{BB962C8B-B14F-4D97-AF65-F5344CB8AC3E}">
        <p14:creationId xmlns:p14="http://schemas.microsoft.com/office/powerpoint/2010/main" val="27417930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dirty="0"/>
              <a:t>15: Cryptographic Services</a:t>
            </a: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a:t>New Terms and Commands</a:t>
            </a:r>
          </a:p>
          <a:p>
            <a:r>
              <a:rPr lang="en-US" dirty="0"/>
              <a:t>
</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94960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641018C-6CAF-B84E-B92C-ECB119457FBA}"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dirty="0">
                <a:solidFill>
                  <a:srgbClr val="AFE8FB"/>
                </a:solidFill>
                <a:latin typeface="Arial" pitchFamily="34" charset="0"/>
                <a:ea typeface="Arial" pitchFamily="34" charset="-122"/>
                <a:cs typeface="Arial" pitchFamily="34" charset="-120"/>
              </a:rPr>
              <a:t>(custom placeholder text!)</a:t>
            </a:r>
            <a:endParaRPr lang="en-US" sz="36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dirty="0">
                <a:solidFill>
                  <a:srgbClr val="AFE8FB"/>
                </a:solidFill>
                <a:latin typeface="Arial" pitchFamily="34" charset="0"/>
                <a:ea typeface="Arial" pitchFamily="34" charset="-122"/>
                <a:cs typeface="Arial" pitchFamily="34" charset="-120"/>
              </a:rPr>
              <a:t>(custom placeholder text!)</a:t>
            </a:r>
            <a:endParaRPr lang="en-US" sz="42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dirty="0">
                <a:solidFill>
                  <a:srgbClr val="B1E8FA"/>
                </a:solidFill>
                <a:latin typeface="Arial" pitchFamily="34" charset="0"/>
                <a:ea typeface="Arial" pitchFamily="34" charset="-122"/>
                <a:cs typeface="Arial" pitchFamily="34" charset="-120"/>
              </a:rPr>
              <a:t>(custom placeholder text!)</a:t>
            </a:r>
            <a:endParaRPr lang="en-US" sz="4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dirty="0">
                <a:solidFill>
                  <a:srgbClr val="024C69"/>
                </a:solidFill>
                <a:latin typeface="Arial" pitchFamily="34" charset="0"/>
                <a:ea typeface="Arial" pitchFamily="34" charset="-122"/>
                <a:cs typeface="Arial" pitchFamily="34" charset="-120"/>
              </a:rPr>
              <a:t>(custom placeholder text!)</a:t>
            </a:r>
            <a:endParaRPr lang="en-US" sz="2200" dirty="0"/>
          </a:p>
        </p:txBody>
      </p:sp>
      <p:sp>
        <p:nvSpPr>
          <p:cNvPr id="3" name="Object2"/>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4" name="Object3"/>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5" name="Object 4"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4000210984"/>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223763386"/>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704673559"/>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365770633"/>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53565976"/>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409864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5177692"/>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2186835305"/>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3818715145"/>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2674312785"/>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76954566"/>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649978941"/>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121614875"/>
      </p:ext>
    </p:extLst>
  </p:cSld>
  <p:clrMapOvr>
    <a:masterClrMapping/>
  </p:clrMapOvr>
  <p:transition spd="slow">
    <p:wip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1002122348"/>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22177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theme" Target="../theme/theme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70"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2021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64935646"/>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0.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0.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0.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0.xml"/><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0.xml"/><Relationship Id="rId1" Type="http://schemas.openxmlformats.org/officeDocument/2006/relationships/tags" Target="../tags/tag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7.xml"/><Relationship Id="rId1" Type="http://schemas.openxmlformats.org/officeDocument/2006/relationships/tags" Target="../tags/tag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p>
            <a:pPr marL="0" indent="0">
              <a:buNone/>
            </a:pPr>
            <a:r>
              <a:rPr lang="en-US" dirty="0"/>
              <a:t>Module 15: Cryptographic Services</a:t>
            </a:r>
          </a:p>
        </p:txBody>
      </p:sp>
      <p:sp>
        <p:nvSpPr>
          <p:cNvPr id="3" name="Object2"/>
          <p:cNvSpPr/>
          <p:nvPr/>
        </p:nvSpPr>
        <p:spPr>
          <a:xfrm>
            <a:off x="457200" y="3343275"/>
            <a:ext cx="3657600" cy="914400"/>
          </a:xfrm>
          <a:prstGeom prst="rect">
            <a:avLst/>
          </a:prstGeom>
          <a:noFill/>
          <a:ln/>
        </p:spPr>
        <p:txBody>
          <a:bodyPr wrap="square" rtlCol="0" anchor="t"/>
          <a:lstStyle/>
          <a:p>
            <a:r>
              <a:rPr lang="en-US" sz="2000" dirty="0">
                <a:solidFill>
                  <a:srgbClr val="CEE8C3"/>
                </a:solidFill>
                <a:latin typeface="Arial" pitchFamily="34" charset="0"/>
                <a:ea typeface="Arial" pitchFamily="34" charset="-122"/>
                <a:cs typeface="Arial" pitchFamily="34" charset="-120"/>
              </a:rPr>
              <a:t>Instructor Materials</a:t>
            </a:r>
            <a:endParaRPr lang="en-US" sz="2000" dirty="0"/>
          </a:p>
        </p:txBody>
      </p:sp>
      <p:sp>
        <p:nvSpPr>
          <p:cNvPr id="4" name="Object3"/>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Instructor Materials – Module 15 Planning Guide</a:t>
            </a:r>
          </a:p>
        </p:txBody>
      </p:sp>
      <p:sp>
        <p:nvSpPr>
          <p:cNvPr id="3" name="Object2"/>
          <p:cNvSpPr/>
          <p:nvPr/>
        </p:nvSpPr>
        <p:spPr>
          <a:xfrm>
            <a:off x="315884" y="590204"/>
            <a:ext cx="8229600" cy="4629150"/>
          </a:xfrm>
          <a:prstGeom prst="rect">
            <a:avLst/>
          </a:prstGeom>
          <a:noFill/>
          <a:ln/>
        </p:spPr>
        <p:txBody>
          <a:bodyPr wrap="square" rtlCol="0" anchor="t"/>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This PowerPoint deck is divided in two parts: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2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Instructor Planning Guide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342900" algn="l" defTabSz="914400" rtl="0" eaLnBrk="1" fontAlgn="auto" latinLnBrk="0" hangingPunct="1">
              <a:lnSpc>
                <a:spcPts val="2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Information to help you become familiar with the module</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charset="0"/>
                <a:cs typeface="+mn-cs"/>
              </a:rPr>
              <a:t>Teaching aids</a:t>
            </a:r>
          </a:p>
          <a:p>
            <a:pPr marL="169863" marR="0" lvl="0" indent="-169863" algn="l" defTabSz="684213" rtl="0" eaLnBrk="1" fontAlgn="base" latinLnBrk="0" hangingPunct="1">
              <a:lnSpc>
                <a:spcPct val="100000"/>
              </a:lnSpc>
              <a:spcBef>
                <a:spcPts val="600"/>
              </a:spcBef>
              <a:spcAft>
                <a:spcPts val="600"/>
              </a:spcAft>
              <a:buClr>
                <a:srgbClr val="58585B"/>
              </a:buClr>
              <a:buSzPct val="90000"/>
              <a:buFont typeface="Arial" panose="020B0604020202020204" pitchFamily="34" charset="0"/>
              <a:buChar char="•"/>
              <a:tabLst/>
              <a:defRPr/>
            </a:pPr>
            <a:r>
              <a:rPr kumimoji="0" lang="en-CA" sz="1500" b="0" i="0" u="none" strike="noStrike" kern="1200" cap="none" spc="0" normalizeH="0" baseline="0" noProof="0" dirty="0">
                <a:ln>
                  <a:noFill/>
                </a:ln>
                <a:solidFill>
                  <a:srgbClr val="000000"/>
                </a:solidFill>
                <a:effectLst/>
                <a:uLnTx/>
                <a:uFillTx/>
                <a:latin typeface="Arial"/>
                <a:ea typeface="ＭＳ Ｐゴシック" charset="0"/>
                <a:cs typeface="+mn-cs"/>
              </a:rPr>
              <a:t>Instructor Class Presentation</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charset="0"/>
                <a:cs typeface="+mn-cs"/>
              </a:rPr>
              <a:t>Optional slides that you can use in the classroom</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charset="0"/>
                <a:cs typeface="+mn-cs"/>
              </a:rPr>
              <a:t>Begins on slide # 10.</a:t>
            </a:r>
          </a:p>
          <a:p>
            <a:pPr marL="142875" marR="0" lvl="1" indent="0" algn="ctr" defTabSz="684213" rtl="0" eaLnBrk="1" fontAlgn="base" latinLnBrk="0" hangingPunct="1">
              <a:lnSpc>
                <a:spcPct val="100000"/>
              </a:lnSpc>
              <a:spcBef>
                <a:spcPts val="300"/>
              </a:spcBef>
              <a:spcAft>
                <a:spcPts val="300"/>
              </a:spcAft>
              <a:buClr>
                <a:srgbClr val="58585B"/>
              </a:buClr>
              <a:buSzTx/>
              <a:buFontTx/>
              <a:buNone/>
              <a:tabLst/>
              <a:defRPr/>
            </a:pPr>
            <a:r>
              <a:rPr kumimoji="0" lang="en-CA" sz="1600" b="1" i="0" u="none" strike="noStrike" kern="1200" cap="none" spc="0" normalizeH="0" baseline="0" noProof="0" dirty="0">
                <a:ln>
                  <a:noFill/>
                </a:ln>
                <a:solidFill>
                  <a:srgbClr val="000000"/>
                </a:solidFill>
                <a:effectLst/>
                <a:uLnTx/>
                <a:uFillTx/>
                <a:latin typeface="Arial"/>
                <a:ea typeface="ＭＳ Ｐゴシック" charset="0"/>
                <a:cs typeface="+mn-cs"/>
              </a:rPr>
              <a:t>Note</a:t>
            </a:r>
            <a:r>
              <a:rPr kumimoji="0" lang="en-CA" sz="1600" b="0" i="0" u="none" strike="noStrike" kern="1200" cap="none" spc="0" normalizeH="0" baseline="0" noProof="0" dirty="0">
                <a:ln>
                  <a:noFill/>
                </a:ln>
                <a:solidFill>
                  <a:srgbClr val="000000"/>
                </a:solidFill>
                <a:effectLst/>
                <a:uLnTx/>
                <a:uFillTx/>
                <a:latin typeface="Arial"/>
                <a:ea typeface="ＭＳ Ｐゴシック" charset="0"/>
                <a:cs typeface="+mn-cs"/>
              </a:rPr>
              <a:t>: Remove the Planning Guide from this presentation before sharing with anyone.</a:t>
            </a:r>
          </a:p>
          <a:p>
            <a:pPr marL="0" marR="0" lvl="0" indent="0" algn="l" defTabSz="684213" rtl="0" eaLnBrk="1" fontAlgn="base" latinLnBrk="0" hangingPunct="1">
              <a:lnSpc>
                <a:spcPct val="100000"/>
              </a:lnSpc>
              <a:spcBef>
                <a:spcPts val="600"/>
              </a:spcBef>
              <a:spcAft>
                <a:spcPts val="600"/>
              </a:spcAft>
              <a:buClr>
                <a:srgbClr val="58585B"/>
              </a:buClr>
              <a:buSzPct val="90000"/>
              <a:buFontTx/>
              <a:buNone/>
              <a:tabLst/>
              <a:defRPr/>
            </a:pPr>
            <a:r>
              <a:rPr kumimoji="0" lang="en-CA" sz="1600" b="1" i="0" u="none" strike="noStrike" kern="1200" cap="none" spc="0" normalizeH="0" baseline="0" noProof="0" dirty="0">
                <a:ln>
                  <a:noFill/>
                </a:ln>
                <a:solidFill>
                  <a:srgbClr val="367187"/>
                </a:solidFill>
                <a:effectLst/>
                <a:uLnTx/>
                <a:uFillTx/>
                <a:latin typeface="Arial"/>
                <a:ea typeface="ＭＳ Ｐゴシック" charset="0"/>
                <a:cs typeface="+mn-cs"/>
              </a:rPr>
              <a:t>For additional help and resources go to the Instructor Home Page and Course Resources for this course. </a:t>
            </a:r>
            <a:r>
              <a:rPr kumimoji="0" lang="en-US" sz="1600" b="1" i="0" u="none" strike="noStrike" kern="1200" cap="none" spc="0" normalizeH="0" baseline="0" noProof="0" dirty="0">
                <a:ln>
                  <a:noFill/>
                </a:ln>
                <a:solidFill>
                  <a:srgbClr val="367187"/>
                </a:solidFill>
                <a:effectLst/>
                <a:uLnTx/>
                <a:uFillTx/>
                <a:latin typeface="Arial"/>
                <a:ea typeface="ＭＳ Ｐゴシック" charset="0"/>
                <a:cs typeface="+mn-cs"/>
              </a:rPr>
              <a:t>You also can visit the professional development site on netacad.com, the official Cisco Networking Academy Facebook page, or Instructor Only FB group.</a:t>
            </a:r>
            <a:endParaRPr kumimoji="0" lang="en-CA" sz="1600" b="1" i="0" u="none" strike="noStrike" kern="1200" cap="none" spc="0" normalizeH="0" baseline="0" noProof="0" dirty="0">
              <a:ln>
                <a:noFill/>
              </a:ln>
              <a:solidFill>
                <a:srgbClr val="367187"/>
              </a:solidFill>
              <a:effectLst/>
              <a:uLnTx/>
              <a:uFillTx/>
              <a:latin typeface="Arial"/>
              <a:ea typeface="ＭＳ Ｐゴシック" charset="0"/>
              <a:cs typeface="+mn-cs"/>
            </a:endParaRPr>
          </a:p>
          <a:p>
            <a:pPr marL="685800" marR="0" lvl="1" indent="-342900" algn="l" defTabSz="914400" rtl="0" eaLnBrk="1" fontAlgn="auto" latinLnBrk="0" hangingPunct="1">
              <a:lnSpc>
                <a:spcPts val="2000"/>
              </a:lnSpc>
              <a:spcBef>
                <a:spcPts val="0"/>
              </a:spcBef>
              <a:spcAft>
                <a:spcPts val="0"/>
              </a:spcAft>
              <a:buClrTx/>
              <a:buSzPct val="100000"/>
              <a:buFontTx/>
              <a:buChar char="•"/>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600" b="0" i="0" u="none" strike="noStrike" kern="1200" cap="none" spc="0" normalizeH="0" baseline="0" noProof="0" dirty="0">
              <a:ln>
                <a:noFill/>
              </a:ln>
              <a:solidFill>
                <a:srgbClr val="D9D9D9"/>
              </a:solidFill>
              <a:effectLst/>
              <a:uLnTx/>
              <a:uFillTx/>
              <a:latin typeface="Calibri" panose="020F0502020204030204"/>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r>
              <a:rPr lang="en-US" dirty="0"/>
              <a:t>What to Expect in this Module</a:t>
            </a:r>
          </a:p>
        </p:txBody>
      </p:sp>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pPr marL="0" indent="0">
              <a:buNone/>
            </a:pPr>
            <a:r>
              <a:rPr lang="en-US" dirty="0"/>
              <a:t>To facilitate learning, the following features within the GUI may be included in this module:</a:t>
            </a:r>
          </a:p>
          <a:p>
            <a:endParaRPr lang="en-US" dirty="0"/>
          </a:p>
          <a:p>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r>
                        <a:rPr lang="en-US" dirty="0"/>
                        <a:t>Feature</a:t>
                      </a:r>
                    </a:p>
                  </a:txBody>
                  <a:tcPr/>
                </a:tc>
                <a:tc>
                  <a:txBody>
                    <a:bodyPr/>
                    <a:lstStyle/>
                    <a:p>
                      <a:r>
                        <a:rPr lang="en-US" dirty="0"/>
                        <a:t>Description</a:t>
                      </a:r>
                    </a:p>
                  </a:txBody>
                  <a:tcPr/>
                </a:tc>
                <a:extLst>
                  <a:ext uri="{0D108BD9-81ED-4DB2-BD59-A6C34878D82A}">
                    <a16:rowId xmlns:a16="http://schemas.microsoft.com/office/drawing/2014/main" val="367710602"/>
                  </a:ext>
                </a:extLst>
              </a:tr>
              <a:tr h="331556">
                <a:tc>
                  <a:txBody>
                    <a:bodyPr/>
                    <a:lstStyle/>
                    <a:p>
                      <a:pPr algn="l" fontAlgn="b"/>
                      <a:r>
                        <a:rPr lang="en-US" sz="1400" b="0" i="0" u="none" strike="noStrike" dirty="0">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Per topic online quiz to help learners gauge content understanding.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Interactive Activities</a:t>
                      </a:r>
                    </a:p>
                  </a:txBody>
                  <a:tcPr marL="9525" marR="9525" marT="9525" marB="0" anchor="b"/>
                </a:tc>
                <a:tc>
                  <a:txBody>
                    <a:bodyPr/>
                    <a:lstStyle/>
                    <a:p>
                      <a:r>
                        <a:rPr lang="en-US" dirty="0"/>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fontAlgn="b"/>
                      <a:r>
                        <a:rPr lang="en-US" sz="1400" b="0" i="0" u="none" strike="noStrike" dirty="0">
                          <a:solidFill>
                            <a:srgbClr val="000000"/>
                          </a:solidFill>
                          <a:effectLst/>
                          <a:latin typeface="+mn-lt"/>
                        </a:rPr>
                        <a:t>Syntax Checker</a:t>
                      </a:r>
                    </a:p>
                  </a:txBody>
                  <a:tcPr marL="9525" marR="9525" marT="9525" marB="0" anchor="b"/>
                </a:tc>
                <a:tc>
                  <a:txBody>
                    <a:bodyPr/>
                    <a:lstStyle/>
                    <a:p>
                      <a:r>
                        <a:rPr lang="en-US" dirty="0"/>
                        <a:t>Small simulations that expose learners to Cisco command line to practice configuration skills.</a:t>
                      </a:r>
                    </a:p>
                  </a:txBody>
                  <a:tcPr/>
                </a:tc>
                <a:extLst>
                  <a:ext uri="{0D108BD9-81ED-4DB2-BD59-A6C34878D82A}">
                    <a16:rowId xmlns:a16="http://schemas.microsoft.com/office/drawing/2014/main" val="2195331658"/>
                  </a:ext>
                </a:extLst>
              </a:tr>
              <a:tr h="265091">
                <a:tc>
                  <a:txBody>
                    <a:bodyPr/>
                    <a:lstStyle/>
                    <a:p>
                      <a:pPr algn="l" fontAlgn="b"/>
                      <a:r>
                        <a:rPr lang="en-US" sz="1400" b="0" i="0" u="none" strike="noStrike" dirty="0">
                          <a:solidFill>
                            <a:srgbClr val="000000"/>
                          </a:solidFill>
                          <a:effectLst/>
                          <a:latin typeface="+mn-lt"/>
                        </a:rPr>
                        <a:t>PT Activity</a:t>
                      </a:r>
                    </a:p>
                  </a:txBody>
                  <a:tcPr marL="9525" marR="9525" marT="9525" marB="0" anchor="b"/>
                </a:tc>
                <a:tc>
                  <a:txBody>
                    <a:bodyPr/>
                    <a:lstStyle/>
                    <a:p>
                      <a:r>
                        <a:rPr lang="en-US" dirty="0"/>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r>
              <a:rPr lang="en-US" dirty="0"/>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r>
              <a:rPr kumimoji="0" lang="en-US" sz="1500" b="0" i="0" u="none" strike="noStrike" kern="1200" cap="none" spc="0" normalizeH="0" baseline="0" noProof="0" dirty="0">
                <a:ln>
                  <a:noFill/>
                </a:ln>
                <a:solidFill>
                  <a:srgbClr val="000000"/>
                </a:solidFill>
                <a:effectLst/>
                <a:uLnTx/>
                <a:uFillTx/>
                <a:latin typeface="Arial"/>
                <a:ea typeface="ＭＳ Ｐゴシック" charset="0"/>
              </a:rPr>
              <a:t>To facilitate learning, the following features may be included in this module:</a:t>
            </a: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fontAlgn="b"/>
                      <a:r>
                        <a:rPr lang="en-US" sz="1400" b="1" i="0" u="none" strike="noStrike" dirty="0">
                          <a:solidFill>
                            <a:schemeClr val="bg1"/>
                          </a:solidFill>
                          <a:effectLst/>
                          <a:latin typeface="+mn-lt"/>
                        </a:rPr>
                        <a:t>Feature</a:t>
                      </a:r>
                    </a:p>
                  </a:txBody>
                  <a:tcPr marL="9525" marR="9525" marT="9525" marB="0" anchor="b"/>
                </a:tc>
                <a:tc>
                  <a:txBody>
                    <a:bodyPr/>
                    <a:lstStyle/>
                    <a:p>
                      <a:r>
                        <a:rPr lang="en-US" dirty="0"/>
                        <a:t>Description</a:t>
                      </a:r>
                    </a:p>
                  </a:txBody>
                  <a:tcPr/>
                </a:tc>
                <a:extLst>
                  <a:ext uri="{0D108BD9-81ED-4DB2-BD59-A6C34878D82A}">
                    <a16:rowId xmlns:a16="http://schemas.microsoft.com/office/drawing/2014/main" val="3768427975"/>
                  </a:ext>
                </a:extLst>
              </a:tr>
              <a:tr h="265091">
                <a:tc>
                  <a:txBody>
                    <a:bodyPr/>
                    <a:lstStyle/>
                    <a:p>
                      <a:pPr algn="l" fontAlgn="b"/>
                      <a:r>
                        <a:rPr lang="en-US" sz="1400" b="0" i="0" u="none" strike="noStrike" dirty="0">
                          <a:solidFill>
                            <a:srgbClr val="000000"/>
                          </a:solidFill>
                          <a:effectLst/>
                          <a:latin typeface="+mn-lt"/>
                        </a:rPr>
                        <a:t>Hands-On Labs</a:t>
                      </a:r>
                    </a:p>
                  </a:txBody>
                  <a:tcPr marL="9525" marR="9525" marT="9525" marB="0" anchor="b"/>
                </a:tc>
                <a:tc>
                  <a:txBody>
                    <a:bodyPr/>
                    <a:lstStyle/>
                    <a:p>
                      <a:r>
                        <a:rPr lang="en-US" dirty="0"/>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fontAlgn="b"/>
                      <a:r>
                        <a:rPr lang="en-US" sz="1400" b="0" i="0" u="none" strike="noStrike" dirty="0">
                          <a:solidFill>
                            <a:srgbClr val="000000"/>
                          </a:solidFill>
                          <a:effectLst/>
                          <a:latin typeface="+mn-lt"/>
                        </a:rPr>
                        <a:t>Module Quizzes</a:t>
                      </a:r>
                    </a:p>
                  </a:txBody>
                  <a:tcPr marL="9525" marR="9525" marT="9525" marB="0" anchor="b"/>
                </a:tc>
                <a:tc>
                  <a:txBody>
                    <a:bodyPr/>
                    <a:lstStyle/>
                    <a:p>
                      <a:r>
                        <a:rPr lang="en-US" dirty="0"/>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fontAlgn="b"/>
                      <a:r>
                        <a:rPr lang="en-US" sz="1400" b="0" i="0" u="none" strike="noStrike" dirty="0">
                          <a:solidFill>
                            <a:srgbClr val="000000"/>
                          </a:solidFill>
                          <a:effectLst/>
                          <a:latin typeface="+mn-lt"/>
                        </a:rPr>
                        <a:t>Module Summary</a:t>
                      </a:r>
                    </a:p>
                  </a:txBody>
                  <a:tcPr marL="9525" marR="9525" marT="9525" marB="0" anchor="b"/>
                </a:tc>
                <a:tc>
                  <a:txBody>
                    <a:bodyPr/>
                    <a:lstStyle/>
                    <a:p>
                      <a:r>
                        <a:rPr lang="en-US" dirty="0"/>
                        <a:t>Briefly recaps module content.</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eaLnBrk="1" hangingPunct="1"/>
            <a:r>
              <a:rPr lang="en-US" dirty="0"/>
              <a:t>Check Your Understanding</a:t>
            </a:r>
          </a:p>
        </p:txBody>
      </p:sp>
      <p:sp>
        <p:nvSpPr>
          <p:cNvPr id="7171" name="Rectangle 34"/>
          <p:cNvSpPr>
            <a:spLocks noGrp="1" noChangeArrowheads="1"/>
          </p:cNvSpPr>
          <p:nvPr>
            <p:ph idx="1"/>
          </p:nvPr>
        </p:nvSpPr>
        <p:spPr>
          <a:xfrm>
            <a:off x="145357" y="965201"/>
            <a:ext cx="8878570" cy="3643747"/>
          </a:xfrm>
        </p:spPr>
        <p:txBody>
          <a:bodyPr/>
          <a:lstStyle/>
          <a:p>
            <a:pPr>
              <a:spcBef>
                <a:spcPct val="30000"/>
              </a:spcBef>
              <a:buFont typeface="Arial" panose="020B0604020202020204" pitchFamily="34" charset="0"/>
              <a:buChar char="•"/>
            </a:pPr>
            <a:r>
              <a:rPr lang="en-US" dirty="0"/>
              <a:t>Check Your Understanding activities are designed to let students quickly determine if they understand the content and can proceed, or if they need to review. </a:t>
            </a:r>
          </a:p>
          <a:p>
            <a:pPr>
              <a:spcBef>
                <a:spcPct val="30000"/>
              </a:spcBef>
              <a:buFont typeface="Arial" panose="020B0604020202020204" pitchFamily="34" charset="0"/>
              <a:buChar char="•"/>
            </a:pPr>
            <a:r>
              <a:rPr lang="en-US" dirty="0"/>
              <a:t>Check Your Understanding activities </a:t>
            </a:r>
            <a:r>
              <a:rPr lang="en-US" b="1" i="1" dirty="0"/>
              <a:t>do not </a:t>
            </a:r>
            <a:r>
              <a:rPr lang="en-US" dirty="0"/>
              <a:t>affect student grades.</a:t>
            </a:r>
          </a:p>
          <a:p>
            <a:pPr>
              <a:spcBef>
                <a:spcPct val="30000"/>
              </a:spcBef>
              <a:buFont typeface="Arial" panose="020B0604020202020204" pitchFamily="34" charset="0"/>
              <a:buChar char="•"/>
            </a:pPr>
            <a:r>
              <a:rPr lang="en-US" dirty="0"/>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1533357529"/>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Module 15: Activities</a:t>
            </a:r>
          </a:p>
        </p:txBody>
      </p:sp>
      <p:sp>
        <p:nvSpPr>
          <p:cNvPr id="3" name="Object2"/>
          <p:cNvSpPr/>
          <p:nvPr/>
        </p:nvSpPr>
        <p:spPr>
          <a:xfrm>
            <a:off x="0" y="457200"/>
            <a:ext cx="8229600" cy="361950"/>
          </a:xfrm>
          <a:prstGeom prst="rect">
            <a:avLst/>
          </a:prstGeom>
          <a:noFill/>
          <a:ln/>
        </p:spPr>
        <p:txBody>
          <a:bodyPr wrap="square" rtlCol="0" anchor="t"/>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What activities are associated with this module?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600" b="0" i="0" u="none" strike="noStrike" kern="1200" cap="none" spc="0" normalizeH="0" baseline="0" noProof="0" dirty="0">
              <a:ln>
                <a:noFill/>
              </a:ln>
              <a:solidFill>
                <a:srgbClr val="D9D9D9"/>
              </a:solidFill>
              <a:effectLst/>
              <a:uLnTx/>
              <a:uFillTx/>
              <a:latin typeface="Calibri" panose="020F0502020204030204"/>
              <a:ea typeface="+mn-ea"/>
              <a:cs typeface="+mn-cs"/>
            </a:endParaRPr>
          </a:p>
        </p:txBody>
      </p:sp>
      <p:graphicFrame>
        <p:nvGraphicFramePr>
          <p:cNvPr id="8" name="Content Placeholder 3">
            <a:extLst>
              <a:ext uri="{FF2B5EF4-FFF2-40B4-BE49-F238E27FC236}">
                <a16:creationId xmlns:a16="http://schemas.microsoft.com/office/drawing/2014/main" id="{2334105E-9CC5-47D6-A20B-E5E2B607CFAE}"/>
              </a:ext>
            </a:extLst>
          </p:cNvPr>
          <p:cNvGraphicFramePr>
            <a:graphicFrameLocks/>
          </p:cNvGraphicFramePr>
          <p:nvPr>
            <p:extLst>
              <p:ext uri="{D42A27DB-BD31-4B8C-83A1-F6EECF244321}">
                <p14:modId xmlns:p14="http://schemas.microsoft.com/office/powerpoint/2010/main" val="3432461703"/>
              </p:ext>
            </p:extLst>
          </p:nvPr>
        </p:nvGraphicFramePr>
        <p:xfrm>
          <a:off x="455999" y="1147358"/>
          <a:ext cx="8229418" cy="2406138"/>
        </p:xfrm>
        <a:graphic>
          <a:graphicData uri="http://schemas.openxmlformats.org/drawingml/2006/table">
            <a:tbl>
              <a:tblPr firstRow="1" bandRow="1"/>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dirty="0"/>
                        <a:t>Activity Name</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dirty="0"/>
                        <a:t>Optional?</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extLst>
                  <a:ext uri="{0D108BD9-81ED-4DB2-BD59-A6C34878D82A}">
                    <a16:rowId xmlns:a16="http://schemas.microsoft.com/office/drawing/2014/main" val="10000"/>
                  </a:ext>
                </a:extLst>
              </a:tr>
              <a:tr h="350784">
                <a:tc>
                  <a:txBody>
                    <a:bodyPr/>
                    <a:lstStyle/>
                    <a:p>
                      <a:pPr algn="ctr"/>
                      <a:r>
                        <a:rPr lang="en-US" sz="1100" dirty="0">
                          <a:latin typeface="Arial" panose="020B0604020202020204" pitchFamily="34" charset="0"/>
                          <a:cs typeface="Arial" panose="020B0604020202020204" pitchFamily="34" charset="0"/>
                        </a:rPr>
                        <a:t>15.0.3</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Lab</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100" dirty="0">
                          <a:latin typeface="Arial" panose="020B0604020202020204" pitchFamily="34" charset="0"/>
                          <a:cs typeface="Arial" panose="020B0604020202020204" pitchFamily="34" charset="0"/>
                        </a:rPr>
                        <a:t>Creating Codes</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r>
                        <a:rPr lang="en-US" sz="1100" dirty="0">
                          <a:solidFill>
                            <a:schemeClr val="tx1"/>
                          </a:solidFill>
                          <a:latin typeface="Arial" panose="020B0604020202020204" pitchFamily="34" charset="0"/>
                          <a:cs typeface="Arial" panose="020B0604020202020204" pitchFamily="34" charset="0"/>
                        </a:rPr>
                        <a:t>Recommended</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299023133"/>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latin typeface="Arial" panose="020B0604020202020204" pitchFamily="34" charset="0"/>
                          <a:cs typeface="Arial" panose="020B0604020202020204" pitchFamily="34" charset="0"/>
                        </a:rPr>
                        <a:t>15.1.5</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Check Your Understanding</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latin typeface="Arial" panose="020B0604020202020204" pitchFamily="34" charset="0"/>
                          <a:cs typeface="Arial" panose="020B0604020202020204" pitchFamily="34" charset="0"/>
                        </a:rPr>
                        <a:t>Identify the Secure Communication Objective</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latin typeface="Arial" panose="020B0604020202020204" pitchFamily="34" charset="0"/>
                          <a:cs typeface="Arial" panose="020B0604020202020204" pitchFamily="34" charset="0"/>
                        </a:rPr>
                        <a:t>Recommended</a:t>
                      </a:r>
                      <a:endParaRPr lang="en-US" sz="1100" dirty="0">
                        <a:solidFill>
                          <a:schemeClr val="tx1"/>
                        </a:solidFill>
                        <a:latin typeface="Arial" panose="020B0604020202020204" pitchFamily="34" charset="0"/>
                        <a:cs typeface="Arial" panose="020B0604020202020204" pitchFamily="34" charset="0"/>
                      </a:endParaRP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10001"/>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latin typeface="Arial" panose="020B0604020202020204" pitchFamily="34" charset="0"/>
                          <a:cs typeface="Arial" panose="020B0604020202020204" pitchFamily="34" charset="0"/>
                        </a:rPr>
                        <a:t>15.3.4</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Check Your Understanding</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latin typeface="Arial" panose="020B0604020202020204" pitchFamily="34" charset="0"/>
                          <a:cs typeface="Arial" panose="020B0604020202020204" pitchFamily="34" charset="0"/>
                        </a:rPr>
                        <a:t>Crack the Code</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latin typeface="Arial" panose="020B0604020202020204" pitchFamily="34" charset="0"/>
                          <a:cs typeface="Arial" panose="020B0604020202020204" pitchFamily="34" charset="0"/>
                        </a:rPr>
                        <a:t>Recommended</a:t>
                      </a:r>
                      <a:endParaRPr lang="en-US" sz="1100" dirty="0">
                        <a:solidFill>
                          <a:schemeClr val="tx1"/>
                        </a:solidFill>
                        <a:latin typeface="Arial" panose="020B0604020202020204" pitchFamily="34" charset="0"/>
                        <a:cs typeface="Arial" panose="020B0604020202020204" pitchFamily="34" charset="0"/>
                      </a:endParaRP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6"/>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latin typeface="Arial" panose="020B0604020202020204" pitchFamily="34" charset="0"/>
                          <a:cs typeface="Arial" panose="020B0604020202020204" pitchFamily="34" charset="0"/>
                        </a:rPr>
                        <a:t>15.4.4</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Check Your Understanding</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Cryptology Terminology</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latin typeface="Arial" panose="020B0604020202020204" pitchFamily="34" charset="0"/>
                          <a:cs typeface="Arial" panose="020B0604020202020204" pitchFamily="34" charset="0"/>
                        </a:rPr>
                        <a:t>Recommended</a:t>
                      </a:r>
                      <a:endParaRPr kumimoji="0" lang="en-US" sz="1100" b="0" i="0" u="none" strike="noStrike" kern="1200" cap="none" spc="0" normalizeH="0" baseline="0" noProof="0" dirty="0">
                        <a:ln>
                          <a:noFill/>
                        </a:ln>
                        <a:solidFill>
                          <a:srgbClr val="58585B"/>
                        </a:solidFill>
                        <a:effectLst/>
                        <a:uLnTx/>
                        <a:uFillTx/>
                        <a:latin typeface="Arial" panose="020B0604020202020204" pitchFamily="34" charset="0"/>
                        <a:ea typeface="+mn-ea"/>
                        <a:cs typeface="Arial" panose="020B0604020202020204" pitchFamily="34" charset="0"/>
                      </a:endParaRP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10008"/>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latin typeface="Arial" panose="020B0604020202020204" pitchFamily="34" charset="0"/>
                          <a:cs typeface="Arial" panose="020B0604020202020204" pitchFamily="34" charset="0"/>
                        </a:rPr>
                        <a:t>15.4.5</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Lab</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Exploring Encryption Methods</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latin typeface="Arial" panose="020B0604020202020204" pitchFamily="34" charset="0"/>
                          <a:cs typeface="Arial" panose="020B0604020202020204" pitchFamily="34" charset="0"/>
                        </a:rPr>
                        <a:t>Recommended</a:t>
                      </a:r>
                      <a:endParaRPr kumimoji="0" lang="en-US" sz="1100" b="0" i="0" u="none" strike="noStrike" kern="1200" cap="none" spc="0" normalizeH="0" baseline="0" noProof="0" dirty="0">
                        <a:ln>
                          <a:noFill/>
                        </a:ln>
                        <a:solidFill>
                          <a:srgbClr val="58585B"/>
                        </a:solidFill>
                        <a:effectLst/>
                        <a:uLnTx/>
                        <a:uFillTx/>
                        <a:latin typeface="Arial" panose="020B0604020202020204" pitchFamily="34" charset="0"/>
                        <a:ea typeface="+mn-ea"/>
                        <a:cs typeface="Arial" panose="020B0604020202020204" pitchFamily="34" charset="0"/>
                      </a:endParaRP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582900979"/>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latin typeface="Arial" panose="020B0604020202020204" pitchFamily="34" charset="0"/>
                          <a:cs typeface="Arial" panose="020B0604020202020204" pitchFamily="34" charset="0"/>
                        </a:rPr>
                        <a:t>15.5.2</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Module Quiz</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Cryptographic Services Quiz</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latin typeface="Arial" panose="020B0604020202020204" pitchFamily="34" charset="0"/>
                          <a:cs typeface="Arial" panose="020B0604020202020204" pitchFamily="34" charset="0"/>
                        </a:rPr>
                        <a:t>Recommended</a:t>
                      </a:r>
                      <a:endParaRPr kumimoji="0" lang="en-US" sz="1100" b="0" i="0" u="none" strike="noStrike" kern="1200" cap="none" spc="0" normalizeH="0" baseline="0" noProof="0" dirty="0">
                        <a:ln>
                          <a:noFill/>
                        </a:ln>
                        <a:solidFill>
                          <a:srgbClr val="58585B"/>
                        </a:solidFill>
                        <a:effectLst/>
                        <a:uLnTx/>
                        <a:uFillTx/>
                        <a:latin typeface="Arial" panose="020B0604020202020204" pitchFamily="34" charset="0"/>
                        <a:ea typeface="+mn-ea"/>
                        <a:cs typeface="Arial" panose="020B0604020202020204" pitchFamily="34" charset="0"/>
                      </a:endParaRP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3522544737"/>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15: Best Practices</a:t>
            </a:r>
          </a:p>
        </p:txBody>
      </p:sp>
      <p:sp>
        <p:nvSpPr>
          <p:cNvPr id="11266" name="Rectangle 34"/>
          <p:cNvSpPr>
            <a:spLocks noGrp="1" noChangeArrowheads="1"/>
          </p:cNvSpPr>
          <p:nvPr>
            <p:ph idx="1"/>
          </p:nvPr>
        </p:nvSpPr>
        <p:spPr/>
        <p:txBody>
          <a:bodyPr/>
          <a:lstStyle/>
          <a:p>
            <a:pPr marL="0" indent="0">
              <a:lnSpc>
                <a:spcPct val="85000"/>
              </a:lnSpc>
              <a:spcBef>
                <a:spcPct val="30000"/>
              </a:spcBef>
              <a:buNone/>
            </a:pPr>
            <a:r>
              <a:rPr lang="en-US" sz="1600" dirty="0"/>
              <a:t>Prior to teaching Module 15, the instructor should:</a:t>
            </a:r>
          </a:p>
          <a:p>
            <a:pPr>
              <a:lnSpc>
                <a:spcPct val="85000"/>
              </a:lnSpc>
              <a:spcBef>
                <a:spcPct val="30000"/>
              </a:spcBef>
              <a:buFont typeface="Arial" panose="020B0604020202020204" pitchFamily="34" charset="0"/>
              <a:buChar char="•"/>
            </a:pPr>
            <a:r>
              <a:rPr lang="en-US" sz="1600" dirty="0"/>
              <a:t>Review the activities and assessments for this module.</a:t>
            </a:r>
          </a:p>
          <a:p>
            <a:pPr>
              <a:lnSpc>
                <a:spcPct val="85000"/>
              </a:lnSpc>
              <a:spcBef>
                <a:spcPct val="30000"/>
              </a:spcBef>
              <a:buFont typeface="Arial" panose="020B0604020202020204" pitchFamily="34" charset="0"/>
              <a:buChar char="•"/>
            </a:pPr>
            <a:r>
              <a:rPr lang="en-US" sz="1600" dirty="0"/>
              <a:t>Try to include as many questions as possible to keep students engaged during classroom presentation.</a:t>
            </a:r>
          </a:p>
          <a:p>
            <a:pPr marL="0" indent="0">
              <a:lnSpc>
                <a:spcPct val="85000"/>
              </a:lnSpc>
              <a:spcBef>
                <a:spcPct val="30000"/>
              </a:spcBef>
              <a:buNone/>
            </a:pPr>
            <a:endParaRPr lang="en-US" sz="1600" dirty="0"/>
          </a:p>
          <a:p>
            <a:pPr marL="0" indent="0">
              <a:lnSpc>
                <a:spcPct val="85000"/>
              </a:lnSpc>
              <a:spcBef>
                <a:spcPct val="30000"/>
              </a:spcBef>
              <a:buNone/>
            </a:pPr>
            <a:r>
              <a:rPr lang="en-US" sz="1600" dirty="0"/>
              <a:t>Topic 15.1</a:t>
            </a:r>
          </a:p>
          <a:p>
            <a:pPr lvl="1"/>
            <a:r>
              <a:rPr lang="en-US" altLang="ja-JP" sz="1600" dirty="0"/>
              <a:t>Ask the class “You must secure email traffic between a branch site and the HQ site.  What are three things that you would need to implement to secure messages between the sites?” Elicit that they would need to implement:</a:t>
            </a:r>
          </a:p>
          <a:p>
            <a:pPr lvl="2"/>
            <a:r>
              <a:rPr lang="en-US" altLang="ja-JP" sz="1400" dirty="0"/>
              <a:t>Confidentiality in case the email was captured and read.</a:t>
            </a:r>
          </a:p>
          <a:p>
            <a:pPr lvl="2"/>
            <a:r>
              <a:rPr lang="en-US" altLang="ja-JP" sz="1400" dirty="0"/>
              <a:t>Integrity to ensure that nothing in the email has changed.</a:t>
            </a:r>
          </a:p>
          <a:p>
            <a:pPr lvl="2"/>
            <a:r>
              <a:rPr lang="en-US" altLang="ja-JP" sz="1400" dirty="0"/>
              <a:t>Authenticity to ensure that the message came from the other destination.</a:t>
            </a:r>
          </a:p>
          <a:p>
            <a:pPr lvl="2"/>
            <a:endParaRPr lang="en-US" altLang="ja-JP" sz="1400" dirty="0"/>
          </a:p>
          <a:p>
            <a:pPr lvl="1">
              <a:lnSpc>
                <a:spcPct val="85000"/>
              </a:lnSpc>
              <a:spcBef>
                <a:spcPct val="30000"/>
              </a:spcBef>
            </a:pPr>
            <a:endParaRPr lang="en-US" sz="1600"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1138333762"/>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15: Best Practices</a:t>
            </a:r>
          </a:p>
        </p:txBody>
      </p:sp>
      <p:sp>
        <p:nvSpPr>
          <p:cNvPr id="11266" name="Rectangle 34"/>
          <p:cNvSpPr>
            <a:spLocks noGrp="1" noChangeArrowheads="1"/>
          </p:cNvSpPr>
          <p:nvPr>
            <p:ph idx="1"/>
          </p:nvPr>
        </p:nvSpPr>
        <p:spPr/>
        <p:txBody>
          <a:bodyPr/>
          <a:lstStyle/>
          <a:p>
            <a:pPr marL="0" indent="0">
              <a:lnSpc>
                <a:spcPct val="85000"/>
              </a:lnSpc>
              <a:spcBef>
                <a:spcPct val="30000"/>
              </a:spcBef>
              <a:buNone/>
            </a:pPr>
            <a:r>
              <a:rPr lang="en-US" sz="1600" dirty="0"/>
              <a:t>Topic 15.2</a:t>
            </a:r>
          </a:p>
          <a:p>
            <a:pPr lvl="1"/>
            <a:r>
              <a:rPr lang="en-US" altLang="ja-JP" sz="1600" dirty="0"/>
              <a:t>Tell the class that “Cryptography is the </a:t>
            </a:r>
            <a:r>
              <a:rPr lang="en-CA" altLang="ja-JP" sz="1600" dirty="0"/>
              <a:t>development and use of secret codes. Encryption is the common method used in cryptography.”</a:t>
            </a:r>
            <a:endParaRPr lang="en-US" altLang="ja-JP" sz="1600" dirty="0"/>
          </a:p>
          <a:p>
            <a:pPr lvl="1"/>
            <a:r>
              <a:rPr lang="en-US" altLang="ja-JP" sz="1600" dirty="0"/>
              <a:t>Ask the class “Encrypt a message on paper between you and a friend. This message should not be decipherable by anyone else other than you and your friend?”  Elicit answers and try to relate them to the encryption method and the “key” to solve the encryption. </a:t>
            </a:r>
          </a:p>
          <a:p>
            <a:pPr lvl="1"/>
            <a:endParaRPr lang="en-US" sz="1600" dirty="0"/>
          </a:p>
          <a:p>
            <a:pPr marL="0" indent="0">
              <a:lnSpc>
                <a:spcPct val="85000"/>
              </a:lnSpc>
              <a:spcBef>
                <a:spcPct val="30000"/>
              </a:spcBef>
              <a:buNone/>
            </a:pPr>
            <a:r>
              <a:rPr lang="en-US" sz="1600" dirty="0"/>
              <a:t>Topic 15.3</a:t>
            </a:r>
          </a:p>
          <a:p>
            <a:pPr lvl="1"/>
            <a:r>
              <a:rPr lang="en-US" altLang="ja-JP" sz="1600" dirty="0"/>
              <a:t>Tell the class that “Cryptanalysis is the </a:t>
            </a:r>
            <a:r>
              <a:rPr lang="en-CA" altLang="ja-JP" sz="1600" dirty="0"/>
              <a:t>breaking of codes without knowing the encryption method or the key.  Cryptanalysts use various methods to break codes.”</a:t>
            </a:r>
            <a:endParaRPr lang="en-US" altLang="ja-JP" sz="1600" dirty="0"/>
          </a:p>
          <a:p>
            <a:pPr lvl="1"/>
            <a:r>
              <a:rPr lang="en-US" altLang="ja-JP" sz="1600" dirty="0"/>
              <a:t>Ask the class “Attempt to decrypt the message on paper?”</a:t>
            </a:r>
          </a:p>
          <a:p>
            <a:pPr lvl="1"/>
            <a:endParaRPr lang="en-US" dirty="0"/>
          </a:p>
        </p:txBody>
      </p:sp>
    </p:spTree>
    <p:custDataLst>
      <p:tags r:id="rId1"/>
    </p:custDataLst>
    <p:extLst>
      <p:ext uri="{BB962C8B-B14F-4D97-AF65-F5344CB8AC3E}">
        <p14:creationId xmlns:p14="http://schemas.microsoft.com/office/powerpoint/2010/main" val="4271250794"/>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Module 15: Best Practices</a:t>
            </a:r>
          </a:p>
        </p:txBody>
      </p:sp>
      <p:sp>
        <p:nvSpPr>
          <p:cNvPr id="11266" name="Rectangle 34"/>
          <p:cNvSpPr>
            <a:spLocks noGrp="1" noChangeArrowheads="1"/>
          </p:cNvSpPr>
          <p:nvPr>
            <p:ph idx="1"/>
          </p:nvPr>
        </p:nvSpPr>
        <p:spPr/>
        <p:txBody>
          <a:bodyPr/>
          <a:lstStyle/>
          <a:p>
            <a:pPr marL="0" indent="0">
              <a:lnSpc>
                <a:spcPct val="85000"/>
              </a:lnSpc>
              <a:spcBef>
                <a:spcPct val="30000"/>
              </a:spcBef>
              <a:buNone/>
            </a:pPr>
            <a:r>
              <a:rPr lang="en-US" sz="1600" dirty="0"/>
              <a:t>Topic 15.4</a:t>
            </a:r>
          </a:p>
          <a:p>
            <a:pPr lvl="1"/>
            <a:r>
              <a:rPr lang="en-US" altLang="ja-JP" sz="1600" dirty="0"/>
              <a:t>Tell the class that “Cryptology is t</a:t>
            </a:r>
            <a:r>
              <a:rPr lang="en-CA" altLang="ja-JP" sz="1600" dirty="0"/>
              <a:t>he science of making (cryptography) and breaking (cryptanalysis) of secret code.”</a:t>
            </a:r>
            <a:endParaRPr lang="en-US" altLang="ja-JP" sz="1600" dirty="0"/>
          </a:p>
          <a:p>
            <a:pPr lvl="1"/>
            <a:r>
              <a:rPr lang="en-US" altLang="ja-JP" sz="1600" dirty="0"/>
              <a:t>Ask the class “Can anyone tell give me examples of cryptology methods used over the centuries?” Elicit answers.</a:t>
            </a:r>
          </a:p>
          <a:p>
            <a:pPr lvl="1"/>
            <a:r>
              <a:rPr lang="en-US" altLang="ja-JP" sz="1600" dirty="0"/>
              <a:t>Tell the class “You locked your bicycle last season with a three-tumbler combination lock and now you cannot remember the 3-digit code.” </a:t>
            </a:r>
          </a:p>
          <a:p>
            <a:pPr lvl="1"/>
            <a:r>
              <a:rPr lang="en-US" altLang="ja-JP" sz="1600" dirty="0"/>
              <a:t>Ask the class “How long would it take you to crack the code if you entered every code possible from 000 to 999?” Elicit answers.</a:t>
            </a:r>
          </a:p>
          <a:p>
            <a:pPr lvl="1"/>
            <a:r>
              <a:rPr lang="en-US" altLang="ja-JP" sz="1600" dirty="0"/>
              <a:t>Ask the class “What if it were a 4-tumbler lock or a 5-tumbler lock. How long would it take you to crack it?” </a:t>
            </a:r>
          </a:p>
          <a:p>
            <a:pPr lvl="1"/>
            <a:r>
              <a:rPr lang="en-US" altLang="ja-JP" sz="1600" dirty="0"/>
              <a:t>Tell the class “As you add tumblers (i.e., digit), the number of possibilities increases ten-fold. This is also how modern encryption algorithms work by using a very large keyspace.” </a:t>
            </a:r>
          </a:p>
          <a:p>
            <a:pPr marL="142875" lvl="1" indent="0">
              <a:buNone/>
            </a:pPr>
            <a:endParaRPr lang="en-US" altLang="ja-JP" sz="1600" dirty="0"/>
          </a:p>
          <a:p>
            <a:pPr lvl="1"/>
            <a:endParaRPr lang="en-US" sz="1600" dirty="0"/>
          </a:p>
          <a:p>
            <a:pPr lvl="1"/>
            <a:endParaRPr lang="en-US" dirty="0"/>
          </a:p>
        </p:txBody>
      </p:sp>
    </p:spTree>
    <p:custDataLst>
      <p:tags r:id="rId1"/>
    </p:custDataLst>
    <p:extLst>
      <p:ext uri="{BB962C8B-B14F-4D97-AF65-F5344CB8AC3E}">
        <p14:creationId xmlns:p14="http://schemas.microsoft.com/office/powerpoint/2010/main" val="2773028572"/>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p>
            <a:pPr marL="0" indent="0">
              <a:buNone/>
            </a:pPr>
            <a:r>
              <a:rPr lang="en-US" dirty="0"/>
              <a:t>Module 15: Cryptographic Services</a:t>
            </a:r>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Cryptographic Services</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sz="1400" dirty="0"/>
              <a:t>Explain how the types of encryption, hashes, and digital signatures work together to provide confidentiality, integrity, and authentication.</a:t>
            </a:r>
          </a:p>
          <a:p>
            <a:pPr marL="89297" indent="0">
              <a:spcBef>
                <a:spcPct val="30000"/>
              </a:spcBef>
              <a:buNone/>
            </a:pPr>
            <a:endParaRPr lang="en-US" dirty="0"/>
          </a:p>
          <a:p>
            <a:pPr marL="89297" indent="0">
              <a:spcBef>
                <a:spcPct val="30000"/>
              </a:spcBef>
              <a:buNone/>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2213437634"/>
              </p:ext>
            </p:extLst>
          </p:nvPr>
        </p:nvGraphicFramePr>
        <p:xfrm>
          <a:off x="206364" y="1943683"/>
          <a:ext cx="8731272" cy="1369664"/>
        </p:xfrm>
        <a:graphic>
          <a:graphicData uri="http://schemas.openxmlformats.org/drawingml/2006/table">
            <a:tbl>
              <a:tblPr firstRow="1" firstCol="1" bandRow="1">
                <a:tableStyleId>{5C22544A-7EE6-4342-B048-85BDC9FD1C3A}</a:tableStyleId>
              </a:tblPr>
              <a:tblGrid>
                <a:gridCol w="3082714">
                  <a:extLst>
                    <a:ext uri="{9D8B030D-6E8A-4147-A177-3AD203B41FA5}">
                      <a16:colId xmlns:a16="http://schemas.microsoft.com/office/drawing/2014/main" val="399010295"/>
                    </a:ext>
                  </a:extLst>
                </a:gridCol>
                <a:gridCol w="5648558">
                  <a:extLst>
                    <a:ext uri="{9D8B030D-6E8A-4147-A177-3AD203B41FA5}">
                      <a16:colId xmlns:a16="http://schemas.microsoft.com/office/drawing/2014/main" val="3417728144"/>
                    </a:ext>
                  </a:extLst>
                </a:gridCol>
              </a:tblGrid>
              <a:tr h="224116">
                <a:tc>
                  <a:txBody>
                    <a:bodyPr/>
                    <a:lstStyle/>
                    <a:p>
                      <a:pPr marL="0" marR="0">
                        <a:lnSpc>
                          <a:spcPct val="107000"/>
                        </a:lnSpc>
                        <a:spcBef>
                          <a:spcPts val="0"/>
                        </a:spcBef>
                        <a:spcAft>
                          <a:spcPts val="0"/>
                        </a:spcAft>
                      </a:pPr>
                      <a:r>
                        <a:rPr lang="en-US" sz="1100" dirty="0">
                          <a:effectLst/>
                        </a:rPr>
                        <a:t>Topic Title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100" dirty="0">
                          <a:effectLst/>
                        </a:rPr>
                        <a:t>Topic Objective</a:t>
                      </a:r>
                      <a:endParaRPr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263724">
                <a:tc>
                  <a:txBody>
                    <a:bodyPr/>
                    <a:lstStyle/>
                    <a:p>
                      <a:pPr marL="0" marR="0">
                        <a:lnSpc>
                          <a:spcPct val="107000"/>
                        </a:lnSpc>
                        <a:spcBef>
                          <a:spcPts val="0"/>
                        </a:spcBef>
                        <a:spcAft>
                          <a:spcPts val="0"/>
                        </a:spcAft>
                      </a:pPr>
                      <a:r>
                        <a:rPr lang="en-US" sz="1200" dirty="0">
                          <a:effectLst/>
                          <a:latin typeface="+mn-lt"/>
                          <a:ea typeface="Calibri" panose="020F0502020204030204" pitchFamily="34" charset="0"/>
                          <a:cs typeface="Times New Roman" panose="02020603050405020304" pitchFamily="18" charset="0"/>
                        </a:rPr>
                        <a:t>Secure Communications</a:t>
                      </a:r>
                    </a:p>
                  </a:txBody>
                  <a:tcPr marL="60168" marR="60168" marT="0" marB="0"/>
                </a:tc>
                <a:tc>
                  <a:txBody>
                    <a:bodyPr/>
                    <a:lstStyle/>
                    <a:p>
                      <a:pPr marL="0" marR="0">
                        <a:lnSpc>
                          <a:spcPct val="107000"/>
                        </a:lnSpc>
                        <a:spcBef>
                          <a:spcPts val="0"/>
                        </a:spcBef>
                        <a:spcAft>
                          <a:spcPts val="0"/>
                        </a:spcAft>
                      </a:pPr>
                      <a:r>
                        <a:rPr lang="en-US" sz="1200" dirty="0">
                          <a:effectLst/>
                          <a:latin typeface="+mn-lt"/>
                          <a:ea typeface="Calibri" panose="020F0502020204030204" pitchFamily="34" charset="0"/>
                          <a:cs typeface="Times New Roman" panose="02020603050405020304" pitchFamily="18" charset="0"/>
                        </a:rPr>
                        <a:t>Explain the requirements of secure communications including integrity, authentication, and confidentiality.</a:t>
                      </a:r>
                    </a:p>
                  </a:txBody>
                  <a:tcPr marL="60168" marR="60168" marT="0" marB="0"/>
                </a:tc>
                <a:extLst>
                  <a:ext uri="{0D108BD9-81ED-4DB2-BD59-A6C34878D82A}">
                    <a16:rowId xmlns:a16="http://schemas.microsoft.com/office/drawing/2014/main" val="3530891527"/>
                  </a:ext>
                </a:extLst>
              </a:tr>
              <a:tr h="263724">
                <a:tc>
                  <a:txBody>
                    <a:bodyPr/>
                    <a:lstStyle/>
                    <a:p>
                      <a:pPr marL="0" marR="0">
                        <a:lnSpc>
                          <a:spcPct val="107000"/>
                        </a:lnSpc>
                        <a:spcBef>
                          <a:spcPts val="0"/>
                        </a:spcBef>
                        <a:spcAft>
                          <a:spcPts val="0"/>
                        </a:spcAft>
                      </a:pPr>
                      <a:r>
                        <a:rPr lang="en-US" sz="1200" dirty="0">
                          <a:effectLst/>
                          <a:latin typeface="+mn-lt"/>
                          <a:ea typeface="Calibri" panose="020F0502020204030204" pitchFamily="34" charset="0"/>
                          <a:cs typeface="Times New Roman" panose="02020603050405020304" pitchFamily="18" charset="0"/>
                        </a:rPr>
                        <a:t>Cryptography</a:t>
                      </a:r>
                    </a:p>
                  </a:txBody>
                  <a:tcPr marL="60168" marR="60168" marT="0" marB="0"/>
                </a:tc>
                <a:tc>
                  <a:txBody>
                    <a:bodyPr/>
                    <a:lstStyle/>
                    <a:p>
                      <a:pPr marL="0" marR="0">
                        <a:lnSpc>
                          <a:spcPct val="107000"/>
                        </a:lnSpc>
                        <a:spcBef>
                          <a:spcPts val="0"/>
                        </a:spcBef>
                        <a:spcAft>
                          <a:spcPts val="0"/>
                        </a:spcAft>
                      </a:pPr>
                      <a:r>
                        <a:rPr lang="en-US" sz="1200" dirty="0">
                          <a:effectLst/>
                          <a:latin typeface="+mn-lt"/>
                          <a:ea typeface="Calibri" panose="020F0502020204030204" pitchFamily="34" charset="0"/>
                          <a:cs typeface="Times New Roman" panose="02020603050405020304" pitchFamily="18" charset="0"/>
                        </a:rPr>
                        <a:t>Describe cryptography.</a:t>
                      </a:r>
                    </a:p>
                  </a:txBody>
                  <a:tcPr marL="60168" marR="60168" marT="0" marB="0"/>
                </a:tc>
                <a:extLst>
                  <a:ext uri="{0D108BD9-81ED-4DB2-BD59-A6C34878D82A}">
                    <a16:rowId xmlns:a16="http://schemas.microsoft.com/office/drawing/2014/main" val="662892947"/>
                  </a:ext>
                </a:extLst>
              </a:tr>
              <a:tr h="254659">
                <a:tc>
                  <a:txBody>
                    <a:bodyPr/>
                    <a:lstStyle/>
                    <a:p>
                      <a:pPr marL="0" marR="0">
                        <a:lnSpc>
                          <a:spcPct val="107000"/>
                        </a:lnSpc>
                        <a:spcBef>
                          <a:spcPts val="0"/>
                        </a:spcBef>
                        <a:spcAft>
                          <a:spcPts val="0"/>
                        </a:spcAft>
                      </a:pPr>
                      <a:r>
                        <a:rPr lang="en-US" sz="1200" dirty="0">
                          <a:effectLst/>
                          <a:latin typeface="+mn-lt"/>
                          <a:ea typeface="Calibri" panose="020F0502020204030204" pitchFamily="34" charset="0"/>
                          <a:cs typeface="Times New Roman" panose="02020603050405020304" pitchFamily="18" charset="0"/>
                        </a:rPr>
                        <a:t>Cryptanalysis</a:t>
                      </a:r>
                    </a:p>
                  </a:txBody>
                  <a:tcPr marL="60168" marR="60168" marT="0" marB="0"/>
                </a:tc>
                <a:tc>
                  <a:txBody>
                    <a:bodyPr/>
                    <a:lstStyle/>
                    <a:p>
                      <a:pPr marL="0" marR="0">
                        <a:lnSpc>
                          <a:spcPct val="107000"/>
                        </a:lnSpc>
                        <a:spcBef>
                          <a:spcPts val="0"/>
                        </a:spcBef>
                        <a:spcAft>
                          <a:spcPts val="0"/>
                        </a:spcAft>
                      </a:pPr>
                      <a:r>
                        <a:rPr lang="en-US" sz="1200" dirty="0">
                          <a:effectLst/>
                          <a:latin typeface="+mn-lt"/>
                          <a:ea typeface="Calibri" panose="020F0502020204030204" pitchFamily="34" charset="0"/>
                          <a:cs typeface="Times New Roman" panose="02020603050405020304" pitchFamily="18" charset="0"/>
                        </a:rPr>
                        <a:t>Describe cryptanalysis.</a:t>
                      </a:r>
                    </a:p>
                  </a:txBody>
                  <a:tcPr marL="60168" marR="60168" marT="0" marB="0"/>
                </a:tc>
                <a:extLst>
                  <a:ext uri="{0D108BD9-81ED-4DB2-BD59-A6C34878D82A}">
                    <a16:rowId xmlns:a16="http://schemas.microsoft.com/office/drawing/2014/main" val="1283686363"/>
                  </a:ext>
                </a:extLst>
              </a:tr>
              <a:tr h="249911">
                <a:tc>
                  <a:txBody>
                    <a:bodyPr/>
                    <a:lstStyle/>
                    <a:p>
                      <a:pPr marL="0" marR="0">
                        <a:lnSpc>
                          <a:spcPct val="107000"/>
                        </a:lnSpc>
                        <a:spcBef>
                          <a:spcPts val="0"/>
                        </a:spcBef>
                        <a:spcAft>
                          <a:spcPts val="0"/>
                        </a:spcAft>
                      </a:pPr>
                      <a:r>
                        <a:rPr lang="en-US" sz="1200" dirty="0">
                          <a:effectLst/>
                          <a:latin typeface="+mn-lt"/>
                          <a:ea typeface="Calibri" panose="020F0502020204030204" pitchFamily="34" charset="0"/>
                          <a:cs typeface="Times New Roman" panose="02020603050405020304" pitchFamily="18" charset="0"/>
                        </a:rPr>
                        <a:t>Cryptology</a:t>
                      </a:r>
                    </a:p>
                  </a:txBody>
                  <a:tcPr marL="60168" marR="60168" marT="0" marB="0"/>
                </a:tc>
                <a:tc>
                  <a:txBody>
                    <a:bodyPr/>
                    <a:lstStyle/>
                    <a:p>
                      <a:pPr marL="0" marR="0">
                        <a:lnSpc>
                          <a:spcPct val="107000"/>
                        </a:lnSpc>
                        <a:spcBef>
                          <a:spcPts val="0"/>
                        </a:spcBef>
                        <a:spcAft>
                          <a:spcPts val="0"/>
                        </a:spcAft>
                      </a:pPr>
                      <a:r>
                        <a:rPr lang="en-US" sz="1200" dirty="0">
                          <a:effectLst/>
                          <a:latin typeface="+mn-lt"/>
                          <a:ea typeface="Calibri" panose="020F0502020204030204" pitchFamily="34" charset="0"/>
                          <a:cs typeface="Times New Roman" panose="02020603050405020304" pitchFamily="18" charset="0"/>
                        </a:rPr>
                        <a:t>Describe cryptology.</a:t>
                      </a:r>
                    </a:p>
                  </a:txBody>
                  <a:tcPr marL="60168" marR="60168" marT="0" marB="0"/>
                </a:tc>
                <a:extLst>
                  <a:ext uri="{0D108BD9-81ED-4DB2-BD59-A6C34878D82A}">
                    <a16:rowId xmlns:a16="http://schemas.microsoft.com/office/drawing/2014/main" val="2466644772"/>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15.1 Secure Communications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Communications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Authentication, Integrity, and Confidentiality</a:t>
            </a:r>
          </a:p>
        </p:txBody>
      </p:sp>
      <p:sp>
        <p:nvSpPr>
          <p:cNvPr id="5" name="Object4"/>
          <p:cNvSpPr/>
          <p:nvPr/>
        </p:nvSpPr>
        <p:spPr>
          <a:xfrm>
            <a:off x="-1" y="914400"/>
            <a:ext cx="4880837"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To ensure secure communications across both the public and private infrastructure, the network administrator’s first goal is to secure the network infrastructure, including routers, switches, servers, and hosts. </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The figure shows an example of a secure network topology.</a:t>
            </a:r>
          </a:p>
          <a:p>
            <a:pPr>
              <a:lnSpc>
                <a:spcPts val="2000"/>
              </a:lnSpc>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There are three primary objectives of securing communications:</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Authentication </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Integrity </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Confidentiality</a:t>
            </a:r>
          </a:p>
          <a:p>
            <a:pPr>
              <a:lnSpc>
                <a:spcPts val="2000"/>
              </a:lnSpc>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13</a:t>
            </a:fld>
            <a:endParaRPr lang="en-US" dirty="0"/>
          </a:p>
        </p:txBody>
      </p:sp>
      <p:pic>
        <p:nvPicPr>
          <p:cNvPr id="6" name="Picture 5">
            <a:extLst>
              <a:ext uri="{FF2B5EF4-FFF2-40B4-BE49-F238E27FC236}">
                <a16:creationId xmlns:a16="http://schemas.microsoft.com/office/drawing/2014/main" id="{88A5E62E-3DD9-4184-81DD-CA05C4B8A88E}"/>
              </a:ext>
            </a:extLst>
          </p:cNvPr>
          <p:cNvPicPr>
            <a:picLocks noChangeAspect="1"/>
          </p:cNvPicPr>
          <p:nvPr/>
        </p:nvPicPr>
        <p:blipFill>
          <a:blip r:embed="rId3"/>
          <a:stretch>
            <a:fillRect/>
          </a:stretch>
        </p:blipFill>
        <p:spPr>
          <a:xfrm>
            <a:off x="4753669" y="1077373"/>
            <a:ext cx="4008904" cy="25717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Communications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Authentication</a:t>
            </a:r>
          </a:p>
        </p:txBody>
      </p:sp>
      <p:sp>
        <p:nvSpPr>
          <p:cNvPr id="5" name="Object4"/>
          <p:cNvSpPr/>
          <p:nvPr/>
        </p:nvSpPr>
        <p:spPr>
          <a:xfrm>
            <a:off x="216130" y="914400"/>
            <a:ext cx="8853055"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There are two primary methods for validating a source in network communications: authentication services and data nonrepudiation services.</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In network communications, authentication can be accomplished using cryptographic methods. </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Data nonrepudiation is a similar service that allows the sender of a message to be uniquely identified. With nonrepudiation services in place, a sender cannot deny having been the source of that message.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Communications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Data Integrity</a:t>
            </a:r>
          </a:p>
        </p:txBody>
      </p:sp>
      <p:sp>
        <p:nvSpPr>
          <p:cNvPr id="5" name="Object4"/>
          <p:cNvSpPr/>
          <p:nvPr/>
        </p:nvSpPr>
        <p:spPr>
          <a:xfrm>
            <a:off x="0" y="914400"/>
            <a:ext cx="8686800"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Data integrity ensures that messages are not altered in transit. With data integrity, the receiver can verify that the received message is identical to the sent message and that no manipulation occurred.</a:t>
            </a:r>
          </a:p>
          <a:p>
            <a:pPr>
              <a:lnSpc>
                <a:spcPts val="2000"/>
              </a:lnSpc>
            </a:pPr>
            <a:endParaRPr lang="en-US" sz="1400" dirty="0"/>
          </a:p>
          <a:p>
            <a:pPr>
              <a:lnSpc>
                <a:spcPts val="2000"/>
              </a:lnSpc>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Secure Communications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Data Confidentiality</a:t>
            </a:r>
          </a:p>
        </p:txBody>
      </p:sp>
      <p:sp>
        <p:nvSpPr>
          <p:cNvPr id="5" name="Object4"/>
          <p:cNvSpPr/>
          <p:nvPr/>
        </p:nvSpPr>
        <p:spPr>
          <a:xfrm>
            <a:off x="0" y="914400"/>
            <a:ext cx="8686800"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Data confidentiality ensures privacy so that only the receiver can read the message. This can be achieved through encryption. Encryption is the process of scrambling data so that it cannot be easily read by unauthorized parties.</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When enabling encryption, readable data is called plaintext, or cleartext, while the encrypted version is called encrypted text or ciphertext. The plaintext readable message is converted to ciphertext, which is the unreadable, disguised message. Decryption reverses the process. A key is required to encrypt and decrypt a message. The key is the link between the plaintext and ciphertext.</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Using a hash function is another way to ensure data confidentiality. A hash function transforms a string of characters into a usually shorter, fixed-length value or key that represents the original string. The difference between hashing and encryption is in how the data is stored.</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16</a:t>
            </a:fld>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15.2 Cryptography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Creating Cipher Text</a:t>
            </a:r>
          </a:p>
        </p:txBody>
      </p:sp>
      <p:sp>
        <p:nvSpPr>
          <p:cNvPr id="5" name="Object4"/>
          <p:cNvSpPr/>
          <p:nvPr/>
        </p:nvSpPr>
        <p:spPr>
          <a:xfrm>
            <a:off x="-1" y="748145"/>
            <a:ext cx="5378336"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The history of cryptography starts in diplomatic circles thousands of years ago. Messengers from a king’s court took encrypted messages to other courts. Occasionally, other courts not involved in the communication, attempted to steal messages sent to a kingdom they considered an adversary. Not long after, military commanders started using encryption to secure messages.</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The Enigma machine was an electromechanical encryption device that was developed and used by Nazi Germany during World War II. The device depended on the distribution of pre-shared keys that were used to encrypt and decrypt messages. The figure is an example of an Enigma machine.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18</a:t>
            </a:fld>
            <a:endParaRPr lang="en-US" dirty="0"/>
          </a:p>
        </p:txBody>
      </p:sp>
      <p:pic>
        <p:nvPicPr>
          <p:cNvPr id="6" name="Picture 5">
            <a:extLst>
              <a:ext uri="{FF2B5EF4-FFF2-40B4-BE49-F238E27FC236}">
                <a16:creationId xmlns:a16="http://schemas.microsoft.com/office/drawing/2014/main" id="{A32BF47A-30F2-46F7-B818-4756C996A432}"/>
              </a:ext>
            </a:extLst>
          </p:cNvPr>
          <p:cNvPicPr>
            <a:picLocks noChangeAspect="1"/>
          </p:cNvPicPr>
          <p:nvPr/>
        </p:nvPicPr>
        <p:blipFill>
          <a:blip r:embed="rId3"/>
          <a:stretch>
            <a:fillRect/>
          </a:stretch>
        </p:blipFill>
        <p:spPr>
          <a:xfrm>
            <a:off x="5458693" y="429145"/>
            <a:ext cx="2948035" cy="420000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Transposition Ciphers</a:t>
            </a:r>
          </a:p>
        </p:txBody>
      </p:sp>
      <p:sp>
        <p:nvSpPr>
          <p:cNvPr id="5" name="Object4"/>
          <p:cNvSpPr/>
          <p:nvPr/>
        </p:nvSpPr>
        <p:spPr>
          <a:xfrm>
            <a:off x="0" y="914400"/>
            <a:ext cx="8911244"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In transposition ciphers, no letters are replaced; they are simply rearranged. An example of this type of cipher is taking the FLANK EAST ATTACK AT DAWN message and transposing it to read NWAD TA KCATTA TSAE KNALF. In this example, the key is to reverse the letters.</a:t>
            </a:r>
          </a:p>
          <a:p>
            <a:pPr>
              <a:lnSpc>
                <a:spcPts val="2000"/>
              </a:lnSpc>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Another example of a transposition cipher is known as the rail fence cipher. In this transposition, the words are spelled out as if they were a rail fence. They are staggered, some in front, some in the middle and some in back, across several parallel lines. An example is shown in the figure.</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Modern encryption block cipher algorithms, such as AES and the legacy 3DES, still use transposition as part of the algorithm.</a:t>
            </a:r>
          </a:p>
          <a:p>
            <a:pPr>
              <a:lnSpc>
                <a:spcPts val="2000"/>
              </a:lnSpc>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19</a:t>
            </a:fld>
            <a:endParaRPr lang="en-US" dirty="0"/>
          </a:p>
        </p:txBody>
      </p:sp>
      <p:pic>
        <p:nvPicPr>
          <p:cNvPr id="6" name="Picture 5">
            <a:extLst>
              <a:ext uri="{FF2B5EF4-FFF2-40B4-BE49-F238E27FC236}">
                <a16:creationId xmlns:a16="http://schemas.microsoft.com/office/drawing/2014/main" id="{0301A5AA-B67E-4B97-A775-DFCF877BF76B}"/>
              </a:ext>
            </a:extLst>
          </p:cNvPr>
          <p:cNvPicPr>
            <a:picLocks noChangeAspect="1"/>
          </p:cNvPicPr>
          <p:nvPr/>
        </p:nvPicPr>
        <p:blipFill>
          <a:blip r:embed="rId3"/>
          <a:stretch>
            <a:fillRect/>
          </a:stretch>
        </p:blipFill>
        <p:spPr>
          <a:xfrm>
            <a:off x="3542815" y="3336520"/>
            <a:ext cx="2657243" cy="1785157"/>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Substitution Ciphers</a:t>
            </a:r>
          </a:p>
        </p:txBody>
      </p:sp>
      <p:sp>
        <p:nvSpPr>
          <p:cNvPr id="5" name="Object4"/>
          <p:cNvSpPr/>
          <p:nvPr/>
        </p:nvSpPr>
        <p:spPr>
          <a:xfrm>
            <a:off x="0" y="914400"/>
            <a:ext cx="8686800" cy="2571750"/>
          </a:xfrm>
          <a:prstGeom prst="rect">
            <a:avLst/>
          </a:prstGeom>
          <a:noFill/>
          <a:ln/>
        </p:spPr>
        <p:txBody>
          <a:bodyPr wrap="square" rtlCol="0" anchor="t"/>
          <a:lstStyle/>
          <a:p>
            <a:r>
              <a:rPr lang="en-US" sz="1600" dirty="0">
                <a:effectLst/>
                <a:latin typeface="Arial" panose="020B0604020202020204" pitchFamily="34" charset="0"/>
                <a:cs typeface="Arial" panose="020B0604020202020204" pitchFamily="34" charset="0"/>
              </a:rPr>
              <a:t>Substitution ciphers substitute one letter for another. In their simplest form, substitution ciphers retain the letter frequency of the original message.</a:t>
            </a:r>
          </a:p>
          <a:p>
            <a:endParaRPr lang="en-US" sz="1600" dirty="0">
              <a:effectLst/>
              <a:latin typeface="Arial" panose="020B0604020202020204" pitchFamily="34" charset="0"/>
              <a:cs typeface="Arial" panose="020B0604020202020204" pitchFamily="34" charset="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20</a:t>
            </a:fld>
            <a:endParaRPr lang="en-US" dirty="0"/>
          </a:p>
        </p:txBody>
      </p:sp>
      <p:pic>
        <p:nvPicPr>
          <p:cNvPr id="6" name="Picture 5">
            <a:extLst>
              <a:ext uri="{FF2B5EF4-FFF2-40B4-BE49-F238E27FC236}">
                <a16:creationId xmlns:a16="http://schemas.microsoft.com/office/drawing/2014/main" id="{EBC9AE01-8A24-4555-935A-36F60EC175A9}"/>
              </a:ext>
            </a:extLst>
          </p:cNvPr>
          <p:cNvPicPr>
            <a:picLocks noChangeAspect="1"/>
          </p:cNvPicPr>
          <p:nvPr/>
        </p:nvPicPr>
        <p:blipFill>
          <a:blip r:embed="rId3"/>
          <a:stretch>
            <a:fillRect/>
          </a:stretch>
        </p:blipFill>
        <p:spPr>
          <a:xfrm>
            <a:off x="1838669" y="1763904"/>
            <a:ext cx="5466661" cy="2697067"/>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 More Complex Substitution Cipher</a:t>
            </a:r>
          </a:p>
        </p:txBody>
      </p:sp>
      <p:sp>
        <p:nvSpPr>
          <p:cNvPr id="5" name="Object4"/>
          <p:cNvSpPr/>
          <p:nvPr/>
        </p:nvSpPr>
        <p:spPr>
          <a:xfrm>
            <a:off x="-1" y="914400"/>
            <a:ext cx="3044141" cy="1055716"/>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The Vigenère cipher is based on the Caesar cipher, except that it encrypts text by using a different polyalphabetic key shift for every plaintext letter. The different key shift is identified using a shared key between sender and receiver. The plaintext message can be encrypted and decrypted using the Vigenère Cipher Table that is shown in the figure.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21</a:t>
            </a:fld>
            <a:endParaRPr lang="en-US" dirty="0"/>
          </a:p>
        </p:txBody>
      </p:sp>
      <p:pic>
        <p:nvPicPr>
          <p:cNvPr id="6" name="Picture 5">
            <a:extLst>
              <a:ext uri="{FF2B5EF4-FFF2-40B4-BE49-F238E27FC236}">
                <a16:creationId xmlns:a16="http://schemas.microsoft.com/office/drawing/2014/main" id="{F7669AF1-C5E7-4F7D-83BF-FDB57B1A1708}"/>
              </a:ext>
            </a:extLst>
          </p:cNvPr>
          <p:cNvPicPr>
            <a:picLocks noChangeAspect="1"/>
          </p:cNvPicPr>
          <p:nvPr/>
        </p:nvPicPr>
        <p:blipFill>
          <a:blip r:embed="rId3"/>
          <a:stretch>
            <a:fillRect/>
          </a:stretch>
        </p:blipFill>
        <p:spPr>
          <a:xfrm>
            <a:off x="3044141" y="855172"/>
            <a:ext cx="5500751" cy="3773978"/>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 More Complex Substitution Cipher (Cont.)</a:t>
            </a:r>
          </a:p>
        </p:txBody>
      </p:sp>
      <p:sp>
        <p:nvSpPr>
          <p:cNvPr id="5" name="Object4"/>
          <p:cNvSpPr/>
          <p:nvPr/>
        </p:nvSpPr>
        <p:spPr>
          <a:xfrm>
            <a:off x="-1" y="731520"/>
            <a:ext cx="9227127" cy="1055716"/>
          </a:xfrm>
          <a:prstGeom prst="rect">
            <a:avLst/>
          </a:prstGeom>
          <a:noFill/>
          <a:ln/>
        </p:spPr>
        <p:txBody>
          <a:bodyPr wrap="square" rtlCol="0" anchor="t"/>
          <a:lstStyle/>
          <a:p>
            <a:r>
              <a:rPr lang="en-US" sz="1400" dirty="0">
                <a:latin typeface="Arial" panose="020B0604020202020204" pitchFamily="34" charset="0"/>
                <a:cs typeface="Arial" panose="020B0604020202020204" pitchFamily="34" charset="0"/>
              </a:rPr>
              <a:t>To illustrate how the Vigenère Cipher Table works, suppose that a sender and receiver have a shared secret key composed of these letters: SECRETKEY. The sender uses this secret key to encode the plaintext FLANK EAST ATTACK AT DAWN:</a:t>
            </a:r>
          </a:p>
          <a:p>
            <a:pPr>
              <a:buFont typeface="Arial" panose="020B0604020202020204" pitchFamily="34" charset="0"/>
              <a:buChar char="•"/>
            </a:pPr>
            <a:r>
              <a:rPr lang="en-US" sz="1400" dirty="0">
                <a:latin typeface="Arial" panose="020B0604020202020204" pitchFamily="34" charset="0"/>
                <a:cs typeface="Arial" panose="020B0604020202020204" pitchFamily="34" charset="0"/>
              </a:rPr>
              <a:t>The F (</a:t>
            </a:r>
            <a:r>
              <a:rPr lang="en-US" sz="1400" b="1" dirty="0">
                <a:latin typeface="Arial" panose="020B0604020202020204" pitchFamily="34" charset="0"/>
                <a:cs typeface="Arial" panose="020B0604020202020204" pitchFamily="34" charset="0"/>
              </a:rPr>
              <a:t>F</a:t>
            </a:r>
            <a:r>
              <a:rPr lang="en-US" sz="1400" dirty="0">
                <a:latin typeface="Arial" panose="020B0604020202020204" pitchFamily="34" charset="0"/>
                <a:cs typeface="Arial" panose="020B0604020202020204" pitchFamily="34" charset="0"/>
              </a:rPr>
              <a:t>LANK) is encoded by looking at the intersection of column F and the row starting with S (</a:t>
            </a:r>
            <a:r>
              <a:rPr lang="en-US" sz="1400" b="1" dirty="0">
                <a:latin typeface="Arial" panose="020B0604020202020204" pitchFamily="34" charset="0"/>
                <a:cs typeface="Arial" panose="020B0604020202020204" pitchFamily="34" charset="0"/>
              </a:rPr>
              <a:t>S</a:t>
            </a:r>
            <a:r>
              <a:rPr lang="en-US" sz="1400" dirty="0">
                <a:latin typeface="Arial" panose="020B0604020202020204" pitchFamily="34" charset="0"/>
                <a:cs typeface="Arial" panose="020B0604020202020204" pitchFamily="34" charset="0"/>
              </a:rPr>
              <a:t>ECRETKEY), resulting in the cipher letter X.</a:t>
            </a:r>
          </a:p>
          <a:p>
            <a:pPr>
              <a:buFont typeface="Arial" panose="020B0604020202020204" pitchFamily="34" charset="0"/>
              <a:buChar char="•"/>
            </a:pPr>
            <a:r>
              <a:rPr lang="en-US" sz="1400" dirty="0">
                <a:latin typeface="Arial" panose="020B0604020202020204" pitchFamily="34" charset="0"/>
                <a:cs typeface="Arial" panose="020B0604020202020204" pitchFamily="34" charset="0"/>
              </a:rPr>
              <a:t>The L (F</a:t>
            </a:r>
            <a:r>
              <a:rPr lang="en-US" sz="1400" b="1" dirty="0">
                <a:latin typeface="Arial" panose="020B0604020202020204" pitchFamily="34" charset="0"/>
                <a:cs typeface="Arial" panose="020B0604020202020204" pitchFamily="34" charset="0"/>
              </a:rPr>
              <a:t>L</a:t>
            </a:r>
            <a:r>
              <a:rPr lang="en-US" sz="1400" dirty="0">
                <a:latin typeface="Arial" panose="020B0604020202020204" pitchFamily="34" charset="0"/>
                <a:cs typeface="Arial" panose="020B0604020202020204" pitchFamily="34" charset="0"/>
              </a:rPr>
              <a:t>ANK) is encoded by looking at the intersection of column L and the row starting with E (S</a:t>
            </a:r>
            <a:r>
              <a:rPr lang="en-US" sz="1400" b="1" dirty="0">
                <a:latin typeface="Arial" panose="020B0604020202020204" pitchFamily="34" charset="0"/>
                <a:cs typeface="Arial" panose="020B0604020202020204" pitchFamily="34" charset="0"/>
              </a:rPr>
              <a:t>E</a:t>
            </a:r>
            <a:r>
              <a:rPr lang="en-US" sz="1400" dirty="0">
                <a:latin typeface="Arial" panose="020B0604020202020204" pitchFamily="34" charset="0"/>
                <a:cs typeface="Arial" panose="020B0604020202020204" pitchFamily="34" charset="0"/>
              </a:rPr>
              <a:t>CRETKEY), resulting in the cipher letter P.</a:t>
            </a:r>
          </a:p>
          <a:p>
            <a:pPr>
              <a:buFont typeface="Arial" panose="020B0604020202020204" pitchFamily="34" charset="0"/>
              <a:buChar char="•"/>
            </a:pPr>
            <a:r>
              <a:rPr lang="en-US" sz="1400" dirty="0">
                <a:latin typeface="Arial" panose="020B0604020202020204" pitchFamily="34" charset="0"/>
                <a:cs typeface="Arial" panose="020B0604020202020204" pitchFamily="34" charset="0"/>
              </a:rPr>
              <a:t>The A (FL</a:t>
            </a:r>
            <a:r>
              <a:rPr lang="en-US" sz="1400" b="1" dirty="0">
                <a:latin typeface="Arial" panose="020B0604020202020204" pitchFamily="34" charset="0"/>
                <a:cs typeface="Arial" panose="020B0604020202020204" pitchFamily="34" charset="0"/>
              </a:rPr>
              <a:t>A</a:t>
            </a:r>
            <a:r>
              <a:rPr lang="en-US" sz="1400" dirty="0">
                <a:latin typeface="Arial" panose="020B0604020202020204" pitchFamily="34" charset="0"/>
                <a:cs typeface="Arial" panose="020B0604020202020204" pitchFamily="34" charset="0"/>
              </a:rPr>
              <a:t>NK) is encoded by looking at the intersection of column A and the row starting with C (SE</a:t>
            </a:r>
            <a:r>
              <a:rPr lang="en-US" sz="1400" b="1" dirty="0">
                <a:latin typeface="Arial" panose="020B0604020202020204" pitchFamily="34" charset="0"/>
                <a:cs typeface="Arial" panose="020B0604020202020204" pitchFamily="34" charset="0"/>
              </a:rPr>
              <a:t>C</a:t>
            </a:r>
            <a:r>
              <a:rPr lang="en-US" sz="1400" dirty="0">
                <a:latin typeface="Arial" panose="020B0604020202020204" pitchFamily="34" charset="0"/>
                <a:cs typeface="Arial" panose="020B0604020202020204" pitchFamily="34" charset="0"/>
              </a:rPr>
              <a:t>RETKEY), resulting in the cipher letter C.</a:t>
            </a:r>
          </a:p>
          <a:p>
            <a:pPr>
              <a:buFont typeface="Arial" panose="020B0604020202020204" pitchFamily="34" charset="0"/>
              <a:buChar char="•"/>
            </a:pPr>
            <a:r>
              <a:rPr lang="en-US" sz="1400" dirty="0">
                <a:latin typeface="Arial" panose="020B0604020202020204" pitchFamily="34" charset="0"/>
                <a:cs typeface="Arial" panose="020B0604020202020204" pitchFamily="34" charset="0"/>
              </a:rPr>
              <a:t>The N (FLA</a:t>
            </a:r>
            <a:r>
              <a:rPr lang="en-US" sz="1400" b="1" dirty="0">
                <a:latin typeface="Arial" panose="020B0604020202020204" pitchFamily="34" charset="0"/>
                <a:cs typeface="Arial" panose="020B0604020202020204" pitchFamily="34" charset="0"/>
              </a:rPr>
              <a:t>N</a:t>
            </a:r>
            <a:r>
              <a:rPr lang="en-US" sz="1400" dirty="0">
                <a:latin typeface="Arial" panose="020B0604020202020204" pitchFamily="34" charset="0"/>
                <a:cs typeface="Arial" panose="020B0604020202020204" pitchFamily="34" charset="0"/>
              </a:rPr>
              <a:t>K) is encoded by looking at the intersection of column N and the row starting with R (SEC</a:t>
            </a:r>
            <a:r>
              <a:rPr lang="en-US" sz="1400" b="1" dirty="0">
                <a:latin typeface="Arial" panose="020B0604020202020204" pitchFamily="34" charset="0"/>
                <a:cs typeface="Arial" panose="020B0604020202020204" pitchFamily="34" charset="0"/>
              </a:rPr>
              <a:t>R</a:t>
            </a:r>
            <a:r>
              <a:rPr lang="en-US" sz="1400" dirty="0">
                <a:latin typeface="Arial" panose="020B0604020202020204" pitchFamily="34" charset="0"/>
                <a:cs typeface="Arial" panose="020B0604020202020204" pitchFamily="34" charset="0"/>
              </a:rPr>
              <a:t>ETKEY), resulting in the cipher letter E.</a:t>
            </a:r>
          </a:p>
          <a:p>
            <a:pPr>
              <a:buFont typeface="Arial" panose="020B0604020202020204" pitchFamily="34" charset="0"/>
              <a:buChar char="•"/>
            </a:pPr>
            <a:r>
              <a:rPr lang="en-US" sz="1400" dirty="0">
                <a:latin typeface="Arial" panose="020B0604020202020204" pitchFamily="34" charset="0"/>
                <a:cs typeface="Arial" panose="020B0604020202020204" pitchFamily="34" charset="0"/>
              </a:rPr>
              <a:t>The K (FLAN</a:t>
            </a:r>
            <a:r>
              <a:rPr lang="en-US" sz="1400" b="1" dirty="0">
                <a:latin typeface="Arial" panose="020B0604020202020204" pitchFamily="34" charset="0"/>
                <a:cs typeface="Arial" panose="020B0604020202020204" pitchFamily="34" charset="0"/>
              </a:rPr>
              <a:t>K</a:t>
            </a:r>
            <a:r>
              <a:rPr lang="en-US" sz="1400" dirty="0">
                <a:latin typeface="Arial" panose="020B0604020202020204" pitchFamily="34" charset="0"/>
                <a:cs typeface="Arial" panose="020B0604020202020204" pitchFamily="34" charset="0"/>
              </a:rPr>
              <a:t>) is encoded by looking at the intersection of column K and the row starting with E (SECR</a:t>
            </a:r>
            <a:r>
              <a:rPr lang="en-US" sz="1400" b="1" dirty="0">
                <a:latin typeface="Arial" panose="020B0604020202020204" pitchFamily="34" charset="0"/>
                <a:cs typeface="Arial" panose="020B0604020202020204" pitchFamily="34" charset="0"/>
              </a:rPr>
              <a:t>E</a:t>
            </a:r>
            <a:r>
              <a:rPr lang="en-US" sz="1400" dirty="0">
                <a:latin typeface="Arial" panose="020B0604020202020204" pitchFamily="34" charset="0"/>
                <a:cs typeface="Arial" panose="020B0604020202020204" pitchFamily="34" charset="0"/>
              </a:rPr>
              <a:t>TKEY), resulting in the cipher letter O.</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For example, SECRETKEYSECRETKEYSEC is required to encode FLANK EAST ATTACK AT DAWN:</a:t>
            </a:r>
          </a:p>
          <a:p>
            <a:pPr lvl="1">
              <a:buFont typeface="Arial" panose="020B0604020202020204" pitchFamily="34" charset="0"/>
              <a:buChar char="•"/>
            </a:pPr>
            <a:r>
              <a:rPr lang="en-US" sz="1400" b="1" dirty="0">
                <a:latin typeface="Arial" panose="020B0604020202020204" pitchFamily="34" charset="0"/>
                <a:cs typeface="Arial" panose="020B0604020202020204" pitchFamily="34" charset="0"/>
              </a:rPr>
              <a:t>Secret key</a:t>
            </a:r>
            <a:r>
              <a:rPr lang="en-US" sz="1400" dirty="0">
                <a:latin typeface="Arial" panose="020B0604020202020204" pitchFamily="34" charset="0"/>
                <a:cs typeface="Arial" panose="020B0604020202020204" pitchFamily="34" charset="0"/>
              </a:rPr>
              <a:t>: SECRETKEYSECRETKEYSEC</a:t>
            </a:r>
          </a:p>
          <a:p>
            <a:pPr lvl="1">
              <a:buFont typeface="Arial" panose="020B0604020202020204" pitchFamily="34" charset="0"/>
              <a:buChar char="•"/>
            </a:pPr>
            <a:r>
              <a:rPr lang="en-US" sz="1400" b="1" dirty="0">
                <a:latin typeface="Arial" panose="020B0604020202020204" pitchFamily="34" charset="0"/>
                <a:cs typeface="Arial" panose="020B0604020202020204" pitchFamily="34" charset="0"/>
              </a:rPr>
              <a:t>Plaintext:</a:t>
            </a:r>
            <a:r>
              <a:rPr lang="en-US" sz="1400" dirty="0">
                <a:latin typeface="Arial" panose="020B0604020202020204" pitchFamily="34" charset="0"/>
                <a:cs typeface="Arial" panose="020B0604020202020204" pitchFamily="34" charset="0"/>
              </a:rPr>
              <a:t> FLANKEASTATTACKATDAWN</a:t>
            </a:r>
          </a:p>
          <a:p>
            <a:pPr lvl="1">
              <a:buFont typeface="Arial" panose="020B0604020202020204" pitchFamily="34" charset="0"/>
              <a:buChar char="•"/>
            </a:pPr>
            <a:r>
              <a:rPr lang="en-US" sz="1400" b="1" dirty="0">
                <a:latin typeface="Arial" panose="020B0604020202020204" pitchFamily="34" charset="0"/>
                <a:cs typeface="Arial" panose="020B0604020202020204" pitchFamily="34" charset="0"/>
              </a:rPr>
              <a:t>Cipher text:</a:t>
            </a:r>
            <a:r>
              <a:rPr lang="en-US" sz="1400" dirty="0">
                <a:latin typeface="Arial" panose="020B0604020202020204" pitchFamily="34" charset="0"/>
                <a:cs typeface="Arial" panose="020B0604020202020204" pitchFamily="34" charset="0"/>
              </a:rPr>
              <a:t> XPCEOXKURSXVRGDKXBSAP</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22</a:t>
            </a:fld>
            <a:endParaRPr lang="en-US" dirty="0"/>
          </a:p>
        </p:txBody>
      </p:sp>
    </p:spTree>
    <p:extLst>
      <p:ext uri="{BB962C8B-B14F-4D97-AF65-F5344CB8AC3E}">
        <p14:creationId xmlns:p14="http://schemas.microsoft.com/office/powerpoint/2010/main" val="33223751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One-Time Pad Ciphers</a:t>
            </a:r>
          </a:p>
        </p:txBody>
      </p:sp>
      <p:sp>
        <p:nvSpPr>
          <p:cNvPr id="5" name="Object4"/>
          <p:cNvSpPr/>
          <p:nvPr/>
        </p:nvSpPr>
        <p:spPr>
          <a:xfrm>
            <a:off x="0" y="914400"/>
            <a:ext cx="5334034" cy="2571750"/>
          </a:xfrm>
          <a:prstGeom prst="rect">
            <a:avLst/>
          </a:prstGeom>
          <a:noFill/>
          <a:ln/>
        </p:spPr>
        <p:txBody>
          <a:bodyPr wrap="square" rtlCol="0" anchor="t"/>
          <a:lstStyle/>
          <a:p>
            <a:pPr>
              <a:lnSpc>
                <a:spcPts val="2000"/>
              </a:lnSpc>
            </a:pPr>
            <a:r>
              <a:rPr lang="en-US" sz="1500" dirty="0">
                <a:latin typeface="Arial" panose="020B0604020202020204" pitchFamily="34" charset="0"/>
                <a:cs typeface="Arial" panose="020B0604020202020204" pitchFamily="34" charset="0"/>
              </a:rPr>
              <a:t>Gilbert Vernam was an AT&amp;T Bell Labs engineer who, in 1917, invented, and later patented, the stream cipher. He also co-invented the one-time pad cipher. Vernam proposed a teletype cipher in which a prepared key consisting of an arbitrarily long, non-repeating sequence of numbers was kept on paper tape, shown in the figure. It was then combined character by character with the plaintext message to produce the ciphertext.</a:t>
            </a:r>
          </a:p>
          <a:p>
            <a:pPr>
              <a:lnSpc>
                <a:spcPts val="2000"/>
              </a:lnSpc>
            </a:pPr>
            <a:endParaRPr lang="en-US" sz="1500" dirty="0">
              <a:latin typeface="Arial" panose="020B0604020202020204" pitchFamily="34" charset="0"/>
              <a:cs typeface="Arial" panose="020B0604020202020204" pitchFamily="34" charset="0"/>
            </a:endParaRPr>
          </a:p>
          <a:p>
            <a:pPr>
              <a:lnSpc>
                <a:spcPts val="2000"/>
              </a:lnSpc>
            </a:pPr>
            <a:r>
              <a:rPr lang="en-US" sz="1500" dirty="0">
                <a:latin typeface="Arial" panose="020B0604020202020204" pitchFamily="34" charset="0"/>
                <a:cs typeface="Arial" panose="020B0604020202020204" pitchFamily="34" charset="0"/>
              </a:rPr>
              <a:t>To decipher the ciphertext, the same paper tape key was again combined character by character, producing the plaintext. Each tape was used only once; hence, the name one-time pad. Several difficulties are inherent in using one-time pads in the real world. </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23</a:t>
            </a:fld>
            <a:endParaRPr lang="en-US" dirty="0"/>
          </a:p>
        </p:txBody>
      </p:sp>
      <p:pic>
        <p:nvPicPr>
          <p:cNvPr id="6" name="Picture 5">
            <a:extLst>
              <a:ext uri="{FF2B5EF4-FFF2-40B4-BE49-F238E27FC236}">
                <a16:creationId xmlns:a16="http://schemas.microsoft.com/office/drawing/2014/main" id="{0161F807-8AC0-4AE3-9A13-9A7DA6A6AD3A}"/>
              </a:ext>
            </a:extLst>
          </p:cNvPr>
          <p:cNvPicPr>
            <a:picLocks noChangeAspect="1"/>
          </p:cNvPicPr>
          <p:nvPr/>
        </p:nvPicPr>
        <p:blipFill>
          <a:blip r:embed="rId3"/>
          <a:stretch>
            <a:fillRect/>
          </a:stretch>
        </p:blipFill>
        <p:spPr>
          <a:xfrm>
            <a:off x="5334034" y="1088966"/>
            <a:ext cx="3275600" cy="284087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15.3 Cryptanalysis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Cryptanalysis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Cracking Code</a:t>
            </a:r>
          </a:p>
        </p:txBody>
      </p:sp>
      <p:sp>
        <p:nvSpPr>
          <p:cNvPr id="5" name="Object4"/>
          <p:cNvSpPr/>
          <p:nvPr/>
        </p:nvSpPr>
        <p:spPr>
          <a:xfrm>
            <a:off x="-1" y="914400"/>
            <a:ext cx="8603673"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Cryptanalysis is the practice and study of determining the meaning of encrypted information (cracking the code), without access to the shared secret key. This is also known as codebreaking.</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Throughout history, there have been many instances of cryptanalysis:</a:t>
            </a:r>
          </a:p>
          <a:p>
            <a:pPr lvl="1"/>
            <a:endParaRPr lang="en-US" sz="16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The Vigenère cipher had been absolutely secure until it was broken in the 19th century by English cryptographer Charles Babbage.</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Mary, Queen of Scots, was plotting to overthrow Queen Elizabeth I from the throne and sent encrypted messages to her co-conspirators. The cracking of the code used in this plot led to the beheading of Mary in 1587.</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The Enigma-encrypted communications were used by the Germans to navigate and direct their U-boats in the Atlantic. Polish and British cryptanalysts broke the German Enigma code. Winston Churchill was of the opinion that it was a turning point in WWII.</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Cryptanalysis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Methods of Cracking Code</a:t>
            </a:r>
          </a:p>
        </p:txBody>
      </p:sp>
      <p:sp>
        <p:nvSpPr>
          <p:cNvPr id="5" name="Object4"/>
          <p:cNvSpPr/>
          <p:nvPr/>
        </p:nvSpPr>
        <p:spPr>
          <a:xfrm>
            <a:off x="0" y="914400"/>
            <a:ext cx="8229600"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Several methods are used in cryptanalysis:</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Brute-force method</a:t>
            </a:r>
            <a:r>
              <a:rPr lang="en-US" sz="1600" dirty="0">
                <a:latin typeface="Arial" panose="020B0604020202020204" pitchFamily="34" charset="0"/>
                <a:cs typeface="Arial" panose="020B0604020202020204" pitchFamily="34" charset="0"/>
              </a:rPr>
              <a:t> - The attacker tries every possible key knowing that eventually one of them will work.</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Ciphertext method</a:t>
            </a:r>
            <a:r>
              <a:rPr lang="en-US" sz="1600" dirty="0">
                <a:latin typeface="Arial" panose="020B0604020202020204" pitchFamily="34" charset="0"/>
                <a:cs typeface="Arial" panose="020B0604020202020204" pitchFamily="34" charset="0"/>
              </a:rPr>
              <a:t> - The attacker has the ciphertext of several encrypted messages but no knowledge of the underlying plaintext.</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Known-Plaintext method</a:t>
            </a:r>
            <a:r>
              <a:rPr lang="en-US" sz="1600" dirty="0">
                <a:latin typeface="Arial" panose="020B0604020202020204" pitchFamily="34" charset="0"/>
                <a:cs typeface="Arial" panose="020B0604020202020204" pitchFamily="34" charset="0"/>
              </a:rPr>
              <a:t> - The attacker has access to the ciphertext of several messages and knows something about the plaintext underlying that ciphertext.</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Chosen-Plaintext method</a:t>
            </a:r>
            <a:r>
              <a:rPr lang="en-US" sz="1600" dirty="0">
                <a:latin typeface="Arial" panose="020B0604020202020204" pitchFamily="34" charset="0"/>
                <a:cs typeface="Arial" panose="020B0604020202020204" pitchFamily="34" charset="0"/>
              </a:rPr>
              <a:t> - The attacker chooses which data the encryption device encrypts and observes the ciphertext output.</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Chosen-Ciphertext method</a:t>
            </a:r>
            <a:r>
              <a:rPr lang="en-US" sz="1600" dirty="0">
                <a:latin typeface="Arial" panose="020B0604020202020204" pitchFamily="34" charset="0"/>
                <a:cs typeface="Arial" panose="020B0604020202020204" pitchFamily="34" charset="0"/>
              </a:rPr>
              <a:t> - The attacker can choose different ciphertext to be decrypted and has access to the decrypted plaintext.</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Meet-in-the-Middle method</a:t>
            </a:r>
            <a:r>
              <a:rPr lang="en-US" sz="1600" dirty="0">
                <a:latin typeface="Arial" panose="020B0604020202020204" pitchFamily="34" charset="0"/>
                <a:cs typeface="Arial" panose="020B0604020202020204" pitchFamily="34" charset="0"/>
              </a:rPr>
              <a:t> - The attacker knows a portion of the plaintext and the corresponding ciphertext.</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Cryptanalysis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Cracking Code Example</a:t>
            </a:r>
          </a:p>
        </p:txBody>
      </p:sp>
      <p:sp>
        <p:nvSpPr>
          <p:cNvPr id="5" name="Object4"/>
          <p:cNvSpPr/>
          <p:nvPr/>
        </p:nvSpPr>
        <p:spPr>
          <a:xfrm>
            <a:off x="0" y="914400"/>
            <a:ext cx="3840480" cy="1512916"/>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When choosing a cryptanalysis method, consider the Caesar cipher encrypted code. The best way to crack the code is to use brute force. Because there are only 25 possible rotations, the effort is relatively small to try all possible rotations and see which one returns something that makes sense.</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A more scientific approach is to use the fact that some characters in the English alphabet are used more often than others. This method is called frequency analysis. </a:t>
            </a:r>
          </a:p>
          <a:p>
            <a:pPr>
              <a:lnSpc>
                <a:spcPts val="2000"/>
              </a:lnSpc>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27</a:t>
            </a:fld>
            <a:endParaRPr lang="en-US" dirty="0"/>
          </a:p>
        </p:txBody>
      </p:sp>
      <p:pic>
        <p:nvPicPr>
          <p:cNvPr id="6" name="Picture 5">
            <a:extLst>
              <a:ext uri="{FF2B5EF4-FFF2-40B4-BE49-F238E27FC236}">
                <a16:creationId xmlns:a16="http://schemas.microsoft.com/office/drawing/2014/main" id="{7F75D755-2F7F-43CB-993F-E39DC9D0A936}"/>
              </a:ext>
            </a:extLst>
          </p:cNvPr>
          <p:cNvPicPr>
            <a:picLocks noChangeAspect="1"/>
          </p:cNvPicPr>
          <p:nvPr/>
        </p:nvPicPr>
        <p:blipFill>
          <a:blip r:embed="rId3"/>
          <a:stretch>
            <a:fillRect/>
          </a:stretch>
        </p:blipFill>
        <p:spPr>
          <a:xfrm>
            <a:off x="3959636" y="881149"/>
            <a:ext cx="4855174" cy="338120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15.4 Cryptology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Cryptology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Making and Breaking Secret Codes</a:t>
            </a:r>
          </a:p>
        </p:txBody>
      </p:sp>
      <p:sp>
        <p:nvSpPr>
          <p:cNvPr id="5" name="Object4"/>
          <p:cNvSpPr/>
          <p:nvPr/>
        </p:nvSpPr>
        <p:spPr>
          <a:xfrm>
            <a:off x="0" y="914400"/>
            <a:ext cx="4688378"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Cryptology is the science of making and breaking secret codes. As shown in the figure, cryptology combines two separate disciplines:</a:t>
            </a:r>
          </a:p>
          <a:p>
            <a:pPr lvl="1">
              <a:buFont typeface="Arial" panose="020B0604020202020204" pitchFamily="34" charset="0"/>
              <a:buChar char="•"/>
            </a:pPr>
            <a:r>
              <a:rPr lang="en-US" sz="1600" b="1" dirty="0">
                <a:latin typeface="Arial" panose="020B0604020202020204" pitchFamily="34" charset="0"/>
                <a:cs typeface="Arial" panose="020B0604020202020204" pitchFamily="34" charset="0"/>
              </a:rPr>
              <a:t>Cryptography</a:t>
            </a:r>
            <a:r>
              <a:rPr lang="en-US" sz="1600" dirty="0">
                <a:latin typeface="Arial" panose="020B0604020202020204" pitchFamily="34" charset="0"/>
                <a:cs typeface="Arial" panose="020B0604020202020204" pitchFamily="34" charset="0"/>
              </a:rPr>
              <a:t> - the development and use of codes</a:t>
            </a:r>
          </a:p>
          <a:p>
            <a:pPr lvl="1">
              <a:buFont typeface="Arial" panose="020B0604020202020204" pitchFamily="34" charset="0"/>
              <a:buChar char="•"/>
            </a:pPr>
            <a:r>
              <a:rPr lang="en-US" sz="1600" b="1" dirty="0">
                <a:latin typeface="Arial" panose="020B0604020202020204" pitchFamily="34" charset="0"/>
                <a:cs typeface="Arial" panose="020B0604020202020204" pitchFamily="34" charset="0"/>
              </a:rPr>
              <a:t>Cryptanalysis</a:t>
            </a:r>
            <a:r>
              <a:rPr lang="en-US" sz="1600" dirty="0">
                <a:latin typeface="Arial" panose="020B0604020202020204" pitchFamily="34" charset="0"/>
                <a:cs typeface="Arial" panose="020B0604020202020204" pitchFamily="34" charset="0"/>
              </a:rPr>
              <a:t> - the breaking of those codes</a:t>
            </a:r>
          </a:p>
          <a:p>
            <a:pPr lvl="1"/>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There is a symbiotic relationship between the two disciplines because each makes the other one stronger. National security organizations employ practitioners of both disciplines and put them to work against each other</a:t>
            </a:r>
            <a:r>
              <a:rPr lang="en-US" sz="1400" dirty="0">
                <a:latin typeface="Arial" panose="020B0604020202020204" pitchFamily="34" charset="0"/>
                <a:cs typeface="Arial" panose="020B0604020202020204" pitchFamily="34" charset="0"/>
              </a:rPr>
              <a:t>.</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29</a:t>
            </a:fld>
            <a:endParaRPr lang="en-US" dirty="0"/>
          </a:p>
        </p:txBody>
      </p:sp>
      <p:pic>
        <p:nvPicPr>
          <p:cNvPr id="6" name="Picture 5">
            <a:extLst>
              <a:ext uri="{FF2B5EF4-FFF2-40B4-BE49-F238E27FC236}">
                <a16:creationId xmlns:a16="http://schemas.microsoft.com/office/drawing/2014/main" id="{BAD507C4-9386-4E9C-96CD-EDB32F265043}"/>
              </a:ext>
            </a:extLst>
          </p:cNvPr>
          <p:cNvPicPr>
            <a:picLocks noChangeAspect="1"/>
          </p:cNvPicPr>
          <p:nvPr/>
        </p:nvPicPr>
        <p:blipFill>
          <a:blip r:embed="rId3"/>
          <a:stretch>
            <a:fillRect/>
          </a:stretch>
        </p:blipFill>
        <p:spPr>
          <a:xfrm>
            <a:off x="4777861" y="695152"/>
            <a:ext cx="3908939" cy="279099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Cryptology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Cryptanalysts</a:t>
            </a:r>
          </a:p>
        </p:txBody>
      </p:sp>
      <p:sp>
        <p:nvSpPr>
          <p:cNvPr id="5" name="Object4"/>
          <p:cNvSpPr/>
          <p:nvPr/>
        </p:nvSpPr>
        <p:spPr>
          <a:xfrm>
            <a:off x="-1" y="914400"/>
            <a:ext cx="9069185"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Cryptanalysis is often used by governments in military and diplomatic surveillance, by enterprises in testing the strength of security procedures, and by malicious hackers in exploiting weaknesses in websites.</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Cryptanalysts are individuals who perform cryptanalysis to crack secret codes. A sample job description is displayed in the figure.</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While cryptanalysis is often linked to mischievous purposes, it is actually a necessity. It is an ironic fact of cryptography that it is impossible to prove that any algorithm is secure. It can only be proven that it is not vulnerable to known cryptanalytic attacks. Therefore, there is a need for mathematicians, scholars, and security forensic experts to keep trying to break the encryption methods.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Cryptology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The Secret is in the Keys</a:t>
            </a:r>
          </a:p>
        </p:txBody>
      </p:sp>
      <p:graphicFrame>
        <p:nvGraphicFramePr>
          <p:cNvPr id="29" name="Table 28"/>
          <p:cNvGraphicFramePr>
            <a:graphicFrameLocks noGrp="1"/>
          </p:cNvGraphicFramePr>
          <p:nvPr>
            <p:extLst>
              <p:ext uri="{D42A27DB-BD31-4B8C-83A1-F6EECF244321}">
                <p14:modId xmlns:p14="http://schemas.microsoft.com/office/powerpoint/2010/main" val="1265142487"/>
              </p:ext>
            </p:extLst>
          </p:nvPr>
        </p:nvGraphicFramePr>
        <p:xfrm>
          <a:off x="2467718" y="2766464"/>
          <a:ext cx="4033993" cy="1036320"/>
        </p:xfrm>
        <a:graphic>
          <a:graphicData uri="http://schemas.openxmlformats.org/drawingml/2006/table">
            <a:tbl>
              <a:tblPr/>
              <a:tblGrid>
                <a:gridCol w="1205732">
                  <a:extLst>
                    <a:ext uri="{9D8B030D-6E8A-4147-A177-3AD203B41FA5}">
                      <a16:colId xmlns:a16="http://schemas.microsoft.com/office/drawing/2014/main" val="20000"/>
                    </a:ext>
                  </a:extLst>
                </a:gridCol>
                <a:gridCol w="1541721">
                  <a:extLst>
                    <a:ext uri="{9D8B030D-6E8A-4147-A177-3AD203B41FA5}">
                      <a16:colId xmlns:a16="http://schemas.microsoft.com/office/drawing/2014/main" val="20001"/>
                    </a:ext>
                  </a:extLst>
                </a:gridCol>
                <a:gridCol w="1286540">
                  <a:extLst>
                    <a:ext uri="{9D8B030D-6E8A-4147-A177-3AD203B41FA5}">
                      <a16:colId xmlns:a16="http://schemas.microsoft.com/office/drawing/2014/main" val="20002"/>
                    </a:ext>
                  </a:extLst>
                </a:gridCol>
              </a:tblGrid>
              <a:tr h="0">
                <a:tc>
                  <a:txBody>
                    <a:bodyPr/>
                    <a:lstStyle/>
                    <a:p>
                      <a:r>
                        <a:rPr lang="en-US" sz="1200" dirty="0">
                          <a:solidFill>
                            <a:srgbClr val="FFFFFF"/>
                          </a:solidFill>
                        </a:rPr>
                        <a:t>Integrity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Authenticity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Confidentiality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MD5 (legacy)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HMAC-MD5 (legacy)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3DES (legacy)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SHA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HMAC-SHA-256</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AES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RSA and DSA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31</a:t>
            </a:fld>
            <a:endParaRPr lang="en-US" dirty="0"/>
          </a:p>
        </p:txBody>
      </p:sp>
      <p:sp>
        <p:nvSpPr>
          <p:cNvPr id="7" name="TextBox 6">
            <a:extLst>
              <a:ext uri="{FF2B5EF4-FFF2-40B4-BE49-F238E27FC236}">
                <a16:creationId xmlns:a16="http://schemas.microsoft.com/office/drawing/2014/main" id="{81AF9CFF-22FC-4F6F-A7C5-AE1C6093B23E}"/>
              </a:ext>
            </a:extLst>
          </p:cNvPr>
          <p:cNvSpPr txBox="1"/>
          <p:nvPr/>
        </p:nvSpPr>
        <p:spPr>
          <a:xfrm>
            <a:off x="91439" y="781617"/>
            <a:ext cx="8786553" cy="1600438"/>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In the world of communications and networking, authentication, integrity, and data confidentiality are implemented in many ways using various protocols and algorithms. The choice of protocol and algorithm varies based on the level of security required to meet the goals of the network security policy.</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table lists some common cryptographic hashes, protocols, and algorithms</a:t>
            </a:r>
            <a:r>
              <a:rPr lang="en-US" dirty="0"/>
              <a: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Cryptology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Lab - Exploring Encryption Methods</a:t>
            </a:r>
          </a:p>
        </p:txBody>
      </p:sp>
      <p:sp>
        <p:nvSpPr>
          <p:cNvPr id="5" name="Object4"/>
          <p:cNvSpPr/>
          <p:nvPr/>
        </p:nvSpPr>
        <p:spPr>
          <a:xfrm>
            <a:off x="0" y="914400"/>
            <a:ext cx="8229600" cy="2571750"/>
          </a:xfrm>
          <a:prstGeom prst="rect">
            <a:avLst/>
          </a:prstGeom>
          <a:noFill/>
          <a:ln/>
        </p:spPr>
        <p:txBody>
          <a:bodyPr wrap="square" rtlCol="0" anchor="t"/>
          <a:lstStyle/>
          <a:p>
            <a:r>
              <a:rPr lang="en-US" sz="1600" dirty="0">
                <a:effectLst/>
                <a:latin typeface="Arial" panose="020B0604020202020204" pitchFamily="34" charset="0"/>
                <a:cs typeface="Arial" panose="020B0604020202020204" pitchFamily="34" charset="0"/>
              </a:rPr>
              <a:t>In this lab, you will complete the following objectives:</a:t>
            </a:r>
          </a:p>
          <a:p>
            <a:endParaRPr lang="en-US" sz="1600" dirty="0">
              <a:effectLst/>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Part 1: Decipher a pre-encrypted message using the Vigenère cipher.</a:t>
            </a:r>
          </a:p>
          <a:p>
            <a:pPr marL="742950" lvl="1"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Part 2: Create a Vigenère cipher encrypted message and decrypt it.</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32</a:t>
            </a:fld>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15.5 Cryptographic Services - Summary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33</a:t>
            </a:fld>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Cryptographic Services - Summary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What Did I Learn in this Module?</a:t>
            </a:r>
          </a:p>
        </p:txBody>
      </p:sp>
      <p:sp>
        <p:nvSpPr>
          <p:cNvPr id="5" name="Object4"/>
          <p:cNvSpPr/>
          <p:nvPr/>
        </p:nvSpPr>
        <p:spPr>
          <a:xfrm>
            <a:off x="0" y="914400"/>
            <a:ext cx="8229600" cy="2571750"/>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The three primary objectives of securing communications are authentication, integrity, and confidentiality.</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Authentication may be secured by HMAC.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Integrity is ensured through the use of the SHA family of hash generating algorithms.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Data confidentiality is ensured through symmetric encryption algorithms, such as AES, and asymmetric algorithms, such RSA and PKI.</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Authentication proves that a message actually comes from a valid source.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Data nonrepudiation is a similar service to authentication in that it allows the sender of a message to be uniquely identified.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Data integrity ensures that messages are not altered in transit.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Data confidentiality ensures privacy so that only the intended receiver can read the message.</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Three types of cipher are transposition, substitution, and one-time pad</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Cryptanalysis, or codebreaking, is the practice and study of determining the meaning of encrypted information (cracking the code), without access to the shared secret key. </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34</a:t>
            </a:fld>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Cryptographic Services - Summary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What Did I Learn in this Module? (Cont.)</a:t>
            </a:r>
          </a:p>
        </p:txBody>
      </p:sp>
      <p:sp>
        <p:nvSpPr>
          <p:cNvPr id="5" name="Object4"/>
          <p:cNvSpPr/>
          <p:nvPr/>
        </p:nvSpPr>
        <p:spPr>
          <a:xfrm>
            <a:off x="0" y="914400"/>
            <a:ext cx="8229600" cy="2571750"/>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The objective of modern cryptographers is to have a keyspace large enough that it takes too much time and money to accomplish a brute-force attack.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Cryptology is the science of making and breaking secret codes. It combines cryptography and cryptanalysis.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The choice of algorithm varies depending on the security requirements, the hardware resources that are available for encryption and decryption, and the acceptance of the algorithm in the security community.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With most modern algorithms, the security of encryption lies in the secrecy of the keys, not the algorithm.</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35</a:t>
            </a:fld>
            <a:endParaRPr lang="en-US" dirty="0"/>
          </a:p>
        </p:txBody>
      </p:sp>
    </p:spTree>
    <p:extLst>
      <p:ext uri="{BB962C8B-B14F-4D97-AF65-F5344CB8AC3E}">
        <p14:creationId xmlns:p14="http://schemas.microsoft.com/office/powerpoint/2010/main" val="20059020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Cryptographic Services</a:t>
            </a:r>
          </a:p>
        </p:txBody>
      </p:sp>
      <p:sp>
        <p:nvSpPr>
          <p:cNvPr id="3" name="Object2"/>
          <p:cNvSpPr>
            <a:spLocks noGrp="1"/>
          </p:cNvSpPr>
          <p:nvPr>
            <p:ph type="body" idx="100" hasCustomPrompt="1"/>
          </p:nvPr>
        </p:nvSpPr>
        <p:spPr>
          <a:xfrm>
            <a:off x="0" y="274320"/>
            <a:ext cx="9144000" cy="491224"/>
          </a:xfrm>
          <a:prstGeom prst="rect">
            <a:avLst/>
          </a:prstGeom>
          <a:noFill/>
          <a:ln/>
        </p:spPr>
        <p:txBody>
          <a:bodyPr wrap="square" rtlCol="0"/>
          <a:lstStyle/>
          <a:p>
            <a:pPr marL="0" indent="0">
              <a:buNone/>
            </a:pPr>
            <a:r>
              <a:rPr lang="en-US" dirty="0"/>
              <a:t>New Terms and Commands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600" b="0" i="0" u="none" strike="noStrike" kern="1200" cap="none" spc="0" normalizeH="0" baseline="0" noProof="0" dirty="0">
              <a:ln>
                <a:noFill/>
              </a:ln>
              <a:solidFill>
                <a:srgbClr val="D9D9D9"/>
              </a:solidFill>
              <a:effectLst/>
              <a:uLnTx/>
              <a:uFillTx/>
              <a:latin typeface="Calibri" panose="020F0502020204030204"/>
              <a:ea typeface="+mn-ea"/>
              <a:cs typeface="+mn-cs"/>
            </a:endParaRPr>
          </a:p>
        </p:txBody>
      </p:sp>
      <p:graphicFrame>
        <p:nvGraphicFramePr>
          <p:cNvPr id="6" name="Content Placeholder 2">
            <a:extLst>
              <a:ext uri="{FF2B5EF4-FFF2-40B4-BE49-F238E27FC236}">
                <a16:creationId xmlns:a16="http://schemas.microsoft.com/office/drawing/2014/main" id="{D0DE7418-546F-4654-9590-D73838CF0725}"/>
              </a:ext>
            </a:extLst>
          </p:cNvPr>
          <p:cNvGraphicFramePr>
            <a:graphicFrameLocks/>
          </p:cNvGraphicFramePr>
          <p:nvPr>
            <p:extLst>
              <p:ext uri="{D42A27DB-BD31-4B8C-83A1-F6EECF244321}">
                <p14:modId xmlns:p14="http://schemas.microsoft.com/office/powerpoint/2010/main" val="2388528734"/>
              </p:ext>
            </p:extLst>
          </p:nvPr>
        </p:nvGraphicFramePr>
        <p:xfrm>
          <a:off x="294640" y="650450"/>
          <a:ext cx="8458662" cy="4003040"/>
        </p:xfrm>
        <a:graphic>
          <a:graphicData uri="http://schemas.openxmlformats.org/drawingml/2006/table">
            <a:tbl>
              <a:tblPr firstRow="1" bandRow="1">
                <a:tableStyleId>{F5AB1C69-6EDB-4FF4-983F-18BD219EF322}</a:tableStyleId>
              </a:tblPr>
              <a:tblGrid>
                <a:gridCol w="3999424">
                  <a:extLst>
                    <a:ext uri="{9D8B030D-6E8A-4147-A177-3AD203B41FA5}">
                      <a16:colId xmlns:a16="http://schemas.microsoft.com/office/drawing/2014/main" val="2731093094"/>
                    </a:ext>
                  </a:extLst>
                </a:gridCol>
                <a:gridCol w="4459238">
                  <a:extLst>
                    <a:ext uri="{9D8B030D-6E8A-4147-A177-3AD203B41FA5}">
                      <a16:colId xmlns:a16="http://schemas.microsoft.com/office/drawing/2014/main" val="2353496225"/>
                    </a:ext>
                  </a:extLst>
                </a:gridCol>
              </a:tblGrid>
              <a:tr h="3911390">
                <a:tc>
                  <a:txBody>
                    <a:bodyPr/>
                    <a:lstStyle/>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data integrity</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data confidentiality</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Caesar cipher</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scytale </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Vigenère cipher</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Enigma machine</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transposition ciphers</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block cipher</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substitution cipher</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one-time pad cipher</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brute-force method</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ciphertext method</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known-plaintext method </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chosen-plaintext method</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chosen-ciphertext method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meet-in-the-middle method</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cryptology </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cryptography</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cryptanalysis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00795013"/>
                  </a:ext>
                </a:extLst>
              </a:tr>
            </a:tbl>
          </a:graphicData>
        </a:graphic>
      </p:graphicFrame>
    </p:spTree>
    <p:extLst>
      <p:ext uri="{BB962C8B-B14F-4D97-AF65-F5344CB8AC3E}">
        <p14:creationId xmlns:p14="http://schemas.microsoft.com/office/powerpoint/2010/main" val="36456931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4194</TotalTime>
  <Words>3528</Words>
  <Application>Microsoft Office PowerPoint</Application>
  <PresentationFormat>On-screen Show (16:9)</PresentationFormat>
  <Paragraphs>389</Paragraphs>
  <Slides>37</Slides>
  <Notes>35</Notes>
  <HiddenSlides>6</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37</vt:i4>
      </vt:variant>
    </vt:vector>
  </HeadingPairs>
  <TitlesOfParts>
    <vt:vector size="43" baseType="lpstr">
      <vt:lpstr>Arial</vt:lpstr>
      <vt:lpstr>Calibri</vt:lpstr>
      <vt:lpstr>CiscoSans ExtraLight</vt:lpstr>
      <vt:lpstr>Wingdings</vt:lpstr>
      <vt:lpstr>Office Theme</vt:lpstr>
      <vt:lpstr>Default Theme</vt:lpstr>
      <vt:lpstr>PowerPoint Presentation</vt:lpstr>
      <vt:lpstr>PowerPoint Presentation</vt:lpstr>
      <vt:lpstr>What to Expect in this Module</vt:lpstr>
      <vt:lpstr>What to Expect in this Module (Cont.)</vt:lpstr>
      <vt:lpstr>Check Your Understanding</vt:lpstr>
      <vt:lpstr>PowerPoint Presentation</vt:lpstr>
      <vt:lpstr>Module 15: Best Practices</vt:lpstr>
      <vt:lpstr>Module 15: Best Practices</vt:lpstr>
      <vt:lpstr>Module 15: Best Practices</vt:lpstr>
      <vt:lpstr>PowerPoint Presentation</vt:lpstr>
      <vt:lpstr>Module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Sue Livingston -X (suliving - UNICON INC at Cisco)</cp:lastModifiedBy>
  <cp:revision>29</cp:revision>
  <dcterms:created xsi:type="dcterms:W3CDTF">2020-12-08T18:27:12Z</dcterms:created>
  <dcterms:modified xsi:type="dcterms:W3CDTF">2021-03-16T14:48:40Z</dcterms:modified>
</cp:coreProperties>
</file>