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9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5" r:id="rId2"/>
  </p:sldMasterIdLst>
  <p:notesMasterIdLst>
    <p:notesMasterId r:id="rId34"/>
  </p:notesMasterIdLst>
  <p:sldIdLst>
    <p:sldId id="256" r:id="rId3"/>
    <p:sldId id="730" r:id="rId4"/>
    <p:sldId id="1070" r:id="rId5"/>
    <p:sldId id="1071" r:id="rId6"/>
    <p:sldId id="1053" r:id="rId7"/>
    <p:sldId id="763" r:id="rId8"/>
    <p:sldId id="1055" r:id="rId9"/>
    <p:sldId id="1080" r:id="rId10"/>
    <p:sldId id="262" r:id="rId11"/>
    <p:sldId id="1058" r:id="rId12"/>
    <p:sldId id="263" r:id="rId13"/>
    <p:sldId id="264" r:id="rId14"/>
    <p:sldId id="265" r:id="rId15"/>
    <p:sldId id="266" r:id="rId16"/>
    <p:sldId id="268" r:id="rId17"/>
    <p:sldId id="269" r:id="rId18"/>
    <p:sldId id="270" r:id="rId19"/>
    <p:sldId id="271" r:id="rId20"/>
    <p:sldId id="1073" r:id="rId21"/>
    <p:sldId id="1072" r:id="rId22"/>
    <p:sldId id="1075" r:id="rId23"/>
    <p:sldId id="273" r:id="rId24"/>
    <p:sldId id="1074" r:id="rId25"/>
    <p:sldId id="275" r:id="rId26"/>
    <p:sldId id="1076" r:id="rId27"/>
    <p:sldId id="1077" r:id="rId28"/>
    <p:sldId id="276" r:id="rId29"/>
    <p:sldId id="277" r:id="rId30"/>
    <p:sldId id="1079" r:id="rId31"/>
    <p:sldId id="1078" r:id="rId32"/>
    <p:sldId id="291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78281" autoAdjust="0"/>
  </p:normalViewPr>
  <p:slideViewPr>
    <p:cSldViewPr snapToGrid="0" snapToObjects="1">
      <p:cViewPr varScale="1">
        <p:scale>
          <a:sx n="78" d="100"/>
          <a:sy n="78" d="100"/>
        </p:scale>
        <p:origin x="9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Networking Security (NETSEC)
Module 5: Assigning Administrative Roles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39C26-801B-42B6-A101-60F37FE2B0A8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771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7" tIns="0" rIns="18817" bIns="0" anchor="b"/>
          <a:lstStyle>
            <a:lvl1pPr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1700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17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E20BE7-F2F3-4E26-9454-50B18F790A4E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17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027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313ED8-785B-4D16-9B17-4143385249B9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7453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91C207-9349-46D5-9D89-8ADDA5014D1F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104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391C207-9349-46D5-9D89-8ADDA5014D1F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2582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Networking Security (NETSEC)
Module 5: Assigning Administrative Roles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032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C839C26-801B-42B6-A101-60F37FE2B0A8}" type="slidenum"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pitchFamily="34" charset="-128"/>
                <a:cs typeface="Arial" charset="0"/>
              </a:rPr>
              <a:pPr marL="0" marR="0" lvl="0" indent="0" algn="r" defTabSz="9032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ＭＳ Ｐゴシック" pitchFamily="34" charset="-128"/>
              <a:cs typeface="Arial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5 – Assigning Administrative Roles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5.0.2 – What will I learn in this module?</a:t>
            </a:r>
            <a:endParaRPr lang="en-GB" b="0" dirty="0"/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891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5.1: Configure Privilege Levels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5.1: Configure Privilege Levels
5.1.1: Limiting Command Availability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5.1: Configure Privilege Levels
5.1.2: Configuring and Assigning Privilege Levels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5.1: Configure Privilege Levels
5.1.3: Limitations of Privilege Levels</a:t>
            </a:r>
          </a:p>
          <a:p>
            <a:r>
              <a:rPr lang="en-US" dirty="0"/>
              <a:t>5.1.4: Syntax Checker - Configure Privilege Levels on R2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5.2.1: Role-Based CLI Access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5.2.2: Role-Based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5.2.3: Configure Role-Based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5.2.3: Configure Role-Based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851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5.2.3: Configure Role-Based Views
5.2.4: Syntax Checker - Configure Views on 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5461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dirty="0"/>
              <a:t>5: Assigning Administrative Roles
5.2: Configure Role-Based CLI
5.2.5  Lab- </a:t>
            </a:r>
            <a:r>
              <a:rPr lang="en-US" sz="180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Configure Administrative Roles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302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5.2.6: Configure Role-Based CLI Superviews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5.2.6: Configure Role-Based CLI Superviews</a:t>
            </a:r>
          </a:p>
          <a:p>
            <a:r>
              <a:rPr lang="en-US" dirty="0"/>
              <a:t>5.2.7: Syntax Checker - Configure Superviews on R2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2393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5.2.8: Verify Role-Based CLI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5.2.8: Verify Role-Based CLI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391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5.2: Configure Role-Based CLI
5.2.8: Verify Role-Based CLI Views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57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5.3: Assign Administrative Roles Summary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5.3: Assign Administrative Roles Summary
5.3.1: What Did I Learn in this Module?</a:t>
            </a:r>
          </a:p>
          <a:p>
            <a:r>
              <a:rPr lang="en-US" dirty="0"/>
              <a:t>5.3.2: Module Quiz – Assign Administrative Rolls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 Assigning Administrative Roles
5.3: Assign Administrative Roles Summary
5.3.1: What Did I Learn in this Module?</a:t>
            </a:r>
          </a:p>
          <a:p>
            <a:r>
              <a:rPr lang="en-US" dirty="0"/>
              <a:t>5.3.2: Module Quiz – Assign Administrative Rolls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8634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5 – Basic Switch and End Device Configuration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New Terms and Commands</a:t>
            </a:r>
          </a:p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496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154305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36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3600" dirty="0"/>
          </a:p>
        </p:txBody>
      </p:sp>
      <p:sp>
        <p:nvSpPr>
          <p:cNvPr id="3" name="Object2"/>
          <p:cNvSpPr>
            <a:spLocks noGrp="1"/>
          </p:cNvSpPr>
          <p:nvPr>
            <p:ph type="body" idx="101" hasCustomPrompt="1"/>
          </p:nvPr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1200" dirty="0"/>
          </a:p>
        </p:txBody>
      </p:sp>
      <p:pic>
        <p:nvPicPr>
          <p:cNvPr id="4" name="Object 3" descr="/Users/phillipball/Projects/Cisco/Netacad 3/netacad-vudu/src/pptx/assets/Cisco_logo.png"/>
          <p:cNvPicPr>
            <a:picLocks noChangeAspect="1"/>
          </p:cNvPicPr>
          <p:nvPr/>
        </p:nvPicPr>
        <p:blipFill>
          <a:blip r:embed="rId3"/>
          <a:srcRect t="-33333" b="-33333"/>
          <a:stretch/>
        </p:blipFill>
        <p:spPr>
          <a:xfrm>
            <a:off x="457200" y="257175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_A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1543050"/>
            <a:ext cx="6400800" cy="257175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4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4200" dirty="0"/>
          </a:p>
        </p:txBody>
      </p:sp>
      <p:sp>
        <p:nvSpPr>
          <p:cNvPr id="3" name="Object2"/>
          <p:cNvSpPr>
            <a:spLocks noGrp="1"/>
          </p:cNvSpPr>
          <p:nvPr>
            <p:ph type="body" idx="101" hasCustomPrompt="1"/>
          </p:nvPr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200" dirty="0">
                <a:solidFill>
                  <a:srgbClr val="AFE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1200" dirty="0"/>
          </a:p>
        </p:txBody>
      </p:sp>
      <p:pic>
        <p:nvPicPr>
          <p:cNvPr id="4" name="Object 3" descr="/Users/phillipball/Projects/Cisco/Netacad 3/netacad-vudu/src/pptx/assets/Cisco_logo.png"/>
          <p:cNvPicPr>
            <a:picLocks noChangeAspect="1"/>
          </p:cNvPicPr>
          <p:nvPr/>
        </p:nvPicPr>
        <p:blipFill>
          <a:blip r:embed="rId3"/>
          <a:srcRect t="-33333" b="-33333"/>
          <a:stretch/>
        </p:blipFill>
        <p:spPr>
          <a:xfrm>
            <a:off x="457200" y="257175"/>
            <a:ext cx="9144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_INTR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1600" dirty="0"/>
          </a:p>
        </p:txBody>
      </p:sp>
      <p:sp>
        <p:nvSpPr>
          <p:cNvPr id="3" name="Object2"/>
          <p:cNvSpPr/>
          <p:nvPr/>
        </p:nvSpPr>
        <p:spPr>
          <a:xfrm>
            <a:off x="914400" y="462915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/>
            <a:r>
              <a:rPr lang="en-US" sz="600" dirty="0">
                <a:solidFill>
                  <a:srgbClr val="D9D9D9"/>
                </a:solidFill>
              </a:rPr>
              <a:t>© 2021  Cisco and/or its affiliates. All rights reserved.   Cisco Confidential</a:t>
            </a:r>
            <a:endParaRPr lang="en-US" sz="600" dirty="0"/>
          </a:p>
        </p:txBody>
      </p:sp>
      <p:pic>
        <p:nvPicPr>
          <p:cNvPr id="4" name="Object 3" descr="/Users/phillipball/Projects/Cisco/Netacad 3/netacad-vudu/src/pptx/assets/Cisco_logo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29150"/>
            <a:ext cx="365760" cy="182880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OCK">
    <p:bg>
      <p:bgPr>
        <a:solidFill>
          <a:srgbClr val="0039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600" dirty="0">
                <a:solidFill>
                  <a:srgbClr val="B1E8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4600" dirty="0">
                <a:solidFill>
                  <a:srgbClr val="B1E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4600" dirty="0"/>
          </a:p>
        </p:txBody>
      </p:sp>
      <p:sp>
        <p:nvSpPr>
          <p:cNvPr id="3" name="Object2"/>
          <p:cNvSpPr/>
          <p:nvPr/>
        </p:nvSpPr>
        <p:spPr>
          <a:xfrm>
            <a:off x="914400" y="462915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/>
            <a:r>
              <a:rPr lang="en-US" sz="600" dirty="0">
                <a:solidFill>
                  <a:srgbClr val="D9D9D9"/>
                </a:solidFill>
              </a:rPr>
              <a:t>© 2021 Cisco and/or its affiliates. All rights reserved.   Cisco Confidential</a:t>
            </a:r>
            <a:endParaRPr lang="en-US" sz="600" dirty="0"/>
          </a:p>
        </p:txBody>
      </p:sp>
      <p:pic>
        <p:nvPicPr>
          <p:cNvPr id="4" name="Object 3" descr="/Users/phillipball/Projects/Cisco/Netacad 3/netacad-vudu/src/pptx/assets/Cisco_logo_sm.png"/>
          <p:cNvPicPr>
            <a:picLocks noChangeAspect="1"/>
          </p:cNvPicPr>
          <p:nvPr/>
        </p:nvPicPr>
        <p:blipFill>
          <a:blip r:embed="rId2"/>
          <a:srcRect t="-16667" b="-16667"/>
          <a:stretch/>
        </p:blipFill>
        <p:spPr>
          <a:xfrm>
            <a:off x="457200" y="4629150"/>
            <a:ext cx="365760" cy="365760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22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2200" dirty="0"/>
          </a:p>
        </p:txBody>
      </p:sp>
      <p:sp>
        <p:nvSpPr>
          <p:cNvPr id="3" name="Object2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r>
              <a:rPr lang="en-US" sz="1600" dirty="0">
                <a:solidFill>
                  <a:srgbClr val="024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(custom placeholder text!)</a:t>
            </a:r>
            <a:endParaRPr lang="en-US" sz="1600" dirty="0"/>
          </a:p>
        </p:txBody>
      </p:sp>
      <p:sp>
        <p:nvSpPr>
          <p:cNvPr id="4" name="Object3"/>
          <p:cNvSpPr/>
          <p:nvPr/>
        </p:nvSpPr>
        <p:spPr>
          <a:xfrm>
            <a:off x="914400" y="462915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/>
            <a:r>
              <a:rPr lang="en-US" sz="600" dirty="0">
                <a:solidFill>
                  <a:srgbClr val="D9D9D9"/>
                </a:solidFill>
              </a:rPr>
              <a:t>© 2021  Cisco and/or its affiliates. All rights reserved.   Cisco Confidential</a:t>
            </a:r>
            <a:endParaRPr lang="en-US" sz="600" dirty="0"/>
          </a:p>
        </p:txBody>
      </p:sp>
      <p:pic>
        <p:nvPicPr>
          <p:cNvPr id="5" name="Object 4" descr="/Users/phillipball/Projects/Cisco/Netacad 3/netacad-vudu/src/pptx/assets/Cisco_logo_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629150"/>
            <a:ext cx="365760" cy="182880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31526983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09035388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77706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25620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>
          <p15:clr>
            <a:srgbClr val="FBAE40"/>
          </p15:clr>
        </p15:guide>
        <p15:guide id="2" pos="360">
          <p15:clr>
            <a:srgbClr val="FBAE40"/>
          </p15:clr>
        </p15:guide>
        <p15:guide id="3" orient="horz" pos="518">
          <p15:clr>
            <a:srgbClr val="FBAE40"/>
          </p15:clr>
        </p15:guide>
        <p15:guide id="4" pos="812">
          <p15:clr>
            <a:srgbClr val="FBAE40"/>
          </p15:clr>
        </p15:guide>
        <p15:guide id="5" pos="31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3986870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55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74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95876799"/>
      </p:ext>
    </p:extLst>
  </p:cSld>
  <p:clrMapOvr>
    <a:masterClrMapping/>
  </p:clrMapOvr>
  <p:transition spd="slow">
    <p:wip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855121"/>
      </p:ext>
    </p:extLst>
  </p:cSld>
  <p:clrMapOvr>
    <a:masterClrMapping/>
  </p:clrMapOvr>
  <p:transition spd="slow">
    <p:wip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64854180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1868546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57991418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088954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56630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2776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71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2021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77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3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1543050"/>
            <a:ext cx="6400800" cy="1828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Module 5: Assigning Administrative Roles</a:t>
            </a:r>
          </a:p>
        </p:txBody>
      </p:sp>
      <p:sp>
        <p:nvSpPr>
          <p:cNvPr id="3" name="Object2"/>
          <p:cNvSpPr/>
          <p:nvPr/>
        </p:nvSpPr>
        <p:spPr>
          <a:xfrm>
            <a:off x="457200" y="3343275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CEE8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Materials</a:t>
            </a:r>
            <a:endParaRPr lang="en-US" sz="2000" dirty="0"/>
          </a:p>
        </p:txBody>
      </p:sp>
      <p:sp>
        <p:nvSpPr>
          <p:cNvPr id="4" name="Object3"/>
          <p:cNvSpPr>
            <a:spLocks noGrp="1"/>
          </p:cNvSpPr>
          <p:nvPr>
            <p:ph type="body" idx="101" hasCustomPrompt="1"/>
          </p:nvPr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Networking Security v1.0</a:t>
            </a:r>
          </a:p>
          <a:p>
            <a:pPr marL="0" indent="0">
              <a:buNone/>
            </a:pPr>
            <a:r>
              <a:rPr lang="en-US" dirty="0"/>
              <a:t>(NETSEC)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50629"/>
            <a:ext cx="9144000" cy="757551"/>
          </a:xfrm>
        </p:spPr>
        <p:txBody>
          <a:bodyPr/>
          <a:lstStyle/>
          <a:p>
            <a:r>
              <a:rPr lang="en-US" dirty="0"/>
              <a:t>Instructor Materials – Module 5 Planning Guide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311611" y="808180"/>
            <a:ext cx="8832388" cy="3193936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This PowerPoint deck is divided in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Instructor Planning Guide</a:t>
            </a:r>
            <a:endParaRPr lang="en-CA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Information to help you become familiar with the module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Teaching aids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Instructor Class 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Optional slides that you can use in the classroom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Begins on slide # 9</a:t>
            </a:r>
          </a:p>
          <a:p>
            <a:pPr marL="142875" lvl="1" indent="0" algn="ctr">
              <a:buNone/>
            </a:pPr>
            <a:r>
              <a:rPr lang="en-CA" sz="1600" b="1" dirty="0"/>
              <a:t>Note</a:t>
            </a:r>
            <a:r>
              <a:rPr lang="en-CA" sz="1600" dirty="0"/>
              <a:t>: Remove the Planning Guide from this presentation before sharing with anyone.</a:t>
            </a:r>
          </a:p>
          <a:p>
            <a:pPr marL="0" indent="0">
              <a:buNone/>
            </a:pPr>
            <a:r>
              <a:rPr lang="en-CA" sz="1600" b="1" dirty="0">
                <a:solidFill>
                  <a:schemeClr val="accent4"/>
                </a:solidFill>
              </a:rPr>
              <a:t>For additional help and resources go to the Instructor Home Page and Course Resources for this course. </a:t>
            </a:r>
            <a:r>
              <a:rPr lang="en-US" sz="1600" b="1" dirty="0">
                <a:solidFill>
                  <a:schemeClr val="accent4"/>
                </a:solidFill>
              </a:rPr>
              <a:t>You also can visit the professional development site on netacad.com, the official Cisco Networking Academy Facebook page, or Instructor Only FB group.</a:t>
            </a:r>
            <a:endParaRPr lang="en-CA" sz="1600" b="1" dirty="0">
              <a:solidFill>
                <a:schemeClr val="accent4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9581950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DBD329-AB20-664C-9697-486FE5CED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238"/>
            <a:ext cx="9144000" cy="609708"/>
          </a:xfrm>
        </p:spPr>
        <p:txBody>
          <a:bodyPr/>
          <a:lstStyle/>
          <a:p>
            <a:r>
              <a:rPr lang="en-US" dirty="0"/>
              <a:t>What to Expect in this Module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EDE137-350D-6D47-BD51-750CD198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65" y="798945"/>
            <a:ext cx="8853286" cy="3463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 facilitate learning, the following features within the GUI may be included in this module: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4EE699F-A87C-2246-9235-C1DFDF6B2651}"/>
              </a:ext>
            </a:extLst>
          </p:cNvPr>
          <p:cNvGraphicFramePr>
            <a:graphicFrameLocks noGrp="1"/>
          </p:cNvGraphicFramePr>
          <p:nvPr/>
        </p:nvGraphicFramePr>
        <p:xfrm>
          <a:off x="301658" y="1145310"/>
          <a:ext cx="8557528" cy="300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0558">
                  <a:extLst>
                    <a:ext uri="{9D8B030D-6E8A-4147-A177-3AD203B41FA5}">
                      <a16:colId xmlns:a16="http://schemas.microsoft.com/office/drawing/2014/main" val="200107645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648404099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10602"/>
                  </a:ext>
                </a:extLst>
              </a:tr>
              <a:tr h="33155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Animations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Expose learners to new skills and concepts.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835149"/>
                  </a:ext>
                </a:extLst>
              </a:tr>
              <a:tr h="37941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Videos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Expose learners to new skills and concepts.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57650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Check Your Understanding(CYU)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 topic online quiz to help learners gauge content understanding.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586054"/>
                  </a:ext>
                </a:extLst>
              </a:tr>
              <a:tr h="178145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Interactive Activities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variety of formats to help learners gauge content understanding.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703549"/>
                  </a:ext>
                </a:extLst>
              </a:tr>
              <a:tr h="21529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Syntax Checker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Small simulations that expose learners to Cisco command line to practice configuration skills.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31658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PT Activity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Simulation and modeling activities designed to explore, acquire, reinforce, and expand skills.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1315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2215396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2D10C50B-ED86-4E5D-BD0F-658911DFE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5285"/>
            <a:ext cx="9144000" cy="757238"/>
          </a:xfrm>
        </p:spPr>
        <p:txBody>
          <a:bodyPr/>
          <a:lstStyle/>
          <a:p>
            <a:r>
              <a:rPr lang="en-US" dirty="0"/>
              <a:t>What to Expect in this Module (Cont.)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031D3D35-BC84-421A-A5F0-48081A310F8E}"/>
              </a:ext>
            </a:extLst>
          </p:cNvPr>
          <p:cNvSpPr txBox="1">
            <a:spLocks/>
          </p:cNvSpPr>
          <p:nvPr/>
        </p:nvSpPr>
        <p:spPr bwMode="auto">
          <a:xfrm>
            <a:off x="106756" y="668963"/>
            <a:ext cx="8853286" cy="346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To facilitate learning, the following features may be included in this module:</a:t>
            </a: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D52CCD-9D1E-4CC4-815A-A5967A0831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756" y="1279280"/>
          <a:ext cx="8595235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265">
                  <a:extLst>
                    <a:ext uri="{9D8B030D-6E8A-4147-A177-3AD203B41FA5}">
                      <a16:colId xmlns:a16="http://schemas.microsoft.com/office/drawing/2014/main" val="3215831619"/>
                    </a:ext>
                  </a:extLst>
                </a:gridCol>
                <a:gridCol w="6416970">
                  <a:extLst>
                    <a:ext uri="{9D8B030D-6E8A-4147-A177-3AD203B41FA5}">
                      <a16:colId xmlns:a16="http://schemas.microsoft.com/office/drawing/2014/main" val="276475465"/>
                    </a:ext>
                  </a:extLst>
                </a:gridCol>
              </a:tblGrid>
              <a:tr h="26509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Feature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427975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Hands-On Labs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Labs designed for working with physical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594367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marL="0" marR="0" lvl="0" indent="0" algn="l" defTabSz="685777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Class Activities</a:t>
                      </a:r>
                    </a:p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These are found on the Instructor Resources page. Class Activities are designed to facilitate learning, class discussion, and collaboration.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66603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Module Quizzes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Self-assessments that integrate concepts and skills learned throughout the series of topics presented in the module.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02776"/>
                  </a:ext>
                </a:extLst>
              </a:tr>
              <a:tr h="265091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Module Summary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Briefly recaps module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704628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73605805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Check Your Understanding</a:t>
            </a:r>
          </a:p>
        </p:txBody>
      </p:sp>
      <p:sp>
        <p:nvSpPr>
          <p:cNvPr id="4" name="Rectangle 34">
            <a:extLst>
              <a:ext uri="{FF2B5EF4-FFF2-40B4-BE49-F238E27FC236}">
                <a16:creationId xmlns:a16="http://schemas.microsoft.com/office/drawing/2014/main" id="{08FDDB5E-A0F2-A445-A3E2-506D151576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715" y="982690"/>
            <a:ext cx="8878570" cy="3643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 algn="l" defTabSz="684213" rtl="0" eaLnBrk="1" fontAlgn="base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Char char="§"/>
              <a:defRPr lang="en-US" sz="15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 kern="1200">
                <a:solidFill>
                  <a:srgbClr val="000000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Check Your Understanding activities are designed to let students quickly determine if they understand the content and can proceed, or if they need to review. </a:t>
            </a: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Check Your Understanding activities </a:t>
            </a:r>
            <a:r>
              <a:rPr kumimoji="0" lang="en-US" sz="15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do not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affect student grades.</a:t>
            </a: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charset="0"/>
              </a:rPr>
              <a:t>There are no separate slides for these activities in the PPT. They are listed in the notes area of the slide that appears before these activities.</a:t>
            </a:r>
          </a:p>
          <a:p>
            <a:pPr marL="0" marR="0" lvl="0" indent="0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  <a:p>
            <a:pPr marL="169863" marR="0" lvl="0" indent="-169863" algn="l" defTabSz="68421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ts val="600"/>
              </a:spcAft>
              <a:buClr>
                <a:srgbClr val="58585B"/>
              </a:buClr>
              <a:buSzPct val="90000"/>
              <a:buFont typeface="Wingdings" panose="05000000000000000000" pitchFamily="2" charset="2"/>
              <a:buChar char="§"/>
              <a:tabLst/>
              <a:defRPr/>
            </a:pP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72702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2: Activities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5"/>
            <a:ext cx="8695135" cy="348414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dirty="0"/>
              <a:t>What activities are associated with this module?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7743803"/>
              </p:ext>
            </p:extLst>
          </p:nvPr>
        </p:nvGraphicFramePr>
        <p:xfrm>
          <a:off x="181864" y="1168159"/>
          <a:ext cx="8619535" cy="39125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802">
                  <a:extLst>
                    <a:ext uri="{9D8B030D-6E8A-4147-A177-3AD203B41FA5}">
                      <a16:colId xmlns:a16="http://schemas.microsoft.com/office/drawing/2014/main" val="3156509146"/>
                    </a:ext>
                  </a:extLst>
                </a:gridCol>
                <a:gridCol w="42734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434">
                <a:tc>
                  <a:txBody>
                    <a:bodyPr/>
                    <a:lstStyle/>
                    <a:p>
                      <a:pPr marL="0" marR="0" lvl="0" indent="0" algn="ctr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Page #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Activity Type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Activity Name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Optional?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5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5.1.4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Syntax Checker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Configure Privilege Levels on R2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Recommended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5.2.2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Animation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Role-Based Views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Recommended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43722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5.2.4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Syntax Checker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Configure Views on R2</a:t>
                      </a:r>
                    </a:p>
                    <a:p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  <a:p>
                      <a:r>
                        <a:rPr lang="en-US" sz="1200" dirty="0"/>
                        <a:t>Recommended</a:t>
                      </a:r>
                    </a:p>
                    <a:p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5.2.5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Configure Administrative Roles</a:t>
                      </a: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Recommended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858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83005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5.2.7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Syntax Checker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Configure Superviews on R2</a:t>
                      </a:r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Recommended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8585B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78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5.3.2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Module Quiz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Assign Administrative Roles Quiz</a:t>
                      </a:r>
                    </a:p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marR="0" lvl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8585B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Recommended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9590324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14527372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5: Best Practices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4016895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dirty="0"/>
              <a:t>Prior to teaching Module 5, the instructor should:</a:t>
            </a:r>
          </a:p>
          <a:p>
            <a:pPr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Review the activities and assessments for this module.</a:t>
            </a:r>
          </a:p>
          <a:p>
            <a:pPr>
              <a:lnSpc>
                <a:spcPct val="85000"/>
              </a:lnSpc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dirty="0"/>
              <a:t>Try to include as many questions as possible to keep students engaged during classroom presentation.</a:t>
            </a:r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dirty="0"/>
              <a:t>Topic 5.1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Ask the class if everyone working in the IT department should have the same command access?</a:t>
            </a:r>
          </a:p>
          <a:p>
            <a:pPr lvl="2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For instance, should a summer student have the same level of access to an edge router as the network administrator?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Ask the class how can you limit access to commands?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Ask them how many levels of access do they use on a Cisco router.</a:t>
            </a:r>
          </a:p>
          <a:p>
            <a:pPr lvl="2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that there is User EXEC and privileged EXEC modes.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how privileged exec commands can be configured for different levels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67076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5: Best Practices (Cont.)</a:t>
            </a:r>
          </a:p>
        </p:txBody>
      </p:sp>
      <p:sp>
        <p:nvSpPr>
          <p:cNvPr id="11266" name="Rectangle 34"/>
          <p:cNvSpPr>
            <a:spLocks noGrp="1" noChangeArrowheads="1"/>
          </p:cNvSpPr>
          <p:nvPr>
            <p:ph idx="1"/>
          </p:nvPr>
        </p:nvSpPr>
        <p:spPr>
          <a:xfrm>
            <a:off x="144065" y="798944"/>
            <a:ext cx="8853286" cy="4016895"/>
          </a:xfrm>
        </p:spPr>
        <p:txBody>
          <a:bodyPr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r>
              <a:rPr lang="en-US" dirty="0"/>
              <a:t>Topic 5.2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Discuss the limitation of privileged levels with the students.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how role-based CLI access is better.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what is a view and what it can contain.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what is a view and what it can contain.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Explain how to configure it.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r>
              <a:rPr lang="en-US" dirty="0"/>
              <a:t>Do a demo of how the to configure Views and how it limits the available commands.</a:t>
            </a:r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lvl="2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marL="0" indent="0">
              <a:lnSpc>
                <a:spcPct val="85000"/>
              </a:lnSpc>
              <a:spcBef>
                <a:spcPct val="30000"/>
              </a:spcBef>
              <a:buNone/>
            </a:pPr>
            <a:endParaRPr lang="en-US" dirty="0"/>
          </a:p>
          <a:p>
            <a:pPr lvl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630238" lvl="2" indent="-214313">
              <a:buFont typeface="Arial" panose="020B0604020202020204" pitchFamily="34" charset="0"/>
              <a:buChar char="•"/>
            </a:pPr>
            <a:endParaRPr lang="en-US" sz="1500" dirty="0"/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5000"/>
              </a:lnSpc>
              <a:spcBef>
                <a:spcPct val="30000"/>
              </a:spcBef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043623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1543050"/>
            <a:ext cx="6400800" cy="257175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Module 5: Assigning Administrative Roles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1" hasCustomPrompt="1"/>
          </p:nvPr>
        </p:nvSpPr>
        <p:spPr>
          <a:xfrm>
            <a:off x="457200" y="4114800"/>
            <a:ext cx="3657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Networking Security v1.0</a:t>
            </a:r>
          </a:p>
          <a:p>
            <a:pPr marL="0" indent="0">
              <a:buNone/>
            </a:pPr>
            <a:r>
              <a:rPr lang="en-US" dirty="0"/>
              <a:t>(NETSEC)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4099" name="Rectangle 34"/>
          <p:cNvSpPr>
            <a:spLocks noGrp="1" noChangeArrowheads="1"/>
          </p:cNvSpPr>
          <p:nvPr>
            <p:ph idx="1"/>
          </p:nvPr>
        </p:nvSpPr>
        <p:spPr>
          <a:xfrm>
            <a:off x="0" y="685775"/>
            <a:ext cx="9006840" cy="1128717"/>
          </a:xfrm>
        </p:spPr>
        <p:txBody>
          <a:bodyPr/>
          <a:lstStyle/>
          <a:p>
            <a:pPr marL="188912" lvl="1" indent="0">
              <a:buNone/>
            </a:pPr>
            <a:r>
              <a:rPr lang="en-US" b="1" dirty="0"/>
              <a:t>Module Title</a:t>
            </a:r>
            <a:r>
              <a:rPr lang="en-US" dirty="0"/>
              <a:t>: Assigning Administrative Roles</a:t>
            </a:r>
          </a:p>
          <a:p>
            <a:pPr marL="188912" lvl="1" indent="0">
              <a:buNone/>
            </a:pPr>
            <a:endParaRPr lang="en-US" b="1" dirty="0"/>
          </a:p>
          <a:p>
            <a:pPr marL="188912" lvl="1" indent="0">
              <a:buNone/>
            </a:pPr>
            <a:r>
              <a:rPr lang="en-US" b="1" dirty="0"/>
              <a:t>Module Objective</a:t>
            </a:r>
            <a:r>
              <a:rPr lang="en-US" dirty="0"/>
              <a:t>: Configure command authorization using privilege levels and role-based CLI. </a:t>
            </a:r>
          </a:p>
          <a:p>
            <a:pPr marL="327818" lvl="2" indent="0">
              <a:buNone/>
            </a:pPr>
            <a:endParaRPr lang="en-US" sz="115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C07AB0-6822-FB4C-9445-25B1C20C9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194371"/>
              </p:ext>
            </p:extLst>
          </p:nvPr>
        </p:nvGraphicFramePr>
        <p:xfrm>
          <a:off x="484632" y="1949203"/>
          <a:ext cx="8275320" cy="155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3766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413766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134479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Topic Title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Topic Objective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r>
                        <a:rPr lang="en-US" b="1" dirty="0"/>
                        <a:t>Configure Privilege Levels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the correct commands to configure administrative privilege levels to control command availability.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33554">
                <a:tc>
                  <a:txBody>
                    <a:bodyPr/>
                    <a:lstStyle/>
                    <a:p>
                      <a:r>
                        <a:rPr lang="en-US" b="1" dirty="0"/>
                        <a:t>Configure Role-Based CLI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the correct commands to configure role-based CLI access to control command availability.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91747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340030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5.1 Configure Privilege Levels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noFill/>
          <a:ln/>
        </p:spPr>
        <p:txBody>
          <a:bodyPr wrap="square" rtlCol="0"/>
          <a:lstStyle/>
          <a:p>
            <a:r>
              <a:rPr lang="en-US" dirty="0"/>
              <a:t>Configure Privilege Levels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noFill/>
          <a:ln/>
        </p:spPr>
        <p:txBody>
          <a:bodyPr wrap="square" rtlCol="0"/>
          <a:lstStyle/>
          <a:p>
            <a:r>
              <a:rPr lang="en-US" dirty="0"/>
              <a:t>Limiting Command Availability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0ECF1-60DC-4E8E-951B-F160ABC7A7F2}"/>
              </a:ext>
            </a:extLst>
          </p:cNvPr>
          <p:cNvSpPr txBox="1"/>
          <p:nvPr/>
        </p:nvSpPr>
        <p:spPr>
          <a:xfrm>
            <a:off x="91439" y="786748"/>
            <a:ext cx="8961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Cisco IOS software can provide infrastructure access using privilege level or role-based CLI.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By default, the Cisco IOS software CLI has two levels of access to commands.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User EXEC mode (privilege level 1)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Privileged EXEC mode (privilege level 15).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are 16 privilege levels in total. 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assign commands to a custom privilege level,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privilege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mode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{level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level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| reset}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command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global configuration mode command.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249095"/>
              </p:ext>
            </p:extLst>
          </p:nvPr>
        </p:nvGraphicFramePr>
        <p:xfrm>
          <a:off x="182880" y="2540334"/>
          <a:ext cx="8961120" cy="2026920"/>
        </p:xfrm>
        <a:graphic>
          <a:graphicData uri="http://schemas.openxmlformats.org/drawingml/2006/table">
            <a:tbl>
              <a:tblPr/>
              <a:tblGrid>
                <a:gridCol w="219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i="1" dirty="0">
                          <a:solidFill>
                            <a:srgbClr val="58585B"/>
                          </a:solidFill>
                        </a:rPr>
                        <a:t>mode</a:t>
                      </a:r>
                      <a:endParaRPr lang="en-US" sz="1300" i="1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Specifies the configuration mode. Use the </a:t>
                      </a:r>
                      <a:r>
                        <a:rPr lang="en-US" sz="1300" b="1" dirty="0">
                          <a:solidFill>
                            <a:srgbClr val="58585B"/>
                          </a:solidFill>
                        </a:rPr>
                        <a:t>privilege ?</a:t>
                      </a:r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 command to see a complete list of router configuration modes available on your router.</a:t>
                      </a:r>
                      <a:endParaRPr lang="en-US" sz="13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58585B"/>
                          </a:solidFill>
                        </a:rPr>
                        <a:t>level</a:t>
                      </a:r>
                      <a:endParaRPr lang="en-US" sz="1300" b="1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(Optional) Enables setting a privilege level with a specified command.</a:t>
                      </a:r>
                      <a:endParaRPr lang="en-US" sz="13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i="1" dirty="0">
                          <a:solidFill>
                            <a:srgbClr val="58585B"/>
                          </a:solidFill>
                        </a:rPr>
                        <a:t>level</a:t>
                      </a:r>
                      <a:endParaRPr lang="en-US" sz="1300" i="1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(Optional) The privilege level that is associated with a command. You can specify up to 16 privilege levels, using numbers 0 to 15.</a:t>
                      </a:r>
                      <a:endParaRPr lang="en-US" sz="13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rgbClr val="58585B"/>
                          </a:solidFill>
                        </a:rPr>
                        <a:t>reset</a:t>
                      </a:r>
                      <a:endParaRPr lang="en-US" sz="1300" b="1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(Optional) Resets the privilege level of a command.</a:t>
                      </a:r>
                      <a:endParaRPr lang="en-US" sz="13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300" i="1" dirty="0">
                          <a:solidFill>
                            <a:srgbClr val="58585B"/>
                          </a:solidFill>
                        </a:rPr>
                        <a:t>command</a:t>
                      </a:r>
                      <a:endParaRPr lang="en-US" sz="1300" i="1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rgbClr val="58585B"/>
                          </a:solidFill>
                        </a:rPr>
                        <a:t>(Optional) Argument to use when you want to reset the privilege level.</a:t>
                      </a:r>
                      <a:endParaRPr lang="en-US" sz="1300" dirty="0"/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Privilege Levels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Configuring and Assigning Privilege Levels</a:t>
            </a:r>
          </a:p>
        </p:txBody>
      </p:sp>
      <p:sp>
        <p:nvSpPr>
          <p:cNvPr id="5" name="Object4"/>
          <p:cNvSpPr/>
          <p:nvPr/>
        </p:nvSpPr>
        <p:spPr>
          <a:xfrm>
            <a:off x="0" y="914400"/>
            <a:ext cx="4486275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configure a privilege level with specific commands,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privilege exec level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[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command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] global configuration command. </a:t>
            </a:r>
          </a:p>
          <a:p>
            <a:pPr>
              <a:lnSpc>
                <a:spcPts val="2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There are two methods for assigning passwords to the different privilege levels: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assign a privilege level to a specific user,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privilege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level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secret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global configuration mode command.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assign a privilege level to a specific EXEC mode,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enable secret level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level password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global configuration mode command.</a:t>
            </a:r>
          </a:p>
          <a:p>
            <a:pPr>
              <a:lnSpc>
                <a:spcPts val="2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endParaRPr lang="en-US" sz="1400" dirty="0"/>
          </a:p>
          <a:p>
            <a:pPr>
              <a:lnSpc>
                <a:spcPts val="2000"/>
              </a:lnSpc>
            </a:pPr>
            <a:endParaRPr lang="en-US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C41710-C829-4393-A8BF-5FF927573CB7}"/>
              </a:ext>
            </a:extLst>
          </p:cNvPr>
          <p:cNvSpPr/>
          <p:nvPr/>
        </p:nvSpPr>
        <p:spPr>
          <a:xfrm>
            <a:off x="4572000" y="1059084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privilege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{level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reset}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endParaRPr lang="en-CA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C0B0CC-8B9A-4C63-8ACD-B732C8219AE6}"/>
              </a:ext>
            </a:extLst>
          </p:cNvPr>
          <p:cNvSpPr/>
          <p:nvPr/>
        </p:nvSpPr>
        <p:spPr>
          <a:xfrm>
            <a:off x="4572000" y="2686494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CA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username </a:t>
            </a:r>
            <a:r>
              <a:rPr lang="en-CA" sz="14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 </a:t>
            </a:r>
            <a:r>
              <a:rPr lang="en-CA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privilege </a:t>
            </a:r>
            <a:r>
              <a:rPr lang="en-CA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</a:t>
            </a:r>
            <a:r>
              <a:rPr lang="en-CA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 </a:t>
            </a:r>
            <a:r>
              <a:rPr lang="en-CA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</a:t>
            </a:r>
            <a:endParaRPr lang="en-CA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915EB67-1BE5-45D0-A25D-09B3D6AEB5A9}"/>
              </a:ext>
            </a:extLst>
          </p:cNvPr>
          <p:cNvSpPr/>
          <p:nvPr/>
        </p:nvSpPr>
        <p:spPr>
          <a:xfrm>
            <a:off x="4571999" y="3657822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CA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level </a:t>
            </a:r>
            <a:r>
              <a:rPr lang="en-CA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level password </a:t>
            </a:r>
            <a:endParaRPr lang="en-CA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Privilege Levels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Limitations of Privilege Levels</a:t>
            </a:r>
          </a:p>
        </p:txBody>
      </p:sp>
      <p:sp>
        <p:nvSpPr>
          <p:cNvPr id="5" name="Object4"/>
          <p:cNvSpPr/>
          <p:nvPr/>
        </p:nvSpPr>
        <p:spPr>
          <a:xfrm>
            <a:off x="-1" y="740664"/>
            <a:ext cx="8988553" cy="3995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use of privilege levels has its limitations: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There is no access control to specific interfaces, ports, logical interfaces, and slots on a router.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Commands available at lower privilege levels are always executable at higher levels.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Commands specifically set at a higher privilege level are not available for lower privileged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Assigning a command with multiple keywords allows access to all commands that use those keywords. For example, allowing access 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show ip route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allows the user access to all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show ip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commands.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5.2 Configure Role-Based CLI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Role-Based CLI Access</a:t>
            </a:r>
          </a:p>
        </p:txBody>
      </p:sp>
      <p:sp>
        <p:nvSpPr>
          <p:cNvPr id="5" name="Object4"/>
          <p:cNvSpPr/>
          <p:nvPr/>
        </p:nvSpPr>
        <p:spPr>
          <a:xfrm>
            <a:off x="0" y="914400"/>
            <a:ext cx="8942832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Cisco IOS Release 12.3(11)T feature provides finer, more granular access by controlling which commands are available to specific roles. </a:t>
            </a:r>
          </a:p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Role-based CLI access enables the network administrator to create different views of router configurations for different users. </a:t>
            </a:r>
          </a:p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Role-based CLI access enables the network administrator to create different views of router configurations for different users. </a:t>
            </a:r>
          </a:p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view defines the CLI commands that each user can access. </a:t>
            </a:r>
          </a:p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addresses security, availability, and operational efficiency.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Role-Based Views</a:t>
            </a:r>
          </a:p>
        </p:txBody>
      </p:sp>
      <p:sp>
        <p:nvSpPr>
          <p:cNvPr id="5" name="Object4"/>
          <p:cNvSpPr/>
          <p:nvPr/>
        </p:nvSpPr>
        <p:spPr>
          <a:xfrm>
            <a:off x="100584" y="731520"/>
            <a:ext cx="9144000" cy="3767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Role-based CLI provides three types of views that dictate which commands are available: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Root View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-To configure any view for the system, the administrator must be in root 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CLI View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- A specific set of commands can be bundled into a CLI 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- A superview consists of one or more CLI views.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Superviews have several specific characteristics: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single CLI view can be shared within multiple superviews.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Commands cannot be configured for a superview. An administrator must add commands to the CLI view and add that CLI view to the superview.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Users who are logged into a superview can access all the commands that are configured for any of the CLI views that are part of the superview.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Each superview has a password that is used to switch between superviews or from a CLI view to a superview.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Deleting a superview does not delete the associated CLI views. The CLI views remain available to be assigned to another superview.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D4949-38B9-41B1-B021-2CB0BDD3A69F}"/>
              </a:ext>
            </a:extLst>
          </p:cNvPr>
          <p:cNvSpPr txBox="1"/>
          <p:nvPr/>
        </p:nvSpPr>
        <p:spPr>
          <a:xfrm>
            <a:off x="-14287" y="932140"/>
            <a:ext cx="6540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 five steps to create and manage a specific view.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C5D70-D0C8-4653-AD0E-39FE4499CF84}"/>
              </a:ext>
            </a:extLst>
          </p:cNvPr>
          <p:cNvSpPr txBox="1"/>
          <p:nvPr/>
        </p:nvSpPr>
        <p:spPr>
          <a:xfrm>
            <a:off x="-14287" y="1585912"/>
            <a:ext cx="45053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Step 1.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Enable AAA with the 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aaa new-model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global configuration mode command. Exit and enter the root view with the </a:t>
            </a:r>
            <a:r>
              <a:rPr lang="en-US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enable view</a:t>
            </a:r>
            <a:r>
              <a:rPr lang="en-US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command.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2.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Create a view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parser view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view-name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global configuration mode command. This enables the view configuration mode.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3FB924-DA31-4990-8457-24B20D742A2D}"/>
              </a:ext>
            </a:extLst>
          </p:cNvPr>
          <p:cNvSpPr/>
          <p:nvPr/>
        </p:nvSpPr>
        <p:spPr>
          <a:xfrm>
            <a:off x="4464235" y="2043524"/>
            <a:ext cx="4413809" cy="67741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aaa new-model</a:t>
            </a:r>
          </a:p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 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view-name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]]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06A2DD-4B0D-46B3-97F3-3B23800663C4}"/>
              </a:ext>
            </a:extLst>
          </p:cNvPr>
          <p:cNvSpPr/>
          <p:nvPr/>
        </p:nvSpPr>
        <p:spPr>
          <a:xfrm>
            <a:off x="4464234" y="3099976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parser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view-name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Views (Cont.)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C5D70-D0C8-4653-AD0E-39FE4499CF84}"/>
              </a:ext>
            </a:extLst>
          </p:cNvPr>
          <p:cNvSpPr txBox="1"/>
          <p:nvPr/>
        </p:nvSpPr>
        <p:spPr>
          <a:xfrm>
            <a:off x="0" y="960120"/>
            <a:ext cx="45053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3.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Assign a secret password to the view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view configuration mode command.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4.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Assign commands to the selected view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commands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parser-mode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 in view configuration mode.</a:t>
            </a:r>
            <a:endParaRPr lang="en-US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D45A7-9DE5-44A3-B128-3918448B3AF3}"/>
              </a:ext>
            </a:extLst>
          </p:cNvPr>
          <p:cNvSpPr txBox="1"/>
          <p:nvPr/>
        </p:nvSpPr>
        <p:spPr>
          <a:xfrm>
            <a:off x="0" y="3632592"/>
            <a:ext cx="4613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5.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Exit view configuration mode by typing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86C741-1A81-4F2F-A23C-180473F308A9}"/>
              </a:ext>
            </a:extLst>
          </p:cNvPr>
          <p:cNvSpPr/>
          <p:nvPr/>
        </p:nvSpPr>
        <p:spPr>
          <a:xfrm>
            <a:off x="4613148" y="1083987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Router(config-view)#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3B23A7-A6A3-4AD3-81F9-AEB0BF7DD037}"/>
              </a:ext>
            </a:extLst>
          </p:cNvPr>
          <p:cNvSpPr/>
          <p:nvPr/>
        </p:nvSpPr>
        <p:spPr>
          <a:xfrm>
            <a:off x="4613148" y="2382743"/>
            <a:ext cx="4372661" cy="107612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Router(config-view)#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commands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parser-mode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{include | include-exclusive | exclude} [all] [interface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interface-name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468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70408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Views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A3EA2-8B38-4B16-8B93-286F1A35C3C9}"/>
              </a:ext>
            </a:extLst>
          </p:cNvPr>
          <p:cNvSpPr txBox="1"/>
          <p:nvPr/>
        </p:nvSpPr>
        <p:spPr>
          <a:xfrm>
            <a:off x="0" y="690360"/>
            <a:ext cx="747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Below is a list of commands and the description.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35531"/>
              </p:ext>
            </p:extLst>
          </p:nvPr>
        </p:nvGraphicFramePr>
        <p:xfrm>
          <a:off x="91440" y="1074039"/>
          <a:ext cx="8961120" cy="3459480"/>
        </p:xfrm>
        <a:graphic>
          <a:graphicData uri="http://schemas.openxmlformats.org/drawingml/2006/table">
            <a:tbl>
              <a:tblPr/>
              <a:tblGrid>
                <a:gridCol w="1573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Commands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C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4C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commands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commands or interfaces to a view.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parser-mode</a:t>
                      </a:r>
                      <a:endParaRPr lang="en-US" sz="14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mode in which the specified command exists; for example, EXEC mode.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include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a command or an interface to the view and allows the same command or interface to be added to other views.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include-exclusive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Adds a command or an interface to the view and excludes the same command or interface from being added to all other views.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exclude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Excludes a command or an interface from the view.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  <a:endParaRPr lang="en-US" sz="14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"wildcard" that allows every command in a specified configuration mode that begins with the same keyword or every subinterface for a specified interface to be part of the view.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 </a:t>
                      </a:r>
                      <a:r>
                        <a:rPr lang="en-US" sz="1400" i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interface-name</a:t>
                      </a:r>
                      <a:endParaRPr lang="en-US" sz="14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Interface that is added to the view.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400" i="1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</a:t>
                      </a:r>
                      <a:endParaRPr lang="en-US" sz="1400" i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58585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that is added to the view.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8100" marR="38100" marT="38100" marB="3810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80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704088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Lab – Configure Administrative Roles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A3EA2-8B38-4B16-8B93-286F1A35C3C9}"/>
              </a:ext>
            </a:extLst>
          </p:cNvPr>
          <p:cNvSpPr txBox="1"/>
          <p:nvPr/>
        </p:nvSpPr>
        <p:spPr>
          <a:xfrm>
            <a:off x="0" y="690360"/>
            <a:ext cx="7470648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indent="0" defTabSz="684213" fontAlgn="base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Wingdings" panose="05000000000000000000" pitchFamily="2" charset="2"/>
              <a:buNone/>
              <a:defRPr lang="en-US" sz="1600">
                <a:solidFill>
                  <a:srgbClr val="000000"/>
                </a:solidFill>
                <a:ea typeface="ＭＳ Ｐゴシック" charset="0"/>
                <a:cs typeface="CiscoSans"/>
              </a:defRPr>
            </a:lvl1pPr>
            <a:lvl2pPr marL="358775" indent="-215900" defTabSz="684213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Arial" charset="0"/>
              <a:buChar char="•"/>
              <a:defRPr lang="en-US" sz="1400">
                <a:solidFill>
                  <a:srgbClr val="000000"/>
                </a:solidFill>
                <a:ea typeface="ＭＳ Ｐゴシック" charset="0"/>
                <a:cs typeface="CiscoSans"/>
              </a:defRPr>
            </a:lvl2pPr>
            <a:lvl3pPr marL="431800" indent="-169863" defTabSz="684213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200">
                <a:solidFill>
                  <a:srgbClr val="000000"/>
                </a:solidFill>
                <a:ea typeface="ＭＳ Ｐゴシック" charset="0"/>
                <a:cs typeface="CiscoSans"/>
              </a:defRPr>
            </a:lvl3pPr>
            <a:lvl4pPr marL="503238" indent="-169863" defTabSz="684213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charset="0"/>
              <a:buChar char="•"/>
              <a:defRPr lang="en-US" sz="1100">
                <a:solidFill>
                  <a:srgbClr val="000000"/>
                </a:solidFill>
                <a:ea typeface="ＭＳ Ｐゴシック" charset="0"/>
                <a:cs typeface="CiscoSans"/>
              </a:defRPr>
            </a:lvl4pPr>
            <a:lvl5pPr marL="574675" indent="-169863" defTabSz="684213" fontAlgn="base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dirty="0">
                <a:ea typeface="ＭＳ Ｐゴシック" charset="0"/>
                <a:cs typeface="CiscoSans"/>
              </a:defRPr>
            </a:lvl5pPr>
            <a:lvl6pPr marL="863856" indent="-171445" defTabSz="685777">
              <a:spcBef>
                <a:spcPts val="600"/>
              </a:spcBef>
              <a:buFont typeface="Arial" pitchFamily="34" charset="0"/>
              <a:buChar char="•"/>
              <a:defRPr sz="900" baseline="0"/>
            </a:lvl6pPr>
            <a:lvl7pPr marL="935844" indent="-171422" defTabSz="685777">
              <a:spcBef>
                <a:spcPts val="600"/>
              </a:spcBef>
              <a:buFont typeface="Arial" pitchFamily="34" charset="0"/>
              <a:buChar char="•"/>
              <a:defRPr sz="800" baseline="0"/>
            </a:lvl7pPr>
            <a:lvl8pPr marL="2400220" indent="0" defTabSz="685777">
              <a:spcBef>
                <a:spcPct val="20000"/>
              </a:spcBef>
              <a:buFont typeface="Arial" pitchFamily="34" charset="0"/>
              <a:buNone/>
              <a:defRPr sz="1500"/>
            </a:lvl8pPr>
            <a:lvl9pPr marL="2914553" indent="-171445" defTabSz="685777">
              <a:spcBef>
                <a:spcPct val="20000"/>
              </a:spcBef>
              <a:buFont typeface="Arial" pitchFamily="34" charset="0"/>
              <a:buChar char="•"/>
              <a:defRPr sz="1500"/>
            </a:lvl9pPr>
          </a:lstStyle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 this lab, you will complete the following objectives:</a:t>
            </a: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Part 1: Configure basic device settings.</a:t>
            </a:r>
          </a:p>
          <a:p>
            <a:pPr lvl="1"/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Part 2: Configure administrative roles.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111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 Superviews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AE0B45-2C5B-4C66-9A1B-DB6136304FAD}"/>
              </a:ext>
            </a:extLst>
          </p:cNvPr>
          <p:cNvSpPr txBox="1"/>
          <p:nvPr/>
        </p:nvSpPr>
        <p:spPr>
          <a:xfrm>
            <a:off x="0" y="988827"/>
            <a:ext cx="88263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steps to configure a superview are essentially the same as configuring a CLI view, except that the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view-name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command is used to assign commands to the superview. </a:t>
            </a:r>
          </a:p>
        </p:txBody>
      </p:sp>
      <p:sp>
        <p:nvSpPr>
          <p:cNvPr id="5" name="Object4"/>
          <p:cNvSpPr/>
          <p:nvPr/>
        </p:nvSpPr>
        <p:spPr>
          <a:xfrm>
            <a:off x="0" y="1766887"/>
            <a:ext cx="4649002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Step 1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Create a view using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parser view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view-name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superview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command and enter superview configuration mode.</a:t>
            </a:r>
          </a:p>
          <a:p>
            <a:pPr>
              <a:lnSpc>
                <a:spcPts val="2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Step 2.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Assign a secret password to the view using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secret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command. This sets a password to protect access to the superview.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6EC8FD-5129-433C-9E1C-887C273C2EC1}"/>
              </a:ext>
            </a:extLst>
          </p:cNvPr>
          <p:cNvSpPr/>
          <p:nvPr/>
        </p:nvSpPr>
        <p:spPr>
          <a:xfrm>
            <a:off x="4649002" y="3184436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Router(config-view)#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secret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9EAC77-DB93-4F95-86CD-29F75CBB00AC}"/>
              </a:ext>
            </a:extLst>
          </p:cNvPr>
          <p:cNvSpPr/>
          <p:nvPr/>
        </p:nvSpPr>
        <p:spPr>
          <a:xfrm>
            <a:off x="4649002" y="2036029"/>
            <a:ext cx="4413809" cy="67082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parser view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view-name </a:t>
            </a:r>
            <a:r>
              <a:rPr lang="en-US" sz="14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superview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 Superviews (Cont.)</a:t>
            </a:r>
          </a:p>
        </p:txBody>
      </p:sp>
      <p:sp>
        <p:nvSpPr>
          <p:cNvPr id="5" name="Object4"/>
          <p:cNvSpPr/>
          <p:nvPr/>
        </p:nvSpPr>
        <p:spPr>
          <a:xfrm>
            <a:off x="0" y="914400"/>
            <a:ext cx="4123944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3.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Assign an existing view using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view-name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 in view configuration mode. This adds a CLI view to superview.</a:t>
            </a:r>
          </a:p>
          <a:p>
            <a:pPr>
              <a:lnSpc>
                <a:spcPts val="2000"/>
              </a:lnSpc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Step 4.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Exit superview configuration mode by typing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command.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76828B-AF1D-4DCC-BBEB-051077338FFB}"/>
              </a:ext>
            </a:extLst>
          </p:cNvPr>
          <p:cNvSpPr/>
          <p:nvPr/>
        </p:nvSpPr>
        <p:spPr>
          <a:xfrm>
            <a:off x="4360582" y="1365161"/>
            <a:ext cx="4413809" cy="50400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Router(config-view)# </a:t>
            </a:r>
            <a:r>
              <a:rPr lang="en-US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</a:t>
            </a:r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view-name</a:t>
            </a:r>
            <a:endParaRPr lang="en-CA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0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Verify Role-Based CLI Views</a:t>
            </a:r>
          </a:p>
        </p:txBody>
      </p:sp>
      <p:sp>
        <p:nvSpPr>
          <p:cNvPr id="5" name="Object4"/>
          <p:cNvSpPr/>
          <p:nvPr/>
        </p:nvSpPr>
        <p:spPr>
          <a:xfrm>
            <a:off x="66294" y="774114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To verify a view,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enable view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view-name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command. Enter the name of the view to verify and provide the password to log into the view. Use the question mark (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) command to verify that the commands available in the view are correct. The example enables the USER superview and lists the commands available in the view.</a:t>
            </a:r>
          </a:p>
          <a:p>
            <a:pPr>
              <a:lnSpc>
                <a:spcPts val="2000"/>
              </a:lnSpc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91EFC-E02A-42FB-BEEB-22784A8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65142"/>
            <a:ext cx="6531589" cy="2824331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Verify Role-Based CLI Views (Cont.)</a:t>
            </a:r>
          </a:p>
        </p:txBody>
      </p:sp>
      <p:sp>
        <p:nvSpPr>
          <p:cNvPr id="5" name="Object4"/>
          <p:cNvSpPr/>
          <p:nvPr/>
        </p:nvSpPr>
        <p:spPr>
          <a:xfrm>
            <a:off x="66294" y="774114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example below enables the SUPPORT superview and lists the commands available in the view.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6A680-9E9C-45D5-A718-8CA79FB94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7" y="1349300"/>
            <a:ext cx="8803386" cy="3049449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087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Configure Role-Based CLI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Verify Role-Based CLI Views (Cont.)</a:t>
            </a:r>
          </a:p>
        </p:txBody>
      </p:sp>
      <p:sp>
        <p:nvSpPr>
          <p:cNvPr id="5" name="Object4"/>
          <p:cNvSpPr/>
          <p:nvPr/>
        </p:nvSpPr>
        <p:spPr>
          <a:xfrm>
            <a:off x="66294" y="774114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This example enables the JR-ADMIN view and lists the commands available in the view</a:t>
            </a:r>
            <a:r>
              <a:rPr lang="en-US" sz="1600" dirty="0"/>
              <a:t>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A53BF6-05B3-477A-AEDD-EBA6947728DA}"/>
              </a:ext>
            </a:extLst>
          </p:cNvPr>
          <p:cNvSpPr txBox="1"/>
          <p:nvPr/>
        </p:nvSpPr>
        <p:spPr>
          <a:xfrm>
            <a:off x="219456" y="3982819"/>
            <a:ext cx="880795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By not specifying a view for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enable view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command, you can log in as root. From the root view, use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show parser view all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command to see a summary of all views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5EFA6-A8D0-4C81-9FE9-D950CFEE0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66" y="1124594"/>
            <a:ext cx="7797546" cy="2894312"/>
          </a:xfrm>
          <a:prstGeom prst="rect">
            <a:avLst/>
          </a:prstGeom>
        </p:spPr>
      </p:pic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616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0" hasCustomPrompt="1"/>
          </p:nvPr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5.3 Assign Administrative Roles Summary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27</a:t>
            </a:fld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Assign Administrative Roles Summary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What Did I Learn in this Module?</a:t>
            </a:r>
          </a:p>
        </p:txBody>
      </p:sp>
      <p:sp>
        <p:nvSpPr>
          <p:cNvPr id="6" name="Object4">
            <a:extLst>
              <a:ext uri="{FF2B5EF4-FFF2-40B4-BE49-F238E27FC236}">
                <a16:creationId xmlns:a16="http://schemas.microsoft.com/office/drawing/2014/main" id="{2ED7E7EA-961A-4327-8B52-83C007AD3746}"/>
              </a:ext>
            </a:extLst>
          </p:cNvPr>
          <p:cNvSpPr/>
          <p:nvPr/>
        </p:nvSpPr>
        <p:spPr>
          <a:xfrm>
            <a:off x="300250" y="731519"/>
            <a:ext cx="8229600" cy="3621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IOS software supports two infrastructure access methods: privilege level and role-based CLI.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By default, there is User EXEC mode (privilege level 1) and Privileged EXEC mode (level 15).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The higher the privilege level, the more router access a user has.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 assign a command to a privilege level, use the </a:t>
            </a:r>
            <a:r>
              <a:rPr lang="en-CA" b="1" dirty="0"/>
              <a:t>privilege exec level </a:t>
            </a:r>
            <a:r>
              <a:rPr lang="en-CA" i="1" dirty="0"/>
              <a:t>level </a:t>
            </a:r>
            <a:r>
              <a:rPr lang="en-CA" dirty="0"/>
              <a:t>[</a:t>
            </a:r>
            <a:r>
              <a:rPr lang="en-CA" i="1" dirty="0"/>
              <a:t>command</a:t>
            </a:r>
            <a:r>
              <a:rPr lang="en-CA" dirty="0"/>
              <a:t>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 the </a:t>
            </a:r>
            <a:r>
              <a:rPr lang="en-CA" b="1" dirty="0"/>
              <a:t>username </a:t>
            </a:r>
            <a:r>
              <a:rPr lang="en-CA" dirty="0"/>
              <a:t>command to assign a privilege level to a specific user or use the </a:t>
            </a:r>
            <a:r>
              <a:rPr lang="en-CA" b="1" dirty="0"/>
              <a:t>enable secret </a:t>
            </a:r>
            <a:r>
              <a:rPr lang="en-CA" dirty="0"/>
              <a:t>command to assign a privilege level to a specific EXEC mode password.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Privilege levels has limitations therefore use the Cisco role-based CLI access feature. 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Assign Administrative Roles Summary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What Did I Learn in this Module?</a:t>
            </a:r>
          </a:p>
        </p:txBody>
      </p:sp>
      <p:sp>
        <p:nvSpPr>
          <p:cNvPr id="6" name="Object4">
            <a:extLst>
              <a:ext uri="{FF2B5EF4-FFF2-40B4-BE49-F238E27FC236}">
                <a16:creationId xmlns:a16="http://schemas.microsoft.com/office/drawing/2014/main" id="{2ED7E7EA-961A-4327-8B52-83C007AD3746}"/>
              </a:ext>
            </a:extLst>
          </p:cNvPr>
          <p:cNvSpPr/>
          <p:nvPr/>
        </p:nvSpPr>
        <p:spPr>
          <a:xfrm>
            <a:off x="300250" y="731519"/>
            <a:ext cx="8229600" cy="36214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Role-based CLI creates different views of router configurations for different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Role-based Root view has level 15 privileges but can configure or modify views.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Views can contain the same commands and there is no command hierarchy.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 create a view, AAA must be enabled using the </a:t>
            </a:r>
            <a:r>
              <a:rPr lang="en-CA" b="1" dirty="0"/>
              <a:t>aaa new-model </a:t>
            </a:r>
            <a:r>
              <a:rPr lang="en-CA" dirty="0"/>
              <a:t>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To enter root view, use the </a:t>
            </a:r>
            <a:r>
              <a:rPr lang="en-CA" b="1" dirty="0"/>
              <a:t>enable view root </a:t>
            </a:r>
            <a:r>
              <a:rPr lang="en-CA" dirty="0"/>
              <a:t>command and the </a:t>
            </a:r>
            <a:r>
              <a:rPr lang="en-CA" b="1" dirty="0"/>
              <a:t>enable secret </a:t>
            </a:r>
            <a:r>
              <a:rPr lang="en-CA" dirty="0"/>
              <a:t>password.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Create a view using the </a:t>
            </a:r>
            <a:r>
              <a:rPr lang="en-CA" b="1" dirty="0"/>
              <a:t>parser view </a:t>
            </a:r>
            <a:r>
              <a:rPr lang="en-CA" i="1" dirty="0"/>
              <a:t>view-name </a:t>
            </a:r>
            <a:r>
              <a:rPr lang="en-CA" dirty="0"/>
              <a:t>global config mode command.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Assign the view a password using the </a:t>
            </a:r>
            <a:r>
              <a:rPr lang="en-CA" b="1" dirty="0"/>
              <a:t>secret </a:t>
            </a:r>
            <a:r>
              <a:rPr lang="en-CA" i="1" dirty="0"/>
              <a:t>password </a:t>
            </a:r>
            <a:r>
              <a:rPr lang="en-CA" dirty="0"/>
              <a:t>command.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Assign commands to the view using the </a:t>
            </a:r>
            <a:r>
              <a:rPr lang="en-CA" b="1" dirty="0"/>
              <a:t>commands </a:t>
            </a:r>
            <a:r>
              <a:rPr lang="en-CA" i="1" dirty="0"/>
              <a:t>parser-mode </a:t>
            </a:r>
            <a:r>
              <a:rPr lang="en-CA" dirty="0"/>
              <a:t>command.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 superview allows a network administrator to combine multiple views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Add views to a superview using the </a:t>
            </a:r>
            <a:r>
              <a:rPr lang="en-CA" b="1" dirty="0"/>
              <a:t>view </a:t>
            </a:r>
            <a:r>
              <a:rPr lang="en-CA" i="1" dirty="0"/>
              <a:t>view-name </a:t>
            </a:r>
            <a:r>
              <a:rPr lang="en-CA" dirty="0"/>
              <a:t>command.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165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1"/>
          <p:cNvSpPr>
            <a:spLocks noGrp="1"/>
          </p:cNvSpPr>
          <p:nvPr>
            <p:ph type="body" idx="101" hasCustomPrompt="1"/>
          </p:nvPr>
        </p:nvSpPr>
        <p:spPr>
          <a:xfrm>
            <a:off x="0" y="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Assign Administrative Roles Summary</a:t>
            </a:r>
          </a:p>
        </p:txBody>
      </p:sp>
      <p:sp>
        <p:nvSpPr>
          <p:cNvPr id="3" name="Object2"/>
          <p:cNvSpPr>
            <a:spLocks noGrp="1"/>
          </p:cNvSpPr>
          <p:nvPr>
            <p:ph type="body" idx="100" hasCustomPrompt="1"/>
          </p:nvPr>
        </p:nvSpPr>
        <p:spPr>
          <a:xfrm>
            <a:off x="0" y="27432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dirty="0"/>
              <a:t>New Terms and Commands</a:t>
            </a:r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4294967295"/>
          </p:nvPr>
        </p:nvSpPr>
        <p:spPr>
          <a:xfrm>
            <a:off x="8686800" y="462915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00">
                <a:solidFill>
                  <a:srgbClr val="D9D9D9"/>
                </a:solidFill>
              </a:defRPr>
            </a:lvl1pPr>
          </a:lstStyle>
          <a:p>
            <a:fld id="{F7021451-1387-4CA6-816F-3879F97B5CBC}" type="slidenum">
              <a:rPr lang="en-US"/>
              <a:t>30</a:t>
            </a:fld>
            <a:endParaRPr lang="en-US" dirty="0"/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70A58F5-AF4A-43AE-B8CE-99DD4B892E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789916"/>
              </p:ext>
            </p:extLst>
          </p:nvPr>
        </p:nvGraphicFramePr>
        <p:xfrm>
          <a:off x="144463" y="805455"/>
          <a:ext cx="2959464" cy="3718778"/>
        </p:xfrm>
        <a:graphic>
          <a:graphicData uri="http://schemas.openxmlformats.org/drawingml/2006/table">
            <a:tbl>
              <a:tblPr firstRow="1" bandRow="1"/>
              <a:tblGrid>
                <a:gridCol w="2959464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187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EXEC mode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Privileged EXEC mode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Privilege levels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Role-Based CLI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Views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Superviews</a:t>
                      </a:r>
                    </a:p>
                    <a:p>
                      <a:endParaRPr lang="en-US" sz="140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rgbClr val="585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85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85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858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56931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2860</Words>
  <Application>Microsoft Office PowerPoint</Application>
  <PresentationFormat>On-screen Show (16:9)</PresentationFormat>
  <Paragraphs>377</Paragraphs>
  <Slides>31</Slides>
  <Notes>29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Arial</vt:lpstr>
      <vt:lpstr>Calibri</vt:lpstr>
      <vt:lpstr>CiscoSans ExtraLight</vt:lpstr>
      <vt:lpstr>Courier New</vt:lpstr>
      <vt:lpstr>Wingdings</vt:lpstr>
      <vt:lpstr>Office Theme</vt:lpstr>
      <vt:lpstr>Default Theme</vt:lpstr>
      <vt:lpstr>PowerPoint Presentation</vt:lpstr>
      <vt:lpstr>Instructor Materials – Module 5 Planning Guide</vt:lpstr>
      <vt:lpstr>What to Expect in this Module</vt:lpstr>
      <vt:lpstr>What to Expect in this Module (Cont.)</vt:lpstr>
      <vt:lpstr>Check Your Understanding</vt:lpstr>
      <vt:lpstr>Module 2: Activities</vt:lpstr>
      <vt:lpstr>Module 5: Best Practices</vt:lpstr>
      <vt:lpstr>Module 5: Best Practices (Cont.)</vt:lpstr>
      <vt:lpstr>PowerPoint Presentation</vt:lpstr>
      <vt:lpstr>Module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Sue</cp:lastModifiedBy>
  <cp:revision>40</cp:revision>
  <dcterms:created xsi:type="dcterms:W3CDTF">2020-12-08T18:27:11Z</dcterms:created>
  <dcterms:modified xsi:type="dcterms:W3CDTF">2021-02-23T13:27:26Z</dcterms:modified>
</cp:coreProperties>
</file>