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tags/tag6.xml" ContentType="application/vnd.openxmlformats-officedocument.presentationml.tags+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1" r:id="rId3"/>
  </p:sldMasterIdLst>
  <p:notesMasterIdLst>
    <p:notesMasterId r:id="rId82"/>
  </p:notesMasterIdLst>
  <p:sldIdLst>
    <p:sldId id="318" r:id="rId4"/>
    <p:sldId id="319" r:id="rId5"/>
    <p:sldId id="1070" r:id="rId6"/>
    <p:sldId id="1071" r:id="rId7"/>
    <p:sldId id="1072" r:id="rId8"/>
    <p:sldId id="1099" r:id="rId9"/>
    <p:sldId id="1100" r:id="rId10"/>
    <p:sldId id="1074" r:id="rId11"/>
    <p:sldId id="1091" r:id="rId12"/>
    <p:sldId id="1092" r:id="rId13"/>
    <p:sldId id="1093" r:id="rId14"/>
    <p:sldId id="262" r:id="rId15"/>
    <p:sldId id="925" r:id="rId16"/>
    <p:sldId id="263" r:id="rId17"/>
    <p:sldId id="264" r:id="rId18"/>
    <p:sldId id="265" r:id="rId19"/>
    <p:sldId id="266" r:id="rId20"/>
    <p:sldId id="267" r:id="rId21"/>
    <p:sldId id="268" r:id="rId22"/>
    <p:sldId id="269" r:id="rId23"/>
    <p:sldId id="270" r:id="rId24"/>
    <p:sldId id="271" r:id="rId25"/>
    <p:sldId id="272" r:id="rId26"/>
    <p:sldId id="273" r:id="rId27"/>
    <p:sldId id="275" r:id="rId28"/>
    <p:sldId id="276" r:id="rId29"/>
    <p:sldId id="277" r:id="rId30"/>
    <p:sldId id="1081" r:id="rId31"/>
    <p:sldId id="278" r:id="rId32"/>
    <p:sldId id="279" r:id="rId33"/>
    <p:sldId id="1083" r:id="rId34"/>
    <p:sldId id="1082" r:id="rId35"/>
    <p:sldId id="280" r:id="rId36"/>
    <p:sldId id="1084" r:id="rId37"/>
    <p:sldId id="281" r:id="rId38"/>
    <p:sldId id="282" r:id="rId39"/>
    <p:sldId id="1094" r:id="rId40"/>
    <p:sldId id="283" r:id="rId41"/>
    <p:sldId id="284" r:id="rId42"/>
    <p:sldId id="1085" r:id="rId43"/>
    <p:sldId id="285" r:id="rId44"/>
    <p:sldId id="286" r:id="rId45"/>
    <p:sldId id="287" r:id="rId46"/>
    <p:sldId id="288" r:id="rId47"/>
    <p:sldId id="290" r:id="rId48"/>
    <p:sldId id="291" r:id="rId49"/>
    <p:sldId id="292" r:id="rId50"/>
    <p:sldId id="1086" r:id="rId51"/>
    <p:sldId id="1087" r:id="rId52"/>
    <p:sldId id="1095" r:id="rId53"/>
    <p:sldId id="293" r:id="rId54"/>
    <p:sldId id="1088" r:id="rId55"/>
    <p:sldId id="294" r:id="rId56"/>
    <p:sldId id="295" r:id="rId57"/>
    <p:sldId id="296" r:id="rId58"/>
    <p:sldId id="297" r:id="rId59"/>
    <p:sldId id="302" r:id="rId60"/>
    <p:sldId id="303" r:id="rId61"/>
    <p:sldId id="304" r:id="rId62"/>
    <p:sldId id="305" r:id="rId63"/>
    <p:sldId id="306" r:id="rId64"/>
    <p:sldId id="307" r:id="rId65"/>
    <p:sldId id="1096" r:id="rId66"/>
    <p:sldId id="308" r:id="rId67"/>
    <p:sldId id="309" r:id="rId68"/>
    <p:sldId id="310" r:id="rId69"/>
    <p:sldId id="311" r:id="rId70"/>
    <p:sldId id="312" r:id="rId71"/>
    <p:sldId id="1089" r:id="rId72"/>
    <p:sldId id="1090" r:id="rId73"/>
    <p:sldId id="313" r:id="rId74"/>
    <p:sldId id="314" r:id="rId75"/>
    <p:sldId id="315" r:id="rId76"/>
    <p:sldId id="316" r:id="rId77"/>
    <p:sldId id="1097" r:id="rId78"/>
    <p:sldId id="1098" r:id="rId79"/>
    <p:sldId id="1078" r:id="rId80"/>
    <p:sldId id="1079" r:id="rId8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D0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72" autoAdjust="0"/>
    <p:restoredTop sz="87381" autoAdjust="0"/>
  </p:normalViewPr>
  <p:slideViewPr>
    <p:cSldViewPr snapToGrid="0" snapToObjects="1">
      <p:cViewPr varScale="1">
        <p:scale>
          <a:sx n="92" d="100"/>
          <a:sy n="92" d="100"/>
        </p:scale>
        <p:origin x="8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61" Type="http://schemas.openxmlformats.org/officeDocument/2006/relationships/slide" Target="slides/slide58.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7820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3: Mitigating Threats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6</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948369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522083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2181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7309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3980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8: Access Control Lists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13</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8.1.1: What is an ACL?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8.1.2: Packet Filtering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8.1.3: Numbered and Named ACLs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8.1.4: ACL Operation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8.1: Introduction to Access Control Lists
8.1.5: Packet Tracer - ACL Demonstration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8.2: Wildcard Masking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8.2: Wildcard Masking
8.2.1: Wildcard Mask Overview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8.2: Wildcard Masking
8.2.2: Wildcard Mask Types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8.2: Wildcard Masking
8.2.3: Wildcard Mask Calculation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8.2: Wildcard Masking
8.2.4: Wildcard Mask Keywords</a:t>
            </a:r>
          </a:p>
          <a:p>
            <a:r>
              <a:rPr lang="en-US" dirty="0"/>
              <a:t>8.2.5: Check Your Understanding – Wildcard Masks in ACLs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8.3.1: Create an ACL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8.3.2: Numbered Standard IPv4 ACL Syntax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8.3.2: Numbered Standard IPv4 ACL Syntax (Cont.)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24085715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8.3.3: Named Standard IPv4 ACL Syntax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8.3.4: Numbered Extended IPv4 ACL Syntax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8.3.4: Numbered Extended IPv4 ACL Syntax (Cont.)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979615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8.3.4: Numbered Extended IPv4 ACL Syntax (Cont.)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5004027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8.3.5: Protocols and Port Numbers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8.3.5: Protocols and Port Numbers (Cont.)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4104752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8.3.6: Protocols and Port Numbers Configuration Examples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8.3.7: TCP Established Extended ACL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8.3.7: TCP Established Extended ACL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39666487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8.3.8: Named Extended IPv4 ACL Syntax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8.3.9: Named Extended IPv4 ACL Example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8.3: Configure ACLs
8.3.9: Named Extended IPv4 ACL Example (Cont.)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37482948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8.4: Modify ACLs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8.4: Modify ACLs
8.4.1: Two Methods to Modify an ACL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8.4: Modify ACLs
8.4.2: Text Editor Method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8.4: Modify ACLs
8.4.3: Sequence Number Method</a:t>
            </a:r>
          </a:p>
          <a:p>
            <a:r>
              <a:rPr lang="en-US" dirty="0"/>
              <a:t>8.4.4: Syntax Checker - Modify IPv4 ACLs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8.5.1: ACL Configuration Guidelines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8.5.2: Apply an ACL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8.5.2: Apply an ACL (Cont.)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15972884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8.5.2: Apply an ACL (Cont.)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dirty="0"/>
          </a:p>
        </p:txBody>
      </p:sp>
    </p:spTree>
    <p:extLst>
      <p:ext uri="{BB962C8B-B14F-4D97-AF65-F5344CB8AC3E}">
        <p14:creationId xmlns:p14="http://schemas.microsoft.com/office/powerpoint/2010/main" val="22745165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8.5.2: Apply an ACL (Cont.)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dirty="0"/>
          </a:p>
        </p:txBody>
      </p:sp>
    </p:spTree>
    <p:extLst>
      <p:ext uri="{BB962C8B-B14F-4D97-AF65-F5344CB8AC3E}">
        <p14:creationId xmlns:p14="http://schemas.microsoft.com/office/powerpoint/2010/main" val="40037213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8.5.3: Where to Place ACLs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8.5.3: Where to Place ACLs (Cont.)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dirty="0"/>
          </a:p>
        </p:txBody>
      </p:sp>
    </p:spTree>
    <p:extLst>
      <p:ext uri="{BB962C8B-B14F-4D97-AF65-F5344CB8AC3E}">
        <p14:creationId xmlns:p14="http://schemas.microsoft.com/office/powerpoint/2010/main" val="2074389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8.5.4: Standard ACL Placement Example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8.5.5: Packet Tracer - Configure Named Standard IPv4 ACLs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8.5.6: Packet Tracer - Configure Numbered Standard IPv4 ACLs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8.5.7: Extended ACL Placement Example</a:t>
            </a:r>
          </a:p>
          <a:p>
            <a:r>
              <a:rPr lang="en-US" dirty="0"/>
              <a:t>8.5.8: Check Your Understanding - Guidelines for ACL Placement</a:t>
            </a:r>
          </a:p>
          <a:p>
            <a:r>
              <a:rPr lang="en-US" dirty="0"/>
              <a:t>8.5.9: Check Your Understanding- Configuring Standard ACLs</a:t>
            </a:r>
          </a:p>
          <a:p>
            <a:r>
              <a:rPr lang="en-US" dirty="0"/>
              <a:t>8.5.10: Check Your Understanding- Creating an Extended ACL Statement</a:t>
            </a:r>
          </a:p>
          <a:p>
            <a:r>
              <a:rPr lang="en-US" dirty="0"/>
              <a:t>8.5.11: Check Your Understanding- Evaluating Extended ACLs</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8.5.12: Packet Tracer- Configuring Extended ACLs Scenario 1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8.5: Implement ACLs
8.5.13: Packet Tracer - Configuring Extended ACLs Scenario 2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 Access Control Lists
8.6: Mitigate Attacks with ACLs
8.6.1: Mitigate Spoofing Attacks
</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8.6.2: Permit Necessary Traffic through a Firewall
</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8.6.3: Mitigate ICMP Attacks
</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8.6.3: Mitigate ICMP Attacks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dirty="0"/>
          </a:p>
        </p:txBody>
      </p:sp>
    </p:spTree>
    <p:extLst>
      <p:ext uri="{BB962C8B-B14F-4D97-AF65-F5344CB8AC3E}">
        <p14:creationId xmlns:p14="http://schemas.microsoft.com/office/powerpoint/2010/main" val="26500753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8.6.4: Mitigate SNMP Attacks
</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8.6: Mitigate Attacks with ACLs
8.6.5: Packet Tracer - Configure IP ACLs to Mitigate Attacks
</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8.7.1: IPv6 ACL Overview
</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8.7.2: IPv6 ACL Syntax
</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8.7.2: IPv6 ACL Syntax (Cont.)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dirty="0"/>
          </a:p>
        </p:txBody>
      </p:sp>
    </p:spTree>
    <p:extLst>
      <p:ext uri="{BB962C8B-B14F-4D97-AF65-F5344CB8AC3E}">
        <p14:creationId xmlns:p14="http://schemas.microsoft.com/office/powerpoint/2010/main" val="23434030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8.7.2: IPv6 ACL Syntax (Cont.)
</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dirty="0"/>
          </a:p>
        </p:txBody>
      </p:sp>
    </p:spTree>
    <p:extLst>
      <p:ext uri="{BB962C8B-B14F-4D97-AF65-F5344CB8AC3E}">
        <p14:creationId xmlns:p14="http://schemas.microsoft.com/office/powerpoint/2010/main" val="158867036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8.7.3: Configure IPv6 ACLs
</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8.7: IPv6 ACLs
8.7.4: Packet Tracer - Configure IPv6 ACLs
</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8.8: Access Control Lists Summary
</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8.8: Access Control Lists Summary
8.8.1: What Did I Learn in this Module?</a:t>
            </a:r>
          </a:p>
          <a:p>
            <a:r>
              <a:rPr lang="en-US" dirty="0"/>
              <a:t>8.8.2: Module - Access Control Lists Quiz
</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8.8: Access Control Lists Summary
8.8.1: What Did I Learn in this Module?</a:t>
            </a:r>
          </a:p>
          <a:p>
            <a:r>
              <a:rPr lang="en-US" dirty="0"/>
              <a:t>8.8.2: Module - Access Control Lists Quiz
</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dirty="0"/>
          </a:p>
        </p:txBody>
      </p:sp>
    </p:spTree>
    <p:extLst>
      <p:ext uri="{BB962C8B-B14F-4D97-AF65-F5344CB8AC3E}">
        <p14:creationId xmlns:p14="http://schemas.microsoft.com/office/powerpoint/2010/main" val="353653723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Access Control Lists
8.8: Access Control Lists Summary
8.8.1: What Did I Learn in this Module?</a:t>
            </a:r>
          </a:p>
          <a:p>
            <a:r>
              <a:rPr lang="en-US" dirty="0"/>
              <a:t>8.8.2: Module - Access Control Lists Quiz
</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dirty="0"/>
          </a:p>
        </p:txBody>
      </p:sp>
    </p:spTree>
    <p:extLst>
      <p:ext uri="{BB962C8B-B14F-4D97-AF65-F5344CB8AC3E}">
        <p14:creationId xmlns:p14="http://schemas.microsoft.com/office/powerpoint/2010/main" val="20960242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11 – IPS Technologies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4960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34831590"/>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23308509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32878994"/>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599473052"/>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720965152"/>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147938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1917558"/>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519749997"/>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3741757048"/>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2737576540"/>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835587139"/>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29386337"/>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07051748"/>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107674342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217257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933134925"/>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225252794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75188927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87838645"/>
      </p:ext>
    </p:extLst>
  </p:cSld>
  <p:clrMapOvr>
    <a:masterClrMapping/>
  </p:clrMapOvr>
  <p:transition spd="slow">
    <p:wip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79111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314681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1294046652"/>
      </p:ext>
    </p:extLst>
  </p:cSld>
  <p:clrMapOvr>
    <a:masterClrMapping/>
  </p:clrMapOvr>
  <p:transition spd="slow">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585452957"/>
      </p:ext>
    </p:extLst>
  </p:cSld>
  <p:clrMapOvr>
    <a:masterClrMapping/>
  </p:clrMapOvr>
  <p:transition spd="slow">
    <p:wip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598979007"/>
      </p:ext>
    </p:extLst>
  </p:cSld>
  <p:clrMapOvr>
    <a:masterClrMapping/>
  </p:clrMapOvr>
  <p:transition spd="slow">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765312509"/>
      </p:ext>
    </p:extLst>
  </p:cSld>
  <p:clrMapOvr>
    <a:masterClrMapping/>
  </p:clrMapOvr>
  <p:transition spd="slow">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5156556"/>
      </p:ext>
    </p:extLst>
  </p:cSld>
  <p:clrMapOvr>
    <a:masterClrMapping/>
  </p:clrMapOvr>
  <p:transition spd="slow">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629719588"/>
      </p:ext>
    </p:extLst>
  </p:cSld>
  <p:clrMapOvr>
    <a:masterClrMapping/>
  </p:clrMapOvr>
  <p:transition spd="slow">
    <p:wip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784560707"/>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94716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3.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126088106"/>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43781899"/>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4.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4.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4.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0.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2.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9.xml"/><Relationship Id="rId1" Type="http://schemas.openxmlformats.org/officeDocument/2006/relationships/slideLayout" Target="../slideLayouts/slideLayout6.xml"/><Relationship Id="rId4" Type="http://schemas.openxmlformats.org/officeDocument/2006/relationships/image" Target="../media/image50.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7.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8: Access Control Lists</a:t>
            </a:r>
          </a:p>
        </p:txBody>
      </p:sp>
      <p:sp>
        <p:nvSpPr>
          <p:cNvPr id="3" name="Object2"/>
          <p:cNvSpPr/>
          <p:nvPr/>
        </p:nvSpPr>
        <p:spPr>
          <a:xfrm>
            <a:off x="457200" y="3343275"/>
            <a:ext cx="3657600" cy="9144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EE8C3"/>
                </a:solidFill>
                <a:effectLst/>
                <a:uLnTx/>
                <a:uFillTx/>
                <a:latin typeface="Arial" pitchFamily="34" charset="0"/>
                <a:ea typeface="Arial" pitchFamily="34" charset="-122"/>
                <a:cs typeface="Arial" pitchFamily="34" charset="-120"/>
              </a:rPr>
              <a:t>Instructor Materials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 (NETSEC)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8 Planning Guide</a:t>
            </a:r>
          </a:p>
        </p:txBody>
      </p:sp>
      <p:sp>
        <p:nvSpPr>
          <p:cNvPr id="3" name="Object2"/>
          <p:cNvSpPr/>
          <p:nvPr/>
        </p:nvSpPr>
        <p:spPr>
          <a:xfrm>
            <a:off x="588818" y="616527"/>
            <a:ext cx="8229600" cy="46291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This PowerPoint deck is divided in two parts: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Instructor Planning Guide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Information to help you become familiar with the module </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Teaching aids</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cs typeface="+mn-cs"/>
              </a:rPr>
              <a:t>Instructor Class Presentation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Begins on slide # 12</a:t>
            </a:r>
          </a:p>
          <a:p>
            <a:pPr marL="142875" marR="0" lvl="1" indent="0" algn="ctr" defTabSz="684213" rtl="0" eaLnBrk="1" fontAlgn="base" latinLnBrk="0" hangingPunct="1">
              <a:lnSpc>
                <a:spcPct val="100000"/>
              </a:lnSpc>
              <a:spcBef>
                <a:spcPts val="300"/>
              </a:spcBef>
              <a:spcAft>
                <a:spcPts val="300"/>
              </a:spcAft>
              <a:buClr>
                <a:srgbClr val="58585B"/>
              </a:buClr>
              <a:buSzTx/>
              <a:buFontTx/>
              <a:buNone/>
              <a:tabLst/>
              <a:defRPr/>
            </a:pPr>
            <a:r>
              <a:rPr kumimoji="0" lang="en-CA" sz="1600" b="1" i="0" u="none" strike="noStrike" kern="1200" cap="none" spc="0" normalizeH="0" baseline="0" noProof="0" dirty="0">
                <a:ln>
                  <a:noFill/>
                </a:ln>
                <a:solidFill>
                  <a:srgbClr val="000000"/>
                </a:solidFill>
                <a:effectLst/>
                <a:uLnTx/>
                <a:uFillTx/>
                <a:latin typeface="Arial"/>
                <a:ea typeface="ＭＳ Ｐゴシック" charset="0"/>
                <a:cs typeface="+mn-cs"/>
              </a:rPr>
              <a:t>Note</a:t>
            </a:r>
            <a:r>
              <a:rPr kumimoji="0" lang="en-CA" sz="1600" b="0" i="0" u="none" strike="noStrike" kern="1200" cap="none" spc="0" normalizeH="0" baseline="0" noProof="0" dirty="0">
                <a:ln>
                  <a:noFill/>
                </a:ln>
                <a:solidFill>
                  <a:srgbClr val="000000"/>
                </a:solidFill>
                <a:effectLst/>
                <a:uLnTx/>
                <a:uFillTx/>
                <a:latin typeface="Arial"/>
                <a:ea typeface="ＭＳ Ｐゴシック" charset="0"/>
                <a:cs typeface="+mn-cs"/>
              </a:rPr>
              <a:t>: Remove the Planning Guide from this presentation before sharing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Tx/>
              <a:buNone/>
              <a:tabLst/>
              <a:defRPr/>
            </a:pPr>
            <a:r>
              <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rPr>
              <a:t>For additional help and resources go to the Instructor Home Page and Course Resources for this course. </a:t>
            </a:r>
            <a:r>
              <a:rPr kumimoji="0" lang="en-US" sz="1600" b="1" i="0" u="none" strike="noStrike" kern="1200" cap="none" spc="0" normalizeH="0" baseline="0" noProof="0" dirty="0">
                <a:ln>
                  <a:noFill/>
                </a:ln>
                <a:solidFill>
                  <a:srgbClr val="367187"/>
                </a:solidFill>
                <a:effectLst/>
                <a:uLnTx/>
                <a:uFillTx/>
                <a:latin typeface="Arial"/>
                <a:ea typeface="ＭＳ Ｐゴシック" charset="0"/>
                <a:cs typeface="+mn-cs"/>
              </a:rPr>
              <a:t>You also can visit the professional development site on netacad.com, the official Cisco Networking Academy Facebook page, or Instructor Only FB group.</a:t>
            </a:r>
            <a:endPar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endParaRPr>
          </a:p>
          <a:p>
            <a:pPr marL="342900" marR="0" lvl="1" indent="0" algn="l" defTabSz="914400" rtl="0" eaLnBrk="1" fontAlgn="auto" latinLnBrk="0" hangingPunct="1">
              <a:lnSpc>
                <a:spcPts val="2000"/>
              </a:lnSpc>
              <a:spcBef>
                <a:spcPts val="0"/>
              </a:spcBef>
              <a:spcAft>
                <a:spcPts val="0"/>
              </a:spcAft>
              <a:buClrTx/>
              <a:buSzPct val="100000"/>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304800">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64960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304800">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518160">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518160">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148590"/>
            <a:ext cx="9144000" cy="274320"/>
          </a:xfrm>
          <a:prstGeom prst="rect">
            <a:avLst/>
          </a:prstGeom>
          <a:noFill/>
          <a:ln/>
        </p:spPr>
        <p:txBody>
          <a:bodyPr wrap="square" rtlCol="0"/>
          <a:lstStyle/>
          <a:p>
            <a:pPr marL="0" indent="0">
              <a:buNone/>
            </a:pPr>
            <a:r>
              <a:rPr lang="en-US" sz="1800" dirty="0"/>
              <a:t>Check Your Understanding</a:t>
            </a:r>
          </a:p>
        </p:txBody>
      </p:sp>
      <p:sp>
        <p:nvSpPr>
          <p:cNvPr id="3" name="Object2"/>
          <p:cNvSpPr/>
          <p:nvPr/>
        </p:nvSpPr>
        <p:spPr>
          <a:xfrm>
            <a:off x="214746" y="782782"/>
            <a:ext cx="8229600" cy="4629150"/>
          </a:xfrm>
          <a:prstGeom prst="rect">
            <a:avLst/>
          </a:prstGeom>
          <a:noFill/>
          <a:ln/>
        </p:spPr>
        <p:txBody>
          <a:bodyPr wrap="square" rtlCol="0" anchor="t"/>
          <a:lstStyle/>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Check Your Understanding activities are designed to let students quickly determine if they understand the content and can proceed, or if they need to review. </a:t>
            </a:r>
          </a:p>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Check Your Understanding activities </a:t>
            </a:r>
            <a:r>
              <a:rPr kumimoji="0" lang="en-US" sz="1500" b="1" i="1" u="none" strike="noStrike" kern="1200" cap="none" spc="0" normalizeH="0" baseline="0" noProof="0" dirty="0">
                <a:ln>
                  <a:noFill/>
                </a:ln>
                <a:solidFill>
                  <a:srgbClr val="000000"/>
                </a:solidFill>
                <a:effectLst/>
                <a:uLnTx/>
                <a:uFillTx/>
                <a:latin typeface="Arial"/>
                <a:ea typeface="ＭＳ Ｐゴシック" charset="0"/>
                <a:cs typeface="+mn-cs"/>
              </a:rPr>
              <a:t>do not </a:t>
            </a: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affect student grades.</a:t>
            </a:r>
          </a:p>
          <a:p>
            <a:pPr marL="169863" marR="0" lvl="0" indent="-169863" algn="l" defTabSz="684213" rtl="0" eaLnBrk="1" fontAlgn="base" latinLnBrk="0" hangingPunct="1">
              <a:lnSpc>
                <a:spcPct val="100000"/>
              </a:lnSpc>
              <a:spcBef>
                <a:spcPct val="300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cs typeface="+mn-cs"/>
              </a:rPr>
              <a:t>There are no separate slides for these activities in the PPT. They are listed in the notes area of the slide that appears before these activities.</a:t>
            </a:r>
          </a:p>
          <a:p>
            <a:pPr marL="0" marR="0" lvl="0" indent="0" algn="l" defTabSz="914400" rtl="0" eaLnBrk="1" fontAlgn="auto" latinLnBrk="0" hangingPunct="1">
              <a:lnSpc>
                <a:spcPts val="2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8: Activities</a:t>
            </a:r>
          </a:p>
        </p:txBody>
      </p:sp>
      <p:sp>
        <p:nvSpPr>
          <p:cNvPr id="6147" name="Rectangle 34"/>
          <p:cNvSpPr>
            <a:spLocks noGrp="1" noChangeArrowheads="1"/>
          </p:cNvSpPr>
          <p:nvPr>
            <p:ph idx="1"/>
          </p:nvPr>
        </p:nvSpPr>
        <p:spPr>
          <a:xfrm>
            <a:off x="144065" y="798945"/>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295793644"/>
              </p:ext>
            </p:extLst>
          </p:nvPr>
        </p:nvGraphicFramePr>
        <p:xfrm>
          <a:off x="455999" y="1147358"/>
          <a:ext cx="8229418" cy="345849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8.1.5</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Packet Tracer</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ACL Demonstration</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8.2.5</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Wildcard Masks in ACLs</a:t>
                      </a:r>
                    </a:p>
                  </a:txBody>
                  <a:tcPr marL="68580" marR="68580" marT="34290" marB="34290" anchor="ct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kern="1200" dirty="0">
                          <a:solidFill>
                            <a:schemeClr val="dk1"/>
                          </a:solidFill>
                          <a:latin typeface="Arial"/>
                          <a:ea typeface="+mn-ea"/>
                          <a:cs typeface="+mn-cs"/>
                        </a:rPr>
                        <a:t>8.4.4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Syntax Checker</a:t>
                      </a:r>
                    </a:p>
                  </a:txBody>
                  <a:tcPr marL="68580" marR="68580" marT="34290" marB="34290" anchor="ctr"/>
                </a:tc>
                <a:tc>
                  <a:txBody>
                    <a:bodyPr/>
                    <a:lstStyle/>
                    <a:p>
                      <a:r>
                        <a:rPr lang="en-US" sz="1100" kern="1200" dirty="0">
                          <a:solidFill>
                            <a:schemeClr val="dk1"/>
                          </a:solidFill>
                          <a:latin typeface="Arial"/>
                          <a:ea typeface="+mn-ea"/>
                          <a:cs typeface="+mn-cs"/>
                        </a:rPr>
                        <a:t>Modify IPv4 ACLs</a:t>
                      </a:r>
                    </a:p>
                  </a:txBody>
                  <a:tcPr marL="68580" marR="68580" marT="34290" marB="34290" anchor="ctr"/>
                </a:tc>
                <a:tc>
                  <a:txBody>
                    <a:bodyPr/>
                    <a:lstStyle/>
                    <a:p>
                      <a:r>
                        <a:rPr lang="en-US" sz="1100" kern="1200" dirty="0">
                          <a:solidFill>
                            <a:schemeClr val="dk1"/>
                          </a:solidFill>
                          <a:latin typeface="Arial"/>
                          <a:ea typeface="+mn-ea"/>
                          <a:cs typeface="+mn-cs"/>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latin typeface="Arial" panose="020B0604020202020204" pitchFamily="34" charset="0"/>
                          <a:cs typeface="Arial" panose="020B0604020202020204" pitchFamily="34" charset="0"/>
                        </a:rPr>
                        <a:t>8.5.5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Packet Tracer</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Configure Named Standard IPv4 ACLs</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latin typeface="Arial" panose="020B0604020202020204" pitchFamily="34" charset="0"/>
                          <a:cs typeface="Arial" panose="020B0604020202020204" pitchFamily="34" charset="0"/>
                        </a:rPr>
                        <a:t>8.5.6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Packet Tracer</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Configure Numbered Standard IPv4 ACLs</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a:r>
                        <a:rPr lang="en-US" sz="1100" dirty="0">
                          <a:latin typeface="Arial" panose="020B0604020202020204" pitchFamily="34" charset="0"/>
                          <a:cs typeface="Arial" panose="020B0604020202020204" pitchFamily="34" charset="0"/>
                        </a:rPr>
                        <a:t>8.5.8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Check Your Understanding</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Guidelines for ACL Placement</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3001172460"/>
                  </a:ext>
                </a:extLst>
              </a:tr>
              <a:tr h="350784">
                <a:tc>
                  <a:txBody>
                    <a:bodyPr/>
                    <a:lstStyle/>
                    <a:p>
                      <a:pPr algn="ctr"/>
                      <a:r>
                        <a:rPr lang="en-US" sz="1100" dirty="0">
                          <a:latin typeface="Arial" panose="020B0604020202020204" pitchFamily="34" charset="0"/>
                          <a:cs typeface="Arial" panose="020B0604020202020204" pitchFamily="34" charset="0"/>
                        </a:rPr>
                        <a:t>8.5.9</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Interactive Activity</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Configuring Standard ACLs</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322206681"/>
                  </a:ext>
                </a:extLst>
              </a:tr>
              <a:tr h="350784">
                <a:tc>
                  <a:txBody>
                    <a:bodyPr/>
                    <a:lstStyle/>
                    <a:p>
                      <a:pPr algn="ctr"/>
                      <a:r>
                        <a:rPr lang="en-US" sz="1100" dirty="0">
                          <a:latin typeface="Arial" panose="020B0604020202020204" pitchFamily="34" charset="0"/>
                          <a:cs typeface="Arial" panose="020B0604020202020204" pitchFamily="34" charset="0"/>
                        </a:rPr>
                        <a:t>8.5.10</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Interactive Activity</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Creating an Extended ACL Statement</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3406068602"/>
                  </a:ext>
                </a:extLst>
              </a:tr>
              <a:tr h="350784">
                <a:tc>
                  <a:txBody>
                    <a:bodyPr/>
                    <a:lstStyle/>
                    <a:p>
                      <a:pPr algn="ctr"/>
                      <a:r>
                        <a:rPr lang="en-US" sz="1100" dirty="0">
                          <a:latin typeface="Arial" panose="020B0604020202020204" pitchFamily="34" charset="0"/>
                          <a:cs typeface="Arial" panose="020B0604020202020204" pitchFamily="34" charset="0"/>
                        </a:rPr>
                        <a:t>8.5.11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Interactive Activity</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Evaluating Extended ACLs</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4254835577"/>
                  </a:ext>
                </a:extLst>
              </a:tr>
            </a:tbl>
          </a:graphicData>
        </a:graphic>
      </p:graphicFrame>
    </p:spTree>
    <p:custDataLst>
      <p:tags r:id="rId1"/>
    </p:custDataLst>
    <p:extLst>
      <p:ext uri="{BB962C8B-B14F-4D97-AF65-F5344CB8AC3E}">
        <p14:creationId xmlns:p14="http://schemas.microsoft.com/office/powerpoint/2010/main" val="343449385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8: Activities</a:t>
            </a:r>
          </a:p>
        </p:txBody>
      </p:sp>
      <p:sp>
        <p:nvSpPr>
          <p:cNvPr id="6147" name="Rectangle 34"/>
          <p:cNvSpPr>
            <a:spLocks noGrp="1" noChangeArrowheads="1"/>
          </p:cNvSpPr>
          <p:nvPr>
            <p:ph idx="1"/>
          </p:nvPr>
        </p:nvSpPr>
        <p:spPr>
          <a:xfrm>
            <a:off x="144065" y="798945"/>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456478351"/>
              </p:ext>
            </p:extLst>
          </p:nvPr>
        </p:nvGraphicFramePr>
        <p:xfrm>
          <a:off x="455999" y="1147358"/>
          <a:ext cx="8229418" cy="2055354"/>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latin typeface="Arial" panose="020B0604020202020204" pitchFamily="34" charset="0"/>
                          <a:cs typeface="Arial" panose="020B0604020202020204" pitchFamily="34" charset="0"/>
                        </a:rPr>
                        <a:t>8.5.12</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Packet Tracer</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Configuring Extended ACLs Scenario 1</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latin typeface="Arial" panose="020B0604020202020204" pitchFamily="34" charset="0"/>
                          <a:cs typeface="Arial" panose="020B0604020202020204" pitchFamily="34" charset="0"/>
                        </a:rPr>
                        <a:t>8.5.13</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Packet Tracer</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Configuring Extended ACLs Scenario 2</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latin typeface="Arial" panose="020B0604020202020204" pitchFamily="34" charset="0"/>
                          <a:cs typeface="Arial" panose="020B0604020202020204" pitchFamily="34" charset="0"/>
                        </a:rPr>
                        <a:t>8.6.5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Packet Tracer</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Configure IP ACLs to Mitigate Attacks</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latin typeface="Arial" panose="020B0604020202020204" pitchFamily="34" charset="0"/>
                          <a:cs typeface="Arial" panose="020B0604020202020204" pitchFamily="34" charset="0"/>
                        </a:rPr>
                        <a:t>8.7.4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Packet Tracer</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Configure IPv6 ACLs</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latin typeface="Arial" panose="020B0604020202020204" pitchFamily="34" charset="0"/>
                          <a:cs typeface="Arial" panose="020B0604020202020204" pitchFamily="34" charset="0"/>
                        </a:rPr>
                        <a:t>8.8.2</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Module Quiz</a:t>
                      </a:r>
                    </a:p>
                  </a:txBody>
                  <a:tcPr marL="68580" marR="68580" marT="34290" marB="34290" anchor="ctr"/>
                </a:tc>
                <a:tc>
                  <a:txBody>
                    <a:bodyPr/>
                    <a:lstStyle/>
                    <a:p>
                      <a:r>
                        <a:rPr lang="en-US" sz="1100" dirty="0">
                          <a:latin typeface="Arial" panose="020B0604020202020204" pitchFamily="34" charset="0"/>
                          <a:cs typeface="Arial" panose="020B0604020202020204" pitchFamily="34" charset="0"/>
                        </a:rPr>
                        <a:t>Access Control Lists</a:t>
                      </a:r>
                    </a:p>
                  </a:txBody>
                  <a:tcPr marL="68580" marR="68580" marT="34290" marB="34290" anchor="ct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tc>
                <a:extLst>
                  <a:ext uri="{0D108BD9-81ED-4DB2-BD59-A6C34878D82A}">
                    <a16:rowId xmlns:a16="http://schemas.microsoft.com/office/drawing/2014/main" val="3522544737"/>
                  </a:ext>
                </a:extLst>
              </a:tr>
            </a:tbl>
          </a:graphicData>
        </a:graphic>
      </p:graphicFrame>
    </p:spTree>
    <p:custDataLst>
      <p:tags r:id="rId1"/>
    </p:custDataLst>
    <p:extLst>
      <p:ext uri="{BB962C8B-B14F-4D97-AF65-F5344CB8AC3E}">
        <p14:creationId xmlns:p14="http://schemas.microsoft.com/office/powerpoint/2010/main" val="95111544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8: Best Practices</a:t>
            </a:r>
          </a:p>
        </p:txBody>
      </p:sp>
      <p:sp>
        <p:nvSpPr>
          <p:cNvPr id="25" name="Slide Number Placeholder 24"/>
          <p:cNvSpPr>
            <a:spLocks noGrp="1"/>
          </p:cNvSpPr>
          <p:nvPr>
            <p:ph type="sldNum" sz="quarter" idx="4294967295"/>
          </p:nvPr>
        </p:nvSpPr>
        <p:spPr>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lvl="0"/>
            <a:fld id="{F7021451-1387-4CA6-816F-3879F97B5CBC}" type="slidenum">
              <a:rPr lang="en-US" noProof="0"/>
              <a:pPr lvl="0"/>
              <a:t>8</a:t>
            </a:fld>
            <a:endParaRPr lang="en-US" noProof="0" dirty="0"/>
          </a:p>
        </p:txBody>
      </p:sp>
      <p:sp>
        <p:nvSpPr>
          <p:cNvPr id="3" name="Object2"/>
          <p:cNvSpPr/>
          <p:nvPr/>
        </p:nvSpPr>
        <p:spPr>
          <a:xfrm>
            <a:off x="337278" y="457200"/>
            <a:ext cx="8454453"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Prior to teaching Module 8, the instructor should:</a:t>
            </a:r>
          </a:p>
          <a:p>
            <a:pPr marL="169863" marR="0" lvl="0" indent="-169863" algn="l" defTabSz="684213" rtl="0" eaLnBrk="1" fontAlgn="base" latinLnBrk="0" hangingPunct="1">
              <a:lnSpc>
                <a:spcPct val="85000"/>
              </a:lnSpc>
              <a:spcBef>
                <a:spcPct val="30000"/>
              </a:spcBef>
              <a:spcAft>
                <a:spcPts val="600"/>
              </a:spcAft>
              <a:buClr>
                <a:srgbClr val="58585B"/>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ＭＳ Ｐゴシック" charset="0"/>
                <a:cs typeface="+mn-cs"/>
              </a:rPr>
              <a:t>Review the activities and assessments for this module.</a:t>
            </a:r>
          </a:p>
          <a:p>
            <a:pPr marL="169863" marR="0" lvl="0" indent="-169863" algn="l" defTabSz="684213" rtl="0" eaLnBrk="1" fontAlgn="base" latinLnBrk="0" hangingPunct="1">
              <a:lnSpc>
                <a:spcPct val="85000"/>
              </a:lnSpc>
              <a:spcBef>
                <a:spcPct val="30000"/>
              </a:spcBef>
              <a:spcAft>
                <a:spcPts val="600"/>
              </a:spcAft>
              <a:buClr>
                <a:srgbClr val="58585B"/>
              </a:buClr>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ＭＳ Ｐゴシック" charset="0"/>
                <a:cs typeface="+mn-cs"/>
              </a:rPr>
              <a:t>Try to include as many questions as possible to keep students engaged during classroom presentation.</a:t>
            </a: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8.1</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Open Packet Tracer 8.1.5 to display the topology.</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US" altLang="ja-JP" sz="1400" dirty="0">
                <a:solidFill>
                  <a:srgbClr val="000000"/>
                </a:solidFill>
                <a:latin typeface="Arial"/>
                <a:ea typeface="ＭＳ Ｐゴシック" charset="0"/>
              </a:rPr>
              <a:t>Tell the class “Only users connected to the R1 192.168.10.0/24 LAN (i.e., PC1 and PC2) are permitted to access the two LANs of R3. However, users connected to the R1 192.168.11.0/24 (i.e., PC3) are not allowed.”</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US" altLang="ja-JP" sz="1400" dirty="0">
                <a:solidFill>
                  <a:srgbClr val="000000"/>
                </a:solidFill>
                <a:latin typeface="Arial"/>
                <a:ea typeface="ＭＳ Ｐゴシック" charset="0"/>
              </a:rPr>
              <a:t>Ask the class “How would you implement this policy?” Elicit answers relating it ACLs.</a:t>
            </a:r>
          </a:p>
          <a:p>
            <a:pPr marL="358775" lvl="1" indent="-215900" defTabSz="684213" fontAlgn="base">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charset="0"/>
              </a:rPr>
              <a:t>Ask the class “How would you enable only PC3 to have access to the R3 192.168.31.0/24 LAN but only for DNS services?” Elicit answers relating it to extended ACLs.</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US" altLang="ja-JP" sz="1400" dirty="0">
                <a:solidFill>
                  <a:srgbClr val="000000"/>
                </a:solidFill>
                <a:latin typeface="Arial"/>
                <a:ea typeface="ＭＳ Ｐゴシック" charset="0"/>
              </a:rPr>
              <a:t>Ask the class “PC3 is the only PC allowed to Telnet to R1.  How would you implement this policy?” Elicit answers relating it to VTY line ACLs.</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8: Best Practices (Cont.)</a:t>
            </a:r>
          </a:p>
        </p:txBody>
      </p:sp>
      <p:sp>
        <p:nvSpPr>
          <p:cNvPr id="25" name="Slide Number Placeholder 24"/>
          <p:cNvSpPr>
            <a:spLocks noGrp="1"/>
          </p:cNvSpPr>
          <p:nvPr>
            <p:ph type="sldNum" sz="quarter" idx="4294967295"/>
          </p:nvPr>
        </p:nvSpPr>
        <p:spPr>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lvl="0"/>
            <a:fld id="{F7021451-1387-4CA6-816F-3879F97B5CBC}" type="slidenum">
              <a:rPr lang="en-US" noProof="0"/>
              <a:pPr lvl="0"/>
              <a:t>9</a:t>
            </a:fld>
            <a:endParaRPr lang="en-US" noProof="0" dirty="0"/>
          </a:p>
        </p:txBody>
      </p:sp>
      <p:sp>
        <p:nvSpPr>
          <p:cNvPr id="3" name="Object2"/>
          <p:cNvSpPr/>
          <p:nvPr/>
        </p:nvSpPr>
        <p:spPr>
          <a:xfrm>
            <a:off x="337278" y="457200"/>
            <a:ext cx="8454453"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8.2</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Ask the class “Using a piece of paper and pencil, perform the following mathematical operations:”</a:t>
            </a:r>
          </a:p>
          <a:p>
            <a:pPr marL="815975" lvl="2" indent="-215900" defTabSz="684213" fontAlgn="base">
              <a:spcBef>
                <a:spcPts val="300"/>
              </a:spcBef>
              <a:spcAft>
                <a:spcPts val="300"/>
              </a:spcAft>
              <a:buClr>
                <a:srgbClr val="58585B"/>
              </a:buClr>
              <a:buFont typeface="Arial" charset="0"/>
              <a:buChar char="•"/>
              <a:tabLst>
                <a:tab pos="4662488" algn="l"/>
                <a:tab pos="6010275" algn="r"/>
              </a:tabLst>
              <a:defRPr/>
            </a:pPr>
            <a:r>
              <a:rPr lang="en-US" altLang="ja-JP" sz="1200" dirty="0">
                <a:solidFill>
                  <a:srgbClr val="000000"/>
                </a:solidFill>
                <a:latin typeface="Arial"/>
                <a:ea typeface="ＭＳ Ｐゴシック" charset="0"/>
              </a:rPr>
              <a:t>“255.255.255.255 – 255.255.255.0 = ?”	Answer: 	0.0.0.255</a:t>
            </a:r>
          </a:p>
          <a:p>
            <a:pPr marL="815975" lvl="2" indent="-215900" defTabSz="684213" fontAlgn="base">
              <a:spcBef>
                <a:spcPts val="300"/>
              </a:spcBef>
              <a:spcAft>
                <a:spcPts val="300"/>
              </a:spcAft>
              <a:buClr>
                <a:srgbClr val="58585B"/>
              </a:buClr>
              <a:buFont typeface="Arial" charset="0"/>
              <a:buChar char="•"/>
              <a:tabLst>
                <a:tab pos="4662488" algn="l"/>
                <a:tab pos="6010275" algn="r"/>
              </a:tabLst>
              <a:defRPr/>
            </a:pPr>
            <a:r>
              <a:rPr lang="en-US" altLang="ja-JP" sz="1200" dirty="0">
                <a:solidFill>
                  <a:srgbClr val="000000"/>
                </a:solidFill>
                <a:latin typeface="Arial"/>
                <a:ea typeface="ＭＳ Ｐゴシック" charset="0"/>
              </a:rPr>
              <a:t>“255.255.255.255 – 255.255.255.128 = ?”	Answer: 	0.0.0.127</a:t>
            </a:r>
          </a:p>
          <a:p>
            <a:pPr marL="815975" lvl="2" indent="-215900" defTabSz="684213" fontAlgn="base">
              <a:spcBef>
                <a:spcPts val="300"/>
              </a:spcBef>
              <a:spcAft>
                <a:spcPts val="300"/>
              </a:spcAft>
              <a:buClr>
                <a:srgbClr val="58585B"/>
              </a:buClr>
              <a:buFont typeface="Arial" charset="0"/>
              <a:buChar char="•"/>
              <a:tabLst>
                <a:tab pos="4662488" algn="l"/>
                <a:tab pos="6010275" algn="r"/>
              </a:tabLst>
              <a:defRPr/>
            </a:pPr>
            <a:r>
              <a:rPr lang="en-US" altLang="ja-JP" sz="1200" dirty="0">
                <a:solidFill>
                  <a:srgbClr val="000000"/>
                </a:solidFill>
                <a:latin typeface="Arial"/>
                <a:ea typeface="ＭＳ Ｐゴシック" charset="0"/>
              </a:rPr>
              <a:t>“255.255.255.255 – 255.255.255.192 = ?”	Answer: 	0.0.0.63</a:t>
            </a:r>
          </a:p>
          <a:p>
            <a:pPr marL="815975" lvl="2" indent="-215900" defTabSz="684213" fontAlgn="base">
              <a:spcBef>
                <a:spcPts val="300"/>
              </a:spcBef>
              <a:spcAft>
                <a:spcPts val="300"/>
              </a:spcAft>
              <a:buClr>
                <a:srgbClr val="58585B"/>
              </a:buClr>
              <a:buFont typeface="Arial" charset="0"/>
              <a:buChar char="•"/>
              <a:tabLst>
                <a:tab pos="4662488" algn="l"/>
                <a:tab pos="6010275" algn="r"/>
              </a:tabLst>
              <a:defRPr/>
            </a:pPr>
            <a:r>
              <a:rPr lang="en-US" altLang="ja-JP" sz="1200" dirty="0">
                <a:solidFill>
                  <a:srgbClr val="000000"/>
                </a:solidFill>
                <a:latin typeface="Arial"/>
                <a:ea typeface="ＭＳ Ｐゴシック" charset="0"/>
              </a:rPr>
              <a:t>“255.255.255.255 – 255.255.255.224 = ?”  	Answer: 	0.0.0.31</a:t>
            </a:r>
          </a:p>
          <a:p>
            <a:pPr marL="815975" lvl="2" indent="-215900" defTabSz="684213" fontAlgn="base">
              <a:spcBef>
                <a:spcPts val="300"/>
              </a:spcBef>
              <a:spcAft>
                <a:spcPts val="300"/>
              </a:spcAft>
              <a:buClr>
                <a:srgbClr val="58585B"/>
              </a:buClr>
              <a:buFont typeface="Arial" charset="0"/>
              <a:buChar char="•"/>
              <a:tabLst>
                <a:tab pos="4662488" algn="l"/>
                <a:tab pos="6010275" algn="r"/>
              </a:tabLst>
              <a:defRPr/>
            </a:pPr>
            <a:r>
              <a:rPr lang="en-US" altLang="ja-JP" sz="1200" dirty="0">
                <a:solidFill>
                  <a:srgbClr val="000000"/>
                </a:solidFill>
                <a:latin typeface="Arial"/>
                <a:ea typeface="ＭＳ Ｐゴシック" charset="0"/>
              </a:rPr>
              <a:t>“255.255.255.255 – 255.255.255.240 = ?”	Answer: 	0.0.0.15</a:t>
            </a:r>
          </a:p>
          <a:p>
            <a:pPr marL="815975" lvl="2" indent="-215900" defTabSz="684213" fontAlgn="base">
              <a:spcBef>
                <a:spcPts val="300"/>
              </a:spcBef>
              <a:spcAft>
                <a:spcPts val="300"/>
              </a:spcAft>
              <a:buClr>
                <a:srgbClr val="58585B"/>
              </a:buClr>
              <a:buFont typeface="Arial" charset="0"/>
              <a:buChar char="•"/>
              <a:tabLst>
                <a:tab pos="4662488" algn="l"/>
                <a:tab pos="6010275" algn="r"/>
              </a:tabLst>
              <a:defRPr/>
            </a:pPr>
            <a:r>
              <a:rPr lang="en-US" altLang="ja-JP" sz="1200" dirty="0">
                <a:solidFill>
                  <a:srgbClr val="000000"/>
                </a:solidFill>
                <a:latin typeface="Arial"/>
                <a:ea typeface="ＭＳ Ｐゴシック" charset="0"/>
              </a:rPr>
              <a:t>“255.255.255.255 – 255.255.255.248 = ?”	Answer: 	0.0.0.7</a:t>
            </a:r>
          </a:p>
          <a:p>
            <a:pPr marL="815975" lvl="2" indent="-215900" defTabSz="684213" fontAlgn="base">
              <a:spcBef>
                <a:spcPts val="300"/>
              </a:spcBef>
              <a:spcAft>
                <a:spcPts val="300"/>
              </a:spcAft>
              <a:buClr>
                <a:srgbClr val="58585B"/>
              </a:buClr>
              <a:buFont typeface="Arial" charset="0"/>
              <a:buChar char="•"/>
              <a:tabLst>
                <a:tab pos="4662488" algn="l"/>
                <a:tab pos="6010275" algn="r"/>
              </a:tabLst>
              <a:defRPr/>
            </a:pPr>
            <a:r>
              <a:rPr lang="en-US" altLang="ja-JP" sz="1200" dirty="0">
                <a:solidFill>
                  <a:srgbClr val="000000"/>
                </a:solidFill>
                <a:latin typeface="Arial"/>
                <a:ea typeface="ＭＳ Ｐゴシック" charset="0"/>
              </a:rPr>
              <a:t>“255.255.255.255 – 255.255.255.252 = ?”	Answer: 	0.0.0.3</a:t>
            </a:r>
          </a:p>
          <a:p>
            <a:pPr marL="358775" lvl="1" indent="-215900" defTabSz="684213" fontAlgn="base">
              <a:spcBef>
                <a:spcPts val="300"/>
              </a:spcBef>
              <a:spcAft>
                <a:spcPts val="300"/>
              </a:spcAft>
              <a:buClr>
                <a:srgbClr val="58585B"/>
              </a:buClr>
              <a:buFont typeface="Arial" charset="0"/>
              <a:buChar char="•"/>
              <a:defRPr/>
            </a:pPr>
            <a:r>
              <a:rPr lang="en-US" altLang="ja-JP" sz="1400" dirty="0">
                <a:solidFill>
                  <a:srgbClr val="000000"/>
                </a:solidFill>
                <a:latin typeface="Arial"/>
                <a:ea typeface="ＭＳ Ｐゴシック" charset="0"/>
              </a:rPr>
              <a:t>Tell the class “Congratulations, you have just calculated the most commonly used wildcard masks.”</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endParaRPr lang="en-US" sz="1400" dirty="0">
              <a:solidFill>
                <a:srgbClr val="000000"/>
              </a:solidFill>
              <a:latin typeface="Arial"/>
              <a:ea typeface="ＭＳ Ｐゴシック" charset="0"/>
            </a:endParaRP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8.3</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Ask the class</a:t>
            </a:r>
            <a:r>
              <a:rPr lang="en-US" altLang="ja-JP" sz="1400" dirty="0">
                <a:solidFill>
                  <a:srgbClr val="000000"/>
                </a:solidFill>
                <a:latin typeface="Arial"/>
                <a:ea typeface="ＭＳ Ｐゴシック" charset="0"/>
              </a:rPr>
              <a:t> “How do you create an ACL?” Students will likely have some knowledge of ACL basics. Elicit answers such as standard ACL, extended ACL, named ACL, ACL numbers, implicit deny any, port numbers, …</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2711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8: Best Practices (Cont.)</a:t>
            </a:r>
          </a:p>
        </p:txBody>
      </p:sp>
      <p:sp>
        <p:nvSpPr>
          <p:cNvPr id="25" name="Slide Number Placeholder 24"/>
          <p:cNvSpPr>
            <a:spLocks noGrp="1"/>
          </p:cNvSpPr>
          <p:nvPr>
            <p:ph type="sldNum" sz="quarter" idx="4294967295"/>
          </p:nvPr>
        </p:nvSpPr>
        <p:spPr>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lvl="0"/>
            <a:fld id="{F7021451-1387-4CA6-816F-3879F97B5CBC}" type="slidenum">
              <a:rPr lang="en-US" noProof="0"/>
              <a:pPr lvl="0"/>
              <a:t>10</a:t>
            </a:fld>
            <a:endParaRPr lang="en-US" noProof="0" dirty="0"/>
          </a:p>
        </p:txBody>
      </p:sp>
      <p:sp>
        <p:nvSpPr>
          <p:cNvPr id="3" name="Object2"/>
          <p:cNvSpPr/>
          <p:nvPr/>
        </p:nvSpPr>
        <p:spPr>
          <a:xfrm>
            <a:off x="337278" y="457200"/>
            <a:ext cx="8454453"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8.4</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Tell the class</a:t>
            </a:r>
            <a:r>
              <a:rPr lang="en-US" altLang="ja-JP" sz="1400" dirty="0">
                <a:solidFill>
                  <a:srgbClr val="000000"/>
                </a:solidFill>
                <a:latin typeface="Arial"/>
                <a:ea typeface="ＭＳ Ｐゴシック" charset="0"/>
              </a:rPr>
              <a:t> “You have configured an </a:t>
            </a: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ACL consisting of 20 access control entries (ACEs) and just noticed that you misconfigured an ACE.”  </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US" altLang="ja-JP" sz="1400" dirty="0">
                <a:solidFill>
                  <a:srgbClr val="000000"/>
                </a:solidFill>
                <a:latin typeface="Arial"/>
                <a:ea typeface="ＭＳ Ｐゴシック" charset="0"/>
              </a:rPr>
              <a:t>Ask the class “How could you fix the error?” </a:t>
            </a: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Elicit answers such as using a text editor to edit the ACL or using sequence numbers.</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endParaRPr lang="en-US" sz="1400" dirty="0">
              <a:solidFill>
                <a:srgbClr val="000000"/>
              </a:solidFill>
              <a:latin typeface="Arial"/>
              <a:ea typeface="ＭＳ Ｐゴシック" charset="0"/>
            </a:endParaRP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8.5</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Open Packet Tracer 8.1.5 to display the topology.</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US" altLang="ja-JP" sz="1400" dirty="0">
                <a:solidFill>
                  <a:srgbClr val="000000"/>
                </a:solidFill>
                <a:latin typeface="Arial"/>
                <a:ea typeface="ＭＳ Ｐゴシック" charset="0"/>
              </a:rPr>
              <a:t>Tell the class “Only users connected to the R1 192.168.10.0/24 LAN (i.e., PC1 and PC2) are permitted to access the two LANs of R3. However, users connected to the R1 192.168.11.0/24 (i.e., PC3) are not allowed.”</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US" altLang="ja-JP" sz="1400" dirty="0">
                <a:solidFill>
                  <a:srgbClr val="000000"/>
                </a:solidFill>
                <a:latin typeface="Arial"/>
                <a:ea typeface="ＭＳ Ｐゴシック" charset="0"/>
              </a:rPr>
              <a:t>Ask the class “Where would you position this ACL if it was a standard ACL?” Elicit answers that standard ACLs are always best positioned at the destination.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US" altLang="ja-JP" sz="1400" dirty="0">
                <a:solidFill>
                  <a:srgbClr val="000000"/>
                </a:solidFill>
                <a:latin typeface="Arial"/>
                <a:ea typeface="ＭＳ Ｐゴシック" charset="0"/>
              </a:rPr>
              <a:t>Ask the class “Where would you position this ACL if it was an extended ACL?” Elicit answers that extended ACLs are always best positioned at the source.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1557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noFill/>
          <a:ln/>
        </p:spPr>
        <p:txBody>
          <a:bodyPr wrap="square" rtlCol="0"/>
          <a:lstStyle/>
          <a:p>
            <a:r>
              <a:rPr lang="en-US" dirty="0"/>
              <a:t>Module 8: Best Practices (Cont.)</a:t>
            </a:r>
          </a:p>
        </p:txBody>
      </p:sp>
      <p:sp>
        <p:nvSpPr>
          <p:cNvPr id="25" name="Slide Number Placeholder 24"/>
          <p:cNvSpPr>
            <a:spLocks noGrp="1"/>
          </p:cNvSpPr>
          <p:nvPr>
            <p:ph type="sldNum" sz="quarter" idx="4294967295"/>
          </p:nvPr>
        </p:nvSpPr>
        <p:spPr>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lvl="0"/>
            <a:fld id="{F7021451-1387-4CA6-816F-3879F97B5CBC}" type="slidenum">
              <a:rPr lang="en-US" noProof="0"/>
              <a:pPr lvl="0"/>
              <a:t>11</a:t>
            </a:fld>
            <a:endParaRPr lang="en-US" noProof="0" dirty="0"/>
          </a:p>
        </p:txBody>
      </p:sp>
      <p:sp>
        <p:nvSpPr>
          <p:cNvPr id="3" name="Object2"/>
          <p:cNvSpPr/>
          <p:nvPr/>
        </p:nvSpPr>
        <p:spPr>
          <a:xfrm>
            <a:off x="337278" y="457200"/>
            <a:ext cx="8454453"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8.6</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Use the topology in 8.6.1 and zoom in on it.</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Tell the class “The R1 G0/0 interface should filter </a:t>
            </a:r>
            <a:r>
              <a:rPr lang="en-US" altLang="ja-JP" sz="1400" dirty="0">
                <a:solidFill>
                  <a:srgbClr val="000000"/>
                </a:solidFill>
                <a:latin typeface="Arial"/>
                <a:ea typeface="ＭＳ Ｐゴシック" charset="0"/>
              </a:rPr>
              <a:t>incoming user traffic and the S0/0/0 interface is connected to the internet.”</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Ask the class “What type of incoming traffic should be filtered by G0/0?”  Elicit answers such as user IP and ICMP traffic.</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lang="en-US" altLang="ja-JP" sz="1400" dirty="0">
                <a:solidFill>
                  <a:srgbClr val="000000"/>
                </a:solidFill>
                <a:latin typeface="Arial"/>
                <a:ea typeface="ＭＳ Ｐゴシック" charset="0"/>
              </a:rPr>
              <a:t>Ask the class “What type of incoming traffic should be filtered on S0/0/0?” Elicit answers such return user IP traffic and ICMP traffic.</a:t>
            </a:r>
            <a:endParaRPr kumimoji="0" lang="en-US" altLang="ja-JP" sz="1400" b="0" i="0" u="none" strike="noStrike" kern="1200" cap="none" spc="0" normalizeH="0" baseline="0" noProof="0" dirty="0">
              <a:ln>
                <a:noFill/>
              </a:ln>
              <a:solidFill>
                <a:srgbClr val="000000"/>
              </a:solidFill>
              <a:effectLst/>
              <a:uLnTx/>
              <a:uFillTx/>
              <a:latin typeface="Arial"/>
              <a:ea typeface="ＭＳ Ｐゴシック" charset="0"/>
              <a:cs typeface="+mn-cs"/>
            </a:endParaRP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endParaRPr lang="en-US" sz="1400" dirty="0">
              <a:solidFill>
                <a:srgbClr val="000000"/>
              </a:solidFill>
              <a:latin typeface="Arial"/>
              <a:ea typeface="ＭＳ Ｐゴシック" charset="0"/>
            </a:endParaRPr>
          </a:p>
          <a:p>
            <a:pPr marL="0" marR="0" lvl="0" indent="0" algn="l" defTabSz="684213" rtl="0" eaLnBrk="1" fontAlgn="base" latinLnBrk="0" hangingPunct="1">
              <a:lnSpc>
                <a:spcPct val="85000"/>
              </a:lnSpc>
              <a:spcBef>
                <a:spcPct val="30000"/>
              </a:spcBef>
              <a:spcAft>
                <a:spcPts val="600"/>
              </a:spcAft>
              <a:buClr>
                <a:srgbClr val="58585B"/>
              </a:buClr>
              <a:buSzPct val="90000"/>
              <a:buFontTx/>
              <a:buNone/>
              <a:tabLst/>
              <a:defRPr/>
            </a:pPr>
            <a:r>
              <a:rPr kumimoji="0" lang="en-US" sz="1600" b="0" i="0" u="none" strike="noStrike" kern="1200" cap="none" spc="0" normalizeH="0" baseline="0" noProof="0" dirty="0">
                <a:ln>
                  <a:noFill/>
                </a:ln>
                <a:solidFill>
                  <a:srgbClr val="000000"/>
                </a:solidFill>
                <a:effectLst/>
                <a:uLnTx/>
                <a:uFillTx/>
                <a:latin typeface="Arial"/>
                <a:ea typeface="ＭＳ Ｐゴシック" charset="0"/>
                <a:cs typeface="+mn-cs"/>
              </a:rPr>
              <a:t>Topic 8.7</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Ask the class “How do you create an IPv6 ACL?” Students will likely have some knowledge of IPv6 ACL basics. Elicit answers such as IPv6 ACLs function in a similar manner to IPv4 ACLs but there </a:t>
            </a:r>
            <a:r>
              <a:rPr lang="en-CA" altLang="ja-JP" sz="1400" dirty="0">
                <a:solidFill>
                  <a:srgbClr val="000000"/>
                </a:solidFill>
                <a:latin typeface="Arial"/>
                <a:ea typeface="ＭＳ Ｐゴシック" charset="0"/>
              </a:rPr>
              <a:t>are no </a:t>
            </a:r>
            <a:r>
              <a:rPr kumimoji="0" lang="en-CA"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standard ACLs; only extended IPv6 ACLs. IPv6 ACLs include three implicit statements at the end; two </a:t>
            </a:r>
            <a:r>
              <a:rPr kumimoji="0" lang="en-CA" altLang="ja-JP" sz="1400" b="1" i="0" u="none" strike="noStrike" kern="1200" cap="none" spc="0" normalizeH="0" baseline="0" noProof="0" dirty="0">
                <a:ln>
                  <a:noFill/>
                </a:ln>
                <a:solidFill>
                  <a:srgbClr val="000000"/>
                </a:solidFill>
                <a:effectLst/>
                <a:uLnTx/>
                <a:uFillTx/>
                <a:latin typeface="Arial"/>
                <a:ea typeface="ＭＳ Ｐゴシック" charset="0"/>
                <a:cs typeface="+mn-cs"/>
              </a:rPr>
              <a:t>permit icmp </a:t>
            </a:r>
            <a:r>
              <a:rPr kumimoji="0" lang="en-CA"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ACEs for neighbor discovery and ends with an implicit </a:t>
            </a:r>
            <a:r>
              <a:rPr kumimoji="0" lang="en-CA" altLang="ja-JP" sz="1400" b="1" i="0" u="none" strike="noStrike" kern="1200" cap="none" spc="0" normalizeH="0" baseline="0" noProof="0" dirty="0">
                <a:ln>
                  <a:noFill/>
                </a:ln>
                <a:solidFill>
                  <a:srgbClr val="000000"/>
                </a:solidFill>
                <a:effectLst/>
                <a:uLnTx/>
                <a:uFillTx/>
                <a:latin typeface="Arial"/>
                <a:ea typeface="ＭＳ Ｐゴシック" charset="0"/>
                <a:cs typeface="+mn-cs"/>
              </a:rPr>
              <a:t>deny ipv6 any any </a:t>
            </a:r>
            <a:r>
              <a:rPr kumimoji="0" lang="en-CA" altLang="ja-JP" sz="1400" b="0" i="0" u="none" strike="noStrike" kern="1200" cap="none" spc="0" normalizeH="0" baseline="0" noProof="0" dirty="0">
                <a:ln>
                  <a:noFill/>
                </a:ln>
                <a:solidFill>
                  <a:srgbClr val="000000"/>
                </a:solidFill>
                <a:effectLst/>
                <a:uLnTx/>
                <a:uFillTx/>
                <a:latin typeface="Arial"/>
                <a:ea typeface="ＭＳ Ｐゴシック" charset="0"/>
                <a:cs typeface="+mn-cs"/>
              </a:rPr>
              <a:t>ACE.</a:t>
            </a:r>
          </a:p>
        </p:txBody>
      </p:sp>
    </p:spTree>
    <p:extLst>
      <p:ext uri="{BB962C8B-B14F-4D97-AF65-F5344CB8AC3E}">
        <p14:creationId xmlns:p14="http://schemas.microsoft.com/office/powerpoint/2010/main" val="2796985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8: Access Control Lists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Access Control Lists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Implement access control lists (ACLs) to filter traffic and mitigate network attacks on a network.</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3553279300"/>
              </p:ext>
            </p:extLst>
          </p:nvPr>
        </p:nvGraphicFramePr>
        <p:xfrm>
          <a:off x="314325" y="1692275"/>
          <a:ext cx="8372475" cy="2070184"/>
        </p:xfrm>
        <a:graphic>
          <a:graphicData uri="http://schemas.openxmlformats.org/drawingml/2006/table">
            <a:tbl>
              <a:tblPr firstRow="1" firstCol="1" bandRow="1">
                <a:tableStyleId>{5C22544A-7EE6-4342-B048-85BDC9FD1C3A}</a:tableStyleId>
              </a:tblPr>
              <a:tblGrid>
                <a:gridCol w="2798261">
                  <a:extLst>
                    <a:ext uri="{9D8B030D-6E8A-4147-A177-3AD203B41FA5}">
                      <a16:colId xmlns:a16="http://schemas.microsoft.com/office/drawing/2014/main" val="399010295"/>
                    </a:ext>
                  </a:extLst>
                </a:gridCol>
                <a:gridCol w="5574214">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rtl="0" fontAlgn="b"/>
                      <a:r>
                        <a:rPr lang="en-US" sz="1100" dirty="0">
                          <a:effectLst/>
                          <a:latin typeface="+mj-lt"/>
                        </a:rPr>
                        <a:t>Introduction to Access Control Lists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Describe standard and extended ACLs.</a:t>
                      </a:r>
                    </a:p>
                  </a:txBody>
                  <a:tcPr marL="60168" marR="60168" marT="0" marB="0"/>
                </a:tc>
                <a:extLst>
                  <a:ext uri="{0D108BD9-81ED-4DB2-BD59-A6C34878D82A}">
                    <a16:rowId xmlns:a16="http://schemas.microsoft.com/office/drawing/2014/main" val="3530891527"/>
                  </a:ext>
                </a:extLst>
              </a:tr>
              <a:tr h="263724">
                <a:tc>
                  <a:txBody>
                    <a:bodyPr/>
                    <a:lstStyle/>
                    <a:p>
                      <a:pPr rtl="0" fontAlgn="b"/>
                      <a:r>
                        <a:rPr lang="en-US" sz="1100" dirty="0">
                          <a:effectLst/>
                          <a:latin typeface="+mj-lt"/>
                        </a:rPr>
                        <a:t>Wildcard Masks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Explain how ACLs use wildcard masks.</a:t>
                      </a:r>
                    </a:p>
                  </a:txBody>
                  <a:tcPr marL="60168" marR="60168" marT="0" marB="0"/>
                </a:tc>
                <a:extLst>
                  <a:ext uri="{0D108BD9-81ED-4DB2-BD59-A6C34878D82A}">
                    <a16:rowId xmlns:a16="http://schemas.microsoft.com/office/drawing/2014/main" val="662892947"/>
                  </a:ext>
                </a:extLst>
              </a:tr>
              <a:tr h="263724">
                <a:tc>
                  <a:txBody>
                    <a:bodyPr/>
                    <a:lstStyle/>
                    <a:p>
                      <a:pPr rtl="0" fontAlgn="b"/>
                      <a:r>
                        <a:rPr lang="en-US" sz="1100" dirty="0">
                          <a:effectLst/>
                          <a:latin typeface="+mj-lt"/>
                        </a:rPr>
                        <a:t>Configure ACLs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Explain how to configure ACLs.</a:t>
                      </a:r>
                    </a:p>
                  </a:txBody>
                  <a:tcPr marL="60168" marR="60168" marT="0" marB="0"/>
                </a:tc>
                <a:extLst>
                  <a:ext uri="{0D108BD9-81ED-4DB2-BD59-A6C34878D82A}">
                    <a16:rowId xmlns:a16="http://schemas.microsoft.com/office/drawing/2014/main" val="724516786"/>
                  </a:ext>
                </a:extLst>
              </a:tr>
              <a:tr h="263724">
                <a:tc>
                  <a:txBody>
                    <a:bodyPr/>
                    <a:lstStyle/>
                    <a:p>
                      <a:pPr rtl="0" fontAlgn="b"/>
                      <a:r>
                        <a:rPr lang="en-US" sz="1100" dirty="0">
                          <a:effectLst/>
                          <a:latin typeface="+mj-lt"/>
                        </a:rPr>
                        <a:t>Modify ACLs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Use sequence numbers to edit existing standard IPv4 ACLs.</a:t>
                      </a:r>
                    </a:p>
                  </a:txBody>
                  <a:tcPr marL="60168" marR="60168" marT="0" marB="0"/>
                </a:tc>
                <a:extLst>
                  <a:ext uri="{0D108BD9-81ED-4DB2-BD59-A6C34878D82A}">
                    <a16:rowId xmlns:a16="http://schemas.microsoft.com/office/drawing/2014/main" val="298268992"/>
                  </a:ext>
                </a:extLst>
              </a:tr>
              <a:tr h="263724">
                <a:tc>
                  <a:txBody>
                    <a:bodyPr/>
                    <a:lstStyle/>
                    <a:p>
                      <a:pPr rtl="0" fontAlgn="b"/>
                      <a:r>
                        <a:rPr lang="en-US" sz="1100" dirty="0">
                          <a:effectLst/>
                          <a:latin typeface="+mj-lt"/>
                        </a:rPr>
                        <a:t>Implement ACLs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Implement ACLs.</a:t>
                      </a:r>
                    </a:p>
                  </a:txBody>
                  <a:tcPr marL="60168" marR="60168" marT="0" marB="0"/>
                </a:tc>
                <a:extLst>
                  <a:ext uri="{0D108BD9-81ED-4DB2-BD59-A6C34878D82A}">
                    <a16:rowId xmlns:a16="http://schemas.microsoft.com/office/drawing/2014/main" val="4083633728"/>
                  </a:ext>
                </a:extLst>
              </a:tr>
              <a:tr h="263724">
                <a:tc>
                  <a:txBody>
                    <a:bodyPr/>
                    <a:lstStyle/>
                    <a:p>
                      <a:pPr rtl="0" fontAlgn="b"/>
                      <a:r>
                        <a:rPr lang="en-US" sz="1100" dirty="0">
                          <a:effectLst/>
                          <a:latin typeface="+mj-lt"/>
                        </a:rPr>
                        <a:t>Mitigate Attacks with ACLs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Use ACLs to mitigate common network attacks.</a:t>
                      </a:r>
                    </a:p>
                  </a:txBody>
                  <a:tcPr marL="60168" marR="60168" marT="0" marB="0"/>
                </a:tc>
                <a:extLst>
                  <a:ext uri="{0D108BD9-81ED-4DB2-BD59-A6C34878D82A}">
                    <a16:rowId xmlns:a16="http://schemas.microsoft.com/office/drawing/2014/main" val="3920562962"/>
                  </a:ext>
                </a:extLst>
              </a:tr>
              <a:tr h="263724">
                <a:tc>
                  <a:txBody>
                    <a:bodyPr/>
                    <a:lstStyle/>
                    <a:p>
                      <a:pPr rtl="0" fontAlgn="b"/>
                      <a:r>
                        <a:rPr lang="en-US" sz="1100" dirty="0">
                          <a:effectLst/>
                          <a:latin typeface="+mj-lt"/>
                        </a:rPr>
                        <a:t>IPv6 ACLs</a:t>
                      </a:r>
                    </a:p>
                  </a:txBody>
                  <a:tcPr marL="0" marR="0" marT="12700" marB="12700" anchor="b"/>
                </a:tc>
                <a:tc>
                  <a:txBody>
                    <a:bodyPr/>
                    <a:lstStyle/>
                    <a:p>
                      <a:pPr marL="0" marR="0">
                        <a:lnSpc>
                          <a:spcPct val="107000"/>
                        </a:lnSpc>
                        <a:spcBef>
                          <a:spcPts val="0"/>
                        </a:spcBef>
                        <a:spcAft>
                          <a:spcPts val="0"/>
                        </a:spcAft>
                      </a:pPr>
                      <a:r>
                        <a:rPr lang="en-US" sz="1100" dirty="0">
                          <a:effectLst/>
                          <a:latin typeface="Arial" panose="020B0604020202020204" pitchFamily="34" charset="0"/>
                          <a:ea typeface="Calibri" panose="020F0502020204030204" pitchFamily="34" charset="0"/>
                          <a:cs typeface="Arial" panose="020B0604020202020204" pitchFamily="34" charset="0"/>
                        </a:rPr>
                        <a:t>Configure IPv6 ACLs using CLI.</a:t>
                      </a:r>
                    </a:p>
                  </a:txBody>
                  <a:tcPr marL="60168" marR="60168" marT="0" marB="0"/>
                </a:tc>
                <a:extLst>
                  <a:ext uri="{0D108BD9-81ED-4DB2-BD59-A6C34878D82A}">
                    <a16:rowId xmlns:a16="http://schemas.microsoft.com/office/drawing/2014/main" val="49992703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8.1 Introduction to Access Control Lists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Introduction to Access Control Lists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What is an ACL?</a:t>
            </a:r>
          </a:p>
        </p:txBody>
      </p:sp>
      <p:graphicFrame>
        <p:nvGraphicFramePr>
          <p:cNvPr id="10" name="Table 9"/>
          <p:cNvGraphicFramePr>
            <a:graphicFrameLocks noGrp="1"/>
          </p:cNvGraphicFramePr>
          <p:nvPr>
            <p:extLst>
              <p:ext uri="{D42A27DB-BD31-4B8C-83A1-F6EECF244321}">
                <p14:modId xmlns:p14="http://schemas.microsoft.com/office/powerpoint/2010/main" val="648881398"/>
              </p:ext>
            </p:extLst>
          </p:nvPr>
        </p:nvGraphicFramePr>
        <p:xfrm>
          <a:off x="91440" y="1169670"/>
          <a:ext cx="8961120" cy="3642360"/>
        </p:xfrm>
        <a:graphic>
          <a:graphicData uri="http://schemas.openxmlformats.org/drawingml/2006/table">
            <a:tbl>
              <a:tblPr/>
              <a:tblGrid>
                <a:gridCol w="2261235">
                  <a:extLst>
                    <a:ext uri="{9D8B030D-6E8A-4147-A177-3AD203B41FA5}">
                      <a16:colId xmlns:a16="http://schemas.microsoft.com/office/drawing/2014/main" val="20000"/>
                    </a:ext>
                  </a:extLst>
                </a:gridCol>
                <a:gridCol w="6699885">
                  <a:extLst>
                    <a:ext uri="{9D8B030D-6E8A-4147-A177-3AD203B41FA5}">
                      <a16:colId xmlns:a16="http://schemas.microsoft.com/office/drawing/2014/main" val="20001"/>
                    </a:ext>
                  </a:extLst>
                </a:gridCol>
              </a:tblGrid>
              <a:tr h="0">
                <a:tc>
                  <a:txBody>
                    <a:bodyPr/>
                    <a:lstStyle/>
                    <a:p>
                      <a:r>
                        <a:rPr lang="en-US" sz="1200" dirty="0">
                          <a:solidFill>
                            <a:srgbClr val="FFFFFF"/>
                          </a:solidFill>
                        </a:rPr>
                        <a:t>Task</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Example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Limit network traffic to increase network performance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A corporate policy prohibits video traffic on the network to reduce the network load.</a:t>
                      </a:r>
                      <a:endParaRPr lang="en-US" sz="1200" dirty="0"/>
                    </a:p>
                    <a:p>
                      <a:pPr marL="171450" indent="-171450">
                        <a:buFont typeface="Arial" panose="020B0604020202020204" pitchFamily="34" charset="0"/>
                        <a:buChar char="•"/>
                      </a:pPr>
                      <a:r>
                        <a:rPr lang="en-US" sz="1200" dirty="0">
                          <a:solidFill>
                            <a:srgbClr val="58585B"/>
                          </a:solidFill>
                        </a:rPr>
                        <a:t>A policy can be enforced using ACLs to block video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Provide traffic flow control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A corporate policy requires that routing protocol traffic be limited to certain links only. </a:t>
                      </a:r>
                      <a:endParaRPr lang="en-US" sz="1200" dirty="0"/>
                    </a:p>
                    <a:p>
                      <a:pPr marL="171450" indent="-171450">
                        <a:buFont typeface="Arial" panose="020B0604020202020204" pitchFamily="34" charset="0"/>
                        <a:buChar char="•"/>
                      </a:pPr>
                      <a:r>
                        <a:rPr lang="en-US" sz="1200" dirty="0">
                          <a:solidFill>
                            <a:srgbClr val="58585B"/>
                          </a:solidFill>
                        </a:rPr>
                        <a:t>A policy can be implemented using ACLs to restrict the delivery of routing updates to only those that come from a known source.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Provide a basic level of security for network access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Corporate policy demands that access to the Human Resources network be restricted to authorized users only. </a:t>
                      </a:r>
                      <a:endParaRPr lang="en-US" sz="1200" dirty="0"/>
                    </a:p>
                    <a:p>
                      <a:pPr marL="171450" indent="-171450">
                        <a:buFont typeface="Arial" panose="020B0604020202020204" pitchFamily="34" charset="0"/>
                        <a:buChar char="•"/>
                      </a:pPr>
                      <a:r>
                        <a:rPr lang="en-US" sz="1200" dirty="0">
                          <a:solidFill>
                            <a:srgbClr val="58585B"/>
                          </a:solidFill>
                        </a:rPr>
                        <a:t>A policy can be enforced using ACLs to limit access to specified networks.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Filter traffic based on traffic type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Corporate policy requires that email traffic be permitted into a network, but that Telnet access be denied. </a:t>
                      </a:r>
                      <a:endParaRPr lang="en-US" sz="1200" dirty="0"/>
                    </a:p>
                    <a:p>
                      <a:pPr marL="171450" indent="-171450">
                        <a:buFont typeface="Arial" panose="020B0604020202020204" pitchFamily="34" charset="0"/>
                        <a:buChar char="•"/>
                      </a:pPr>
                      <a:r>
                        <a:rPr lang="en-US" sz="1200" dirty="0">
                          <a:solidFill>
                            <a:srgbClr val="58585B"/>
                          </a:solidFill>
                        </a:rPr>
                        <a:t>A policy can be implemented using ACLs to filter traffic by type.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Screen hosts to permit or deny access to network services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Corporate policy requires that access to some file types (e.g., FTP or HTTP) be limited to user groups. </a:t>
                      </a:r>
                      <a:endParaRPr lang="en-US" sz="1200" dirty="0"/>
                    </a:p>
                    <a:p>
                      <a:pPr marL="171450" indent="-171450">
                        <a:buFont typeface="Arial" panose="020B0604020202020204" pitchFamily="34" charset="0"/>
                        <a:buChar char="•"/>
                      </a:pPr>
                      <a:r>
                        <a:rPr lang="en-US" sz="1200" dirty="0">
                          <a:solidFill>
                            <a:srgbClr val="58585B"/>
                          </a:solidFill>
                        </a:rPr>
                        <a:t>A policy can be implemented using ACLs to filter user access to services.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Provide priority to certain classes of network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Corporate traffic specifies that voice traffic be forwarded as fast as possible to avoid any interruption. </a:t>
                      </a:r>
                      <a:endParaRPr lang="en-US" sz="1200" dirty="0"/>
                    </a:p>
                    <a:p>
                      <a:pPr marL="171450" indent="-171450">
                        <a:buFont typeface="Arial" panose="020B0604020202020204" pitchFamily="34" charset="0"/>
                        <a:buChar char="•"/>
                      </a:pPr>
                      <a:r>
                        <a:rPr lang="en-US" sz="1200" dirty="0">
                          <a:solidFill>
                            <a:srgbClr val="58585B"/>
                          </a:solidFill>
                        </a:rPr>
                        <a:t>A policy can be implemented using ACLs and QoS services to identify voice traffic and process it immediately.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15</a:t>
            </a:fld>
            <a:endParaRPr lang="en-US" dirty="0"/>
          </a:p>
        </p:txBody>
      </p:sp>
      <p:sp>
        <p:nvSpPr>
          <p:cNvPr id="4" name="TextBox 3">
            <a:extLst>
              <a:ext uri="{FF2B5EF4-FFF2-40B4-BE49-F238E27FC236}">
                <a16:creationId xmlns:a16="http://schemas.microsoft.com/office/drawing/2014/main" id="{8C03F3B6-B449-47F8-A311-4E47A27416CE}"/>
              </a:ext>
            </a:extLst>
          </p:cNvPr>
          <p:cNvSpPr txBox="1"/>
          <p:nvPr/>
        </p:nvSpPr>
        <p:spPr>
          <a:xfrm>
            <a:off x="0" y="688122"/>
            <a:ext cx="8226419" cy="523220"/>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An ACL is a series of IOS commands that are used to filter packets based on information found in the </a:t>
            </a:r>
          </a:p>
          <a:p>
            <a:r>
              <a:rPr lang="en-US" sz="1400" dirty="0">
                <a:latin typeface="Arial" panose="020B0604020202020204" pitchFamily="34" charset="0"/>
                <a:cs typeface="Arial" panose="020B0604020202020204" pitchFamily="34" charset="0"/>
              </a:rPr>
              <a:t>packet header.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Introduction to Access Control Lists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Filtering</a:t>
            </a:r>
          </a:p>
        </p:txBody>
      </p:sp>
      <p:sp>
        <p:nvSpPr>
          <p:cNvPr id="5" name="Object4"/>
          <p:cNvSpPr/>
          <p:nvPr/>
        </p:nvSpPr>
        <p:spPr>
          <a:xfrm>
            <a:off x="104112" y="960120"/>
            <a:ext cx="3476625"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Packet filtering controls access to a network by analyzing the incoming and/or outgoing packets and forwarding them or discarding them based on given criteria. Packet filtering can occur at Layer 3 or Layer 4. Cisco routers support standard and extended ACLs.</a:t>
            </a:r>
            <a:endParaRPr lang="en-US"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dirty="0"/>
          </a:p>
        </p:txBody>
      </p:sp>
      <p:pic>
        <p:nvPicPr>
          <p:cNvPr id="4" name="Picture 3">
            <a:extLst>
              <a:ext uri="{FF2B5EF4-FFF2-40B4-BE49-F238E27FC236}">
                <a16:creationId xmlns:a16="http://schemas.microsoft.com/office/drawing/2014/main" id="{ACA111D8-C134-45EB-99A5-76F573F0E967}"/>
              </a:ext>
            </a:extLst>
          </p:cNvPr>
          <p:cNvPicPr>
            <a:picLocks noChangeAspect="1"/>
          </p:cNvPicPr>
          <p:nvPr/>
        </p:nvPicPr>
        <p:blipFill>
          <a:blip r:embed="rId3"/>
          <a:stretch>
            <a:fillRect/>
          </a:stretch>
        </p:blipFill>
        <p:spPr>
          <a:xfrm>
            <a:off x="3684848" y="792382"/>
            <a:ext cx="4851722" cy="35587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Introduction to Access Control Lists</a:t>
            </a:r>
          </a:p>
        </p:txBody>
      </p:sp>
      <p:sp>
        <p:nvSpPr>
          <p:cNvPr id="3" name="Object2"/>
          <p:cNvSpPr>
            <a:spLocks noGrp="1"/>
          </p:cNvSpPr>
          <p:nvPr>
            <p:ph type="body" idx="100" hasCustomPrompt="1"/>
          </p:nvPr>
        </p:nvSpPr>
        <p:spPr>
          <a:xfrm>
            <a:off x="0" y="274320"/>
            <a:ext cx="9144000" cy="487680"/>
          </a:xfrm>
          <a:prstGeom prst="rect">
            <a:avLst/>
          </a:prstGeom>
          <a:noFill/>
          <a:ln/>
        </p:spPr>
        <p:txBody>
          <a:bodyPr wrap="square" rtlCol="0"/>
          <a:lstStyle/>
          <a:p>
            <a:pPr marL="0" indent="0">
              <a:buNone/>
            </a:pPr>
            <a:r>
              <a:rPr lang="en-US" dirty="0"/>
              <a:t>Numbered and Named ACLs</a:t>
            </a:r>
          </a:p>
        </p:txBody>
      </p:sp>
      <p:sp>
        <p:nvSpPr>
          <p:cNvPr id="5" name="Object4"/>
          <p:cNvSpPr/>
          <p:nvPr/>
        </p:nvSpPr>
        <p:spPr>
          <a:xfrm>
            <a:off x="153733" y="1036320"/>
            <a:ext cx="4124325" cy="152400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Numbered ACLs - ACLs number 1 to 99, or 1300 to 1999 are standard ACLs while ACLs number 100 to 199, or 2000 to 2699 are extended ACLs, as shown in the output.</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dirty="0"/>
          </a:p>
        </p:txBody>
      </p:sp>
      <p:pic>
        <p:nvPicPr>
          <p:cNvPr id="4" name="Picture 3">
            <a:extLst>
              <a:ext uri="{FF2B5EF4-FFF2-40B4-BE49-F238E27FC236}">
                <a16:creationId xmlns:a16="http://schemas.microsoft.com/office/drawing/2014/main" id="{ADE08E4F-4809-4338-96DF-C0FBAF67A9F2}"/>
              </a:ext>
            </a:extLst>
          </p:cNvPr>
          <p:cNvPicPr>
            <a:picLocks noChangeAspect="1"/>
          </p:cNvPicPr>
          <p:nvPr/>
        </p:nvPicPr>
        <p:blipFill>
          <a:blip r:embed="rId3"/>
          <a:stretch>
            <a:fillRect/>
          </a:stretch>
        </p:blipFill>
        <p:spPr>
          <a:xfrm>
            <a:off x="4431791" y="762000"/>
            <a:ext cx="4404742" cy="1684166"/>
          </a:xfrm>
          <a:prstGeom prst="rect">
            <a:avLst/>
          </a:prstGeom>
        </p:spPr>
      </p:pic>
      <p:sp>
        <p:nvSpPr>
          <p:cNvPr id="6" name="TextBox 5">
            <a:extLst>
              <a:ext uri="{FF2B5EF4-FFF2-40B4-BE49-F238E27FC236}">
                <a16:creationId xmlns:a16="http://schemas.microsoft.com/office/drawing/2014/main" id="{E3F87F43-E367-4815-AE65-2DB6363D7C07}"/>
              </a:ext>
            </a:extLst>
          </p:cNvPr>
          <p:cNvSpPr txBox="1"/>
          <p:nvPr/>
        </p:nvSpPr>
        <p:spPr>
          <a:xfrm>
            <a:off x="114300" y="2698045"/>
            <a:ext cx="3705225" cy="1600438"/>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Named ACLs - Named ACLs is the preferred method to use when configuring ACLs. Specifically, standard and extended ACLs can be named to provide information about the purpose of the ACL. The </a:t>
            </a:r>
            <a:r>
              <a:rPr lang="en-US" sz="1400" b="1" dirty="0">
                <a:latin typeface="Arial" panose="020B0604020202020204" pitchFamily="34" charset="0"/>
                <a:cs typeface="Arial" panose="020B0604020202020204" pitchFamily="34" charset="0"/>
              </a:rPr>
              <a:t>ip access-list </a:t>
            </a:r>
            <a:r>
              <a:rPr lang="en-US" sz="1400" dirty="0">
                <a:latin typeface="Arial" panose="020B0604020202020204" pitchFamily="34" charset="0"/>
                <a:cs typeface="Arial" panose="020B0604020202020204" pitchFamily="34" charset="0"/>
              </a:rPr>
              <a:t>global configuration command is used to create a named ACL.</a:t>
            </a:r>
          </a:p>
        </p:txBody>
      </p:sp>
      <p:pic>
        <p:nvPicPr>
          <p:cNvPr id="7" name="Picture 6">
            <a:extLst>
              <a:ext uri="{FF2B5EF4-FFF2-40B4-BE49-F238E27FC236}">
                <a16:creationId xmlns:a16="http://schemas.microsoft.com/office/drawing/2014/main" id="{6DF4E8E1-C1DB-4C3E-AD8C-2437A187F54F}"/>
              </a:ext>
            </a:extLst>
          </p:cNvPr>
          <p:cNvPicPr>
            <a:picLocks noChangeAspect="1"/>
          </p:cNvPicPr>
          <p:nvPr/>
        </p:nvPicPr>
        <p:blipFill>
          <a:blip r:embed="rId4"/>
          <a:stretch>
            <a:fillRect/>
          </a:stretch>
        </p:blipFill>
        <p:spPr>
          <a:xfrm>
            <a:off x="4431791" y="2865172"/>
            <a:ext cx="4351397" cy="6172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Introduction to Access Control Lists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ACL Operation</a:t>
            </a:r>
          </a:p>
        </p:txBody>
      </p:sp>
      <p:sp>
        <p:nvSpPr>
          <p:cNvPr id="5" name="Object4"/>
          <p:cNvSpPr/>
          <p:nvPr/>
        </p:nvSpPr>
        <p:spPr>
          <a:xfrm>
            <a:off x="152400" y="731520"/>
            <a:ext cx="8610600" cy="250698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ACLs define the set of rules that give added control for packets that enter inbound interfaces, packets that relay through the router, and packets that exit outbound interfaces of the router.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An inbound ACL filters packets before they are routed to the outbound interface. If the packet is permitted by the ACL, it is then processed for routing. Inbound ACLs are best used to filter packets when the network attached to an inbound interface is the only source of packets that need to be examined.</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An outbound ACL filters packets after being routed, regardless of the inbound interface. Incoming packets are routed to the outbound interface and then they are processed through the outbound ACL. Outbound ACLs are best used when the same filter will be applied to packets coming from multiple inbound interfaces before exiting the same outbound interface.</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dirty="0"/>
          </a:p>
        </p:txBody>
      </p:sp>
      <p:pic>
        <p:nvPicPr>
          <p:cNvPr id="6" name="Picture 5">
            <a:extLst>
              <a:ext uri="{FF2B5EF4-FFF2-40B4-BE49-F238E27FC236}">
                <a16:creationId xmlns:a16="http://schemas.microsoft.com/office/drawing/2014/main" id="{6DF8561C-5310-4226-AF78-CE4D30CA74CA}"/>
              </a:ext>
            </a:extLst>
          </p:cNvPr>
          <p:cNvPicPr>
            <a:picLocks noChangeAspect="1"/>
          </p:cNvPicPr>
          <p:nvPr/>
        </p:nvPicPr>
        <p:blipFill>
          <a:blip r:embed="rId3"/>
          <a:stretch>
            <a:fillRect/>
          </a:stretch>
        </p:blipFill>
        <p:spPr>
          <a:xfrm>
            <a:off x="914400" y="1379187"/>
            <a:ext cx="6582818" cy="10593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Introduction to Access Control Lists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 ACL Demonstration</a:t>
            </a:r>
          </a:p>
        </p:txBody>
      </p:sp>
      <p:sp>
        <p:nvSpPr>
          <p:cNvPr id="5" name="Object4"/>
          <p:cNvSpPr/>
          <p:nvPr/>
        </p:nvSpPr>
        <p:spPr>
          <a:xfrm>
            <a:off x="0" y="914400"/>
            <a:ext cx="8797636"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In this activity, you will observe how an access control list (ACL) can be used to prevent a ping from reaching hosts on remote networks. After removing the ACL from the configuration, the pings will be successful.</a:t>
            </a:r>
            <a:endParaRPr lang="en-US"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8.2 Wildcard Masking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Wildcard Masking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Wildcard Mask Overview</a:t>
            </a:r>
          </a:p>
        </p:txBody>
      </p:sp>
      <p:graphicFrame>
        <p:nvGraphicFramePr>
          <p:cNvPr id="16" name="Table 15"/>
          <p:cNvGraphicFramePr>
            <a:graphicFrameLocks noGrp="1"/>
          </p:cNvGraphicFramePr>
          <p:nvPr>
            <p:extLst>
              <p:ext uri="{D42A27DB-BD31-4B8C-83A1-F6EECF244321}">
                <p14:modId xmlns:p14="http://schemas.microsoft.com/office/powerpoint/2010/main" val="3363092331"/>
              </p:ext>
            </p:extLst>
          </p:nvPr>
        </p:nvGraphicFramePr>
        <p:xfrm>
          <a:off x="962892" y="1503854"/>
          <a:ext cx="7259782" cy="3032760"/>
        </p:xfrm>
        <a:graphic>
          <a:graphicData uri="http://schemas.openxmlformats.org/drawingml/2006/table">
            <a:tbl>
              <a:tblPr/>
              <a:tblGrid>
                <a:gridCol w="1274163">
                  <a:extLst>
                    <a:ext uri="{9D8B030D-6E8A-4147-A177-3AD203B41FA5}">
                      <a16:colId xmlns:a16="http://schemas.microsoft.com/office/drawing/2014/main" val="20000"/>
                    </a:ext>
                  </a:extLst>
                </a:gridCol>
                <a:gridCol w="1351572">
                  <a:extLst>
                    <a:ext uri="{9D8B030D-6E8A-4147-A177-3AD203B41FA5}">
                      <a16:colId xmlns:a16="http://schemas.microsoft.com/office/drawing/2014/main" val="20001"/>
                    </a:ext>
                  </a:extLst>
                </a:gridCol>
                <a:gridCol w="4634047">
                  <a:extLst>
                    <a:ext uri="{9D8B030D-6E8A-4147-A177-3AD203B41FA5}">
                      <a16:colId xmlns:a16="http://schemas.microsoft.com/office/drawing/2014/main" val="20002"/>
                    </a:ext>
                  </a:extLst>
                </a:gridCol>
              </a:tblGrid>
              <a:tr h="376884">
                <a:tc>
                  <a:txBody>
                    <a:bodyPr/>
                    <a:lstStyle/>
                    <a:p>
                      <a:r>
                        <a:rPr lang="en-US" sz="1200" b="1" dirty="0">
                          <a:solidFill>
                            <a:schemeClr val="bg1"/>
                          </a:solidFill>
                          <a:effectLst/>
                        </a:rPr>
                        <a:t>Wildcard Mask</a:t>
                      </a:r>
                      <a:endParaRPr lang="en-US" sz="1200" dirty="0">
                        <a:solidFill>
                          <a:schemeClr val="bg1"/>
                        </a:solidFill>
                        <a:effectLst/>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b="1" dirty="0">
                          <a:solidFill>
                            <a:schemeClr val="bg1"/>
                          </a:solidFill>
                          <a:effectLst/>
                        </a:rPr>
                        <a:t>Last Octet </a:t>
                      </a:r>
                      <a:br>
                        <a:rPr lang="en-US" sz="1200" b="1" dirty="0">
                          <a:solidFill>
                            <a:schemeClr val="bg1"/>
                          </a:solidFill>
                          <a:effectLst/>
                        </a:rPr>
                      </a:br>
                      <a:r>
                        <a:rPr lang="en-US" sz="1200" b="1" dirty="0">
                          <a:solidFill>
                            <a:schemeClr val="bg1"/>
                          </a:solidFill>
                          <a:effectLst/>
                        </a:rPr>
                        <a:t>(in Binary)</a:t>
                      </a:r>
                      <a:endParaRPr lang="en-US" sz="1200" dirty="0">
                        <a:solidFill>
                          <a:schemeClr val="bg1"/>
                        </a:solidFill>
                        <a:effectLst/>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b="1" dirty="0">
                          <a:solidFill>
                            <a:schemeClr val="bg1"/>
                          </a:solidFill>
                        </a:rPr>
                        <a:t>Meaning (0 - match, 1 - ignore)</a:t>
                      </a:r>
                      <a:endParaRPr lang="en-US" sz="1200" dirty="0">
                        <a:solidFill>
                          <a:schemeClr val="bg1"/>
                        </a:solidFill>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213567">
                <a:tc>
                  <a:txBody>
                    <a:bodyPr/>
                    <a:lstStyle/>
                    <a:p>
                      <a:r>
                        <a:rPr lang="en-US" sz="1200" b="1" dirty="0">
                          <a:solidFill>
                            <a:srgbClr val="58585B"/>
                          </a:solidFill>
                          <a:latin typeface="Courier New" panose="02070309020205020404" pitchFamily="49" charset="0"/>
                          <a:cs typeface="Courier New" panose="02070309020205020404" pitchFamily="49" charset="0"/>
                        </a:rPr>
                        <a:t>0.0.0.0</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00000000</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Match all octets.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515075">
                <a:tc>
                  <a:txBody>
                    <a:bodyPr/>
                    <a:lstStyle/>
                    <a:p>
                      <a:r>
                        <a:rPr lang="en-US" sz="1200" b="1" dirty="0">
                          <a:solidFill>
                            <a:srgbClr val="58585B"/>
                          </a:solidFill>
                          <a:latin typeface="Courier New" panose="02070309020205020404" pitchFamily="49" charset="0"/>
                          <a:cs typeface="Courier New" panose="02070309020205020404" pitchFamily="49" charset="0"/>
                        </a:rPr>
                        <a:t>0.0.0.63</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00111111</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Match the first three octets</a:t>
                      </a:r>
                      <a:endParaRPr lang="en-US" sz="1200" dirty="0"/>
                    </a:p>
                    <a:p>
                      <a:pPr marL="171450" indent="-171450">
                        <a:buFont typeface="Arial" panose="020B0604020202020204" pitchFamily="34" charset="0"/>
                        <a:buChar char="•"/>
                      </a:pPr>
                      <a:r>
                        <a:rPr lang="en-US" sz="1200" dirty="0">
                          <a:solidFill>
                            <a:srgbClr val="58585B"/>
                          </a:solidFill>
                        </a:rPr>
                        <a:t>Match the two left most bits of the last octet</a:t>
                      </a:r>
                      <a:endParaRPr lang="en-US" sz="1200" dirty="0"/>
                    </a:p>
                    <a:p>
                      <a:pPr marL="171450" indent="-171450">
                        <a:buFont typeface="Arial" panose="020B0604020202020204" pitchFamily="34" charset="0"/>
                        <a:buChar char="•"/>
                      </a:pPr>
                      <a:r>
                        <a:rPr lang="en-US" sz="1200" dirty="0">
                          <a:solidFill>
                            <a:srgbClr val="58585B"/>
                          </a:solidFill>
                        </a:rPr>
                        <a:t>Ignore the last 6 bits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515075">
                <a:tc>
                  <a:txBody>
                    <a:bodyPr/>
                    <a:lstStyle/>
                    <a:p>
                      <a:r>
                        <a:rPr lang="en-US" sz="1200" b="1" dirty="0">
                          <a:solidFill>
                            <a:srgbClr val="58585B"/>
                          </a:solidFill>
                          <a:latin typeface="Courier New" panose="02070309020205020404" pitchFamily="49" charset="0"/>
                          <a:cs typeface="Courier New" panose="02070309020205020404" pitchFamily="49" charset="0"/>
                        </a:rPr>
                        <a:t>0.0.0.15</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00001111</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Match the first three octets</a:t>
                      </a:r>
                      <a:endParaRPr lang="en-US" sz="1200" dirty="0"/>
                    </a:p>
                    <a:p>
                      <a:pPr marL="171450" indent="-171450">
                        <a:buFont typeface="Arial" panose="020B0604020202020204" pitchFamily="34" charset="0"/>
                        <a:buChar char="•"/>
                      </a:pPr>
                      <a:r>
                        <a:rPr lang="en-US" sz="1200" dirty="0">
                          <a:solidFill>
                            <a:srgbClr val="58585B"/>
                          </a:solidFill>
                        </a:rPr>
                        <a:t>Match the four left most bits of the last octet</a:t>
                      </a:r>
                      <a:endParaRPr lang="en-US" sz="1200" dirty="0"/>
                    </a:p>
                    <a:p>
                      <a:pPr marL="171450" indent="-171450">
                        <a:buFont typeface="Arial" panose="020B0604020202020204" pitchFamily="34" charset="0"/>
                        <a:buChar char="•"/>
                      </a:pPr>
                      <a:r>
                        <a:rPr lang="en-US" sz="1200" dirty="0">
                          <a:solidFill>
                            <a:srgbClr val="58585B"/>
                          </a:solidFill>
                        </a:rPr>
                        <a:t>Ignore the last 4 bits of the last octet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515075">
                <a:tc>
                  <a:txBody>
                    <a:bodyPr/>
                    <a:lstStyle/>
                    <a:p>
                      <a:r>
                        <a:rPr lang="en-US" sz="1200" b="1" dirty="0">
                          <a:solidFill>
                            <a:srgbClr val="58585B"/>
                          </a:solidFill>
                          <a:latin typeface="Courier New" panose="02070309020205020404" pitchFamily="49" charset="0"/>
                          <a:cs typeface="Courier New" panose="02070309020205020404" pitchFamily="49" charset="0"/>
                        </a:rPr>
                        <a:t>0.0.0.252</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11111100</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Match the first three octets</a:t>
                      </a:r>
                      <a:endParaRPr lang="en-US" sz="1200" dirty="0"/>
                    </a:p>
                    <a:p>
                      <a:pPr marL="171450" indent="-171450">
                        <a:buFont typeface="Arial" panose="020B0604020202020204" pitchFamily="34" charset="0"/>
                        <a:buChar char="•"/>
                      </a:pPr>
                      <a:r>
                        <a:rPr lang="en-US" sz="1200" dirty="0">
                          <a:solidFill>
                            <a:srgbClr val="58585B"/>
                          </a:solidFill>
                        </a:rPr>
                        <a:t>Ignore the six left most bits of the last octet</a:t>
                      </a:r>
                      <a:endParaRPr lang="en-US" sz="1200" dirty="0"/>
                    </a:p>
                    <a:p>
                      <a:pPr marL="171450" indent="-171450">
                        <a:buFont typeface="Arial" panose="020B0604020202020204" pitchFamily="34" charset="0"/>
                        <a:buChar char="•"/>
                      </a:pPr>
                      <a:r>
                        <a:rPr lang="en-US" sz="1200" dirty="0">
                          <a:solidFill>
                            <a:srgbClr val="58585B"/>
                          </a:solidFill>
                        </a:rPr>
                        <a:t>Match the last two bits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364321">
                <a:tc>
                  <a:txBody>
                    <a:bodyPr/>
                    <a:lstStyle/>
                    <a:p>
                      <a:r>
                        <a:rPr lang="en-US" sz="1200" b="1" dirty="0">
                          <a:solidFill>
                            <a:srgbClr val="58585B"/>
                          </a:solidFill>
                          <a:latin typeface="Courier New" panose="02070309020205020404" pitchFamily="49" charset="0"/>
                          <a:cs typeface="Courier New" panose="02070309020205020404" pitchFamily="49" charset="0"/>
                        </a:rPr>
                        <a:t>0.0.0.255</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b="1" dirty="0">
                          <a:solidFill>
                            <a:srgbClr val="58585B"/>
                          </a:solidFill>
                          <a:latin typeface="Courier New" panose="02070309020205020404" pitchFamily="49" charset="0"/>
                          <a:cs typeface="Courier New" panose="02070309020205020404" pitchFamily="49" charset="0"/>
                        </a:rPr>
                        <a:t>11111111</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Match the first three octet</a:t>
                      </a:r>
                      <a:endParaRPr lang="en-US" sz="1200" dirty="0"/>
                    </a:p>
                    <a:p>
                      <a:pPr marL="171450" indent="-171450">
                        <a:buFont typeface="Arial" panose="020B0604020202020204" pitchFamily="34" charset="0"/>
                        <a:buChar char="•"/>
                      </a:pPr>
                      <a:r>
                        <a:rPr lang="en-US" sz="1200" dirty="0">
                          <a:solidFill>
                            <a:srgbClr val="58585B"/>
                          </a:solidFill>
                        </a:rPr>
                        <a:t>Ignore the last octet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21</a:t>
            </a:fld>
            <a:endParaRPr lang="en-US" dirty="0"/>
          </a:p>
        </p:txBody>
      </p:sp>
      <p:sp>
        <p:nvSpPr>
          <p:cNvPr id="4" name="TextBox 3">
            <a:extLst>
              <a:ext uri="{FF2B5EF4-FFF2-40B4-BE49-F238E27FC236}">
                <a16:creationId xmlns:a16="http://schemas.microsoft.com/office/drawing/2014/main" id="{CEC5881A-2C20-4EE6-A057-0A19AB0E9F9B}"/>
              </a:ext>
            </a:extLst>
          </p:cNvPr>
          <p:cNvSpPr txBox="1"/>
          <p:nvPr/>
        </p:nvSpPr>
        <p:spPr>
          <a:xfrm>
            <a:off x="0" y="672655"/>
            <a:ext cx="9052560"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 wildcard mask is like a subnet mask in that it uses the ANDing process to identify which bits in an IPv4 address to match. However, they differ in the way they match binary 1s and 0s. Unlike a subnet mask, in which binary 1 is equal to a match and binary 0 is not a match, in a wildcard mask, the reverse is true.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Wildcard Masking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Wildcard Mask Types</a:t>
            </a:r>
          </a:p>
        </p:txBody>
      </p:sp>
      <p:sp>
        <p:nvSpPr>
          <p:cNvPr id="5" name="Object4"/>
          <p:cNvSpPr/>
          <p:nvPr/>
        </p:nvSpPr>
        <p:spPr>
          <a:xfrm>
            <a:off x="400050" y="895350"/>
            <a:ext cx="2209800" cy="34290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Wildcard Mask to Match a Host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22</a:t>
            </a:fld>
            <a:endParaRPr lang="en-US" dirty="0"/>
          </a:p>
        </p:txBody>
      </p:sp>
      <p:pic>
        <p:nvPicPr>
          <p:cNvPr id="4" name="Picture 3">
            <a:extLst>
              <a:ext uri="{FF2B5EF4-FFF2-40B4-BE49-F238E27FC236}">
                <a16:creationId xmlns:a16="http://schemas.microsoft.com/office/drawing/2014/main" id="{6BFDD49C-FAE2-4436-82F3-7D16B7F4595F}"/>
              </a:ext>
            </a:extLst>
          </p:cNvPr>
          <p:cNvPicPr>
            <a:picLocks noChangeAspect="1"/>
          </p:cNvPicPr>
          <p:nvPr/>
        </p:nvPicPr>
        <p:blipFill>
          <a:blip r:embed="rId3"/>
          <a:stretch>
            <a:fillRect/>
          </a:stretch>
        </p:blipFill>
        <p:spPr>
          <a:xfrm>
            <a:off x="3981252" y="909567"/>
            <a:ext cx="4572396" cy="967824"/>
          </a:xfrm>
          <a:prstGeom prst="rect">
            <a:avLst/>
          </a:prstGeom>
        </p:spPr>
      </p:pic>
      <p:sp>
        <p:nvSpPr>
          <p:cNvPr id="7" name="Object4">
            <a:extLst>
              <a:ext uri="{FF2B5EF4-FFF2-40B4-BE49-F238E27FC236}">
                <a16:creationId xmlns:a16="http://schemas.microsoft.com/office/drawing/2014/main" id="{22F84606-7BF7-46BB-B322-79DF0B936F63}"/>
              </a:ext>
            </a:extLst>
          </p:cNvPr>
          <p:cNvSpPr/>
          <p:nvPr/>
        </p:nvSpPr>
        <p:spPr>
          <a:xfrm>
            <a:off x="400050" y="2143125"/>
            <a:ext cx="2209800" cy="34290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Wildcard Mask to Match an IPv4 Subnet  </a:t>
            </a:r>
            <a:endParaRPr lang="en-US" sz="1400" dirty="0"/>
          </a:p>
        </p:txBody>
      </p:sp>
      <p:pic>
        <p:nvPicPr>
          <p:cNvPr id="6" name="Picture 5">
            <a:extLst>
              <a:ext uri="{FF2B5EF4-FFF2-40B4-BE49-F238E27FC236}">
                <a16:creationId xmlns:a16="http://schemas.microsoft.com/office/drawing/2014/main" id="{865DB182-6267-4FCB-BF6F-64F8E1B92246}"/>
              </a:ext>
            </a:extLst>
          </p:cNvPr>
          <p:cNvPicPr>
            <a:picLocks noChangeAspect="1"/>
          </p:cNvPicPr>
          <p:nvPr/>
        </p:nvPicPr>
        <p:blipFill>
          <a:blip r:embed="rId4"/>
          <a:stretch>
            <a:fillRect/>
          </a:stretch>
        </p:blipFill>
        <p:spPr>
          <a:xfrm>
            <a:off x="3988872" y="2162175"/>
            <a:ext cx="4557155" cy="960203"/>
          </a:xfrm>
          <a:prstGeom prst="rect">
            <a:avLst/>
          </a:prstGeom>
        </p:spPr>
      </p:pic>
      <p:sp>
        <p:nvSpPr>
          <p:cNvPr id="9" name="Object4">
            <a:extLst>
              <a:ext uri="{FF2B5EF4-FFF2-40B4-BE49-F238E27FC236}">
                <a16:creationId xmlns:a16="http://schemas.microsoft.com/office/drawing/2014/main" id="{C1E3580C-DBD4-47FF-8513-1D2AA5BE6EFA}"/>
              </a:ext>
            </a:extLst>
          </p:cNvPr>
          <p:cNvSpPr/>
          <p:nvPr/>
        </p:nvSpPr>
        <p:spPr>
          <a:xfrm>
            <a:off x="400050" y="3305175"/>
            <a:ext cx="2209800" cy="34290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Wildcard Mask to Match an IPv4 Address Range  </a:t>
            </a:r>
            <a:endParaRPr lang="en-US" sz="1400" dirty="0"/>
          </a:p>
        </p:txBody>
      </p:sp>
      <p:pic>
        <p:nvPicPr>
          <p:cNvPr id="8" name="Picture 7">
            <a:extLst>
              <a:ext uri="{FF2B5EF4-FFF2-40B4-BE49-F238E27FC236}">
                <a16:creationId xmlns:a16="http://schemas.microsoft.com/office/drawing/2014/main" id="{68719A92-A305-4110-988D-6673B1E2C1A9}"/>
              </a:ext>
            </a:extLst>
          </p:cNvPr>
          <p:cNvPicPr>
            <a:picLocks noChangeAspect="1"/>
          </p:cNvPicPr>
          <p:nvPr/>
        </p:nvPicPr>
        <p:blipFill>
          <a:blip r:embed="rId5"/>
          <a:stretch>
            <a:fillRect/>
          </a:stretch>
        </p:blipFill>
        <p:spPr>
          <a:xfrm>
            <a:off x="3988872" y="3305175"/>
            <a:ext cx="4564776" cy="125740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Wildcard Masking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Wildcard Mask Calculation</a:t>
            </a:r>
          </a:p>
        </p:txBody>
      </p:sp>
      <p:sp>
        <p:nvSpPr>
          <p:cNvPr id="5" name="Object4"/>
          <p:cNvSpPr/>
          <p:nvPr/>
        </p:nvSpPr>
        <p:spPr>
          <a:xfrm>
            <a:off x="180975" y="731520"/>
            <a:ext cx="8229600" cy="64008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Calculating wildcard masks can be challenging. One shortcut method is to subtract the subnet mask from 255.255.255.255.</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23</a:t>
            </a:fld>
            <a:endParaRPr lang="en-US" dirty="0"/>
          </a:p>
        </p:txBody>
      </p:sp>
      <p:sp>
        <p:nvSpPr>
          <p:cNvPr id="4" name="TextBox 3">
            <a:extLst>
              <a:ext uri="{FF2B5EF4-FFF2-40B4-BE49-F238E27FC236}">
                <a16:creationId xmlns:a16="http://schemas.microsoft.com/office/drawing/2014/main" id="{85728F69-E618-4384-91A4-CCF8BC5C0D4E}"/>
              </a:ext>
            </a:extLst>
          </p:cNvPr>
          <p:cNvSpPr txBox="1"/>
          <p:nvPr/>
        </p:nvSpPr>
        <p:spPr>
          <a:xfrm>
            <a:off x="285750" y="1533525"/>
            <a:ext cx="3086100" cy="2893100"/>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Assume you wanted an ACE in ACL 10 to permit access to all users in the 192.168.3.0/24 network. To calculate the wildcard mask, subtract the subnet mask (i.e., 255.255.255.0) from 255.255.255.255, as shown in the table.</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 solution produces the wildcard mask 0.0.0.255. Therefore, the ACE would be </a:t>
            </a:r>
            <a:r>
              <a:rPr lang="en-US" sz="1400" b="1" dirty="0">
                <a:latin typeface="Arial" panose="020B0604020202020204" pitchFamily="34" charset="0"/>
                <a:cs typeface="Arial" panose="020B0604020202020204" pitchFamily="34" charset="0"/>
              </a:rPr>
              <a:t>access-list 10 permit 192.168.3.0 0.0.0.255</a:t>
            </a:r>
            <a:r>
              <a:rPr lang="en-US" sz="1400" dirty="0">
                <a:latin typeface="Arial" panose="020B0604020202020204" pitchFamily="34" charset="0"/>
                <a:cs typeface="Arial" panose="020B0604020202020204" pitchFamily="34" charset="0"/>
              </a:rPr>
              <a:t>.</a:t>
            </a:r>
          </a:p>
        </p:txBody>
      </p:sp>
      <p:pic>
        <p:nvPicPr>
          <p:cNvPr id="6" name="Picture 5">
            <a:extLst>
              <a:ext uri="{FF2B5EF4-FFF2-40B4-BE49-F238E27FC236}">
                <a16:creationId xmlns:a16="http://schemas.microsoft.com/office/drawing/2014/main" id="{BC0E8050-167B-40C9-8CC2-593D630C28DB}"/>
              </a:ext>
            </a:extLst>
          </p:cNvPr>
          <p:cNvPicPr>
            <a:picLocks noChangeAspect="1"/>
          </p:cNvPicPr>
          <p:nvPr/>
        </p:nvPicPr>
        <p:blipFill>
          <a:blip r:embed="rId3"/>
          <a:stretch>
            <a:fillRect/>
          </a:stretch>
        </p:blipFill>
        <p:spPr>
          <a:xfrm>
            <a:off x="4059272" y="1996112"/>
            <a:ext cx="4514806" cy="11512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Wildcard Masking</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Wildcard Mask Keywords</a:t>
            </a:r>
          </a:p>
        </p:txBody>
      </p:sp>
      <p:sp>
        <p:nvSpPr>
          <p:cNvPr id="5" name="Object4"/>
          <p:cNvSpPr/>
          <p:nvPr/>
        </p:nvSpPr>
        <p:spPr>
          <a:xfrm>
            <a:off x="-1" y="784860"/>
            <a:ext cx="9001125" cy="192786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Keywords reduce ACL keystrokes and make it easier to read the ACE:</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host</a:t>
            </a:r>
            <a:r>
              <a:rPr lang="en-US" sz="1400" dirty="0">
                <a:solidFill>
                  <a:srgbClr val="000000"/>
                </a:solidFill>
                <a:latin typeface="Arial" pitchFamily="34" charset="0"/>
                <a:ea typeface="Arial" pitchFamily="34" charset="-122"/>
                <a:cs typeface="Arial" pitchFamily="34" charset="-120"/>
              </a:rPr>
              <a:t> - This keyword substitutes for the 0.0.0.0 mask. This mask states that all IPv4 address bits must match to filter just one host address.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any</a:t>
            </a:r>
            <a:r>
              <a:rPr lang="en-US" sz="1400" dirty="0">
                <a:solidFill>
                  <a:srgbClr val="000000"/>
                </a:solidFill>
                <a:latin typeface="Arial" pitchFamily="34" charset="0"/>
                <a:ea typeface="Arial" pitchFamily="34" charset="-122"/>
                <a:cs typeface="Arial" pitchFamily="34" charset="-120"/>
              </a:rPr>
              <a:t> - This keyword substitutes for the 255.255.255.255 mask. This mask says to ignore the entire IPv4 address or to accept any addresses.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For example, these ACL commands…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…can be rewritten as follows: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24</a:t>
            </a:fld>
            <a:endParaRPr lang="en-US" dirty="0"/>
          </a:p>
        </p:txBody>
      </p:sp>
      <p:pic>
        <p:nvPicPr>
          <p:cNvPr id="7" name="Picture 6">
            <a:extLst>
              <a:ext uri="{FF2B5EF4-FFF2-40B4-BE49-F238E27FC236}">
                <a16:creationId xmlns:a16="http://schemas.microsoft.com/office/drawing/2014/main" id="{3B5D73C8-0D27-402A-A3B5-0813E2F853BF}"/>
              </a:ext>
            </a:extLst>
          </p:cNvPr>
          <p:cNvPicPr>
            <a:picLocks noChangeAspect="1"/>
          </p:cNvPicPr>
          <p:nvPr/>
        </p:nvPicPr>
        <p:blipFill>
          <a:blip r:embed="rId3"/>
          <a:stretch>
            <a:fillRect/>
          </a:stretch>
        </p:blipFill>
        <p:spPr>
          <a:xfrm>
            <a:off x="1988959" y="4037948"/>
            <a:ext cx="4877051" cy="641383"/>
          </a:xfrm>
          <a:prstGeom prst="rect">
            <a:avLst/>
          </a:prstGeom>
        </p:spPr>
      </p:pic>
      <p:pic>
        <p:nvPicPr>
          <p:cNvPr id="9" name="Picture 8">
            <a:extLst>
              <a:ext uri="{FF2B5EF4-FFF2-40B4-BE49-F238E27FC236}">
                <a16:creationId xmlns:a16="http://schemas.microsoft.com/office/drawing/2014/main" id="{A3179B13-E5C9-472C-9ACD-00C82AF1A8BE}"/>
              </a:ext>
            </a:extLst>
          </p:cNvPr>
          <p:cNvPicPr>
            <a:picLocks noChangeAspect="1"/>
          </p:cNvPicPr>
          <p:nvPr/>
        </p:nvPicPr>
        <p:blipFill>
          <a:blip r:embed="rId4"/>
          <a:stretch>
            <a:fillRect/>
          </a:stretch>
        </p:blipFill>
        <p:spPr>
          <a:xfrm>
            <a:off x="1988958" y="2746651"/>
            <a:ext cx="4878401" cy="64138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8.3 Configure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481818"/>
          </a:xfrm>
          <a:prstGeom prst="rect">
            <a:avLst/>
          </a:prstGeom>
          <a:noFill/>
          <a:ln/>
        </p:spPr>
        <p:txBody>
          <a:bodyPr wrap="square" rtlCol="0"/>
          <a:lstStyle/>
          <a:p>
            <a:pPr marL="0" indent="0">
              <a:buNone/>
            </a:pPr>
            <a:r>
              <a:rPr lang="en-US" dirty="0"/>
              <a:t>Create an ACL</a:t>
            </a:r>
          </a:p>
        </p:txBody>
      </p:sp>
      <p:sp>
        <p:nvSpPr>
          <p:cNvPr id="5" name="Object4"/>
          <p:cNvSpPr/>
          <p:nvPr/>
        </p:nvSpPr>
        <p:spPr>
          <a:xfrm>
            <a:off x="159328" y="914400"/>
            <a:ext cx="8669362"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When configuring a complex ACL, it is suggested that you:</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Use a text editor and write out the specifics of the policy to be implemented.</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Add the IOS configuration commands to accomplish those tasks.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Include remarks to document the ACL.</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Copy and paste the commands onto the device.</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Always thoroughly test an ACL to ensure that it correctly applies the desired policy</a:t>
            </a:r>
            <a:r>
              <a:rPr lang="en-US" sz="1400" dirty="0">
                <a:solidFill>
                  <a:srgbClr val="000000"/>
                </a:solidFill>
                <a:latin typeface="Arial" pitchFamily="34" charset="0"/>
                <a:ea typeface="Arial" pitchFamily="34" charset="-122"/>
                <a:cs typeface="Arial" pitchFamily="34" charset="-120"/>
              </a:rPr>
              <a:t>.</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Numbered Standard IPv4 ACL Syntax</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27</a:t>
            </a:fld>
            <a:endParaRPr lang="en-US" dirty="0"/>
          </a:p>
        </p:txBody>
      </p:sp>
      <p:sp>
        <p:nvSpPr>
          <p:cNvPr id="7" name="TextBox 6">
            <a:extLst>
              <a:ext uri="{FF2B5EF4-FFF2-40B4-BE49-F238E27FC236}">
                <a16:creationId xmlns:a16="http://schemas.microsoft.com/office/drawing/2014/main" id="{CC13B745-A7F9-4A9D-AADE-939E3678F708}"/>
              </a:ext>
            </a:extLst>
          </p:cNvPr>
          <p:cNvSpPr txBox="1"/>
          <p:nvPr/>
        </p:nvSpPr>
        <p:spPr>
          <a:xfrm>
            <a:off x="155330" y="880943"/>
            <a:ext cx="7973208" cy="338554"/>
          </a:xfrm>
          <a:prstGeom prst="rect">
            <a:avLst/>
          </a:prstGeom>
          <a:noFill/>
        </p:spPr>
        <p:txBody>
          <a:bodyPr wrap="none" rtlCol="0">
            <a:spAutoFit/>
          </a:bodyPr>
          <a:lstStyle/>
          <a:p>
            <a:r>
              <a:rPr lang="en-US" sz="1600" dirty="0">
                <a:latin typeface="Arial" panose="020B0604020202020204" pitchFamily="34" charset="0"/>
                <a:cs typeface="Arial" panose="020B0604020202020204" pitchFamily="34" charset="0"/>
              </a:rPr>
              <a:t>To create a numbered standard ACL, use the following global configuration command:</a:t>
            </a:r>
          </a:p>
        </p:txBody>
      </p:sp>
      <p:pic>
        <p:nvPicPr>
          <p:cNvPr id="5" name="Picture 4">
            <a:extLst>
              <a:ext uri="{FF2B5EF4-FFF2-40B4-BE49-F238E27FC236}">
                <a16:creationId xmlns:a16="http://schemas.microsoft.com/office/drawing/2014/main" id="{EA896461-C369-4212-B9D4-1456D94E49D2}"/>
              </a:ext>
            </a:extLst>
          </p:cNvPr>
          <p:cNvPicPr>
            <a:picLocks noChangeAspect="1"/>
          </p:cNvPicPr>
          <p:nvPr/>
        </p:nvPicPr>
        <p:blipFill>
          <a:blip r:embed="rId3"/>
          <a:stretch>
            <a:fillRect/>
          </a:stretch>
        </p:blipFill>
        <p:spPr>
          <a:xfrm>
            <a:off x="208104" y="1415637"/>
            <a:ext cx="8727791" cy="503306"/>
          </a:xfrm>
          <a:prstGeom prst="rect">
            <a:avLst/>
          </a:prstGeom>
        </p:spPr>
      </p:pic>
      <p:sp>
        <p:nvSpPr>
          <p:cNvPr id="10" name="TextBox 9">
            <a:extLst>
              <a:ext uri="{FF2B5EF4-FFF2-40B4-BE49-F238E27FC236}">
                <a16:creationId xmlns:a16="http://schemas.microsoft.com/office/drawing/2014/main" id="{C381A680-C656-41C6-806E-CCF85628B68F}"/>
              </a:ext>
            </a:extLst>
          </p:cNvPr>
          <p:cNvSpPr txBox="1"/>
          <p:nvPr/>
        </p:nvSpPr>
        <p:spPr>
          <a:xfrm>
            <a:off x="208104" y="2124105"/>
            <a:ext cx="8273562"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no access-list </a:t>
            </a:r>
            <a:r>
              <a:rPr lang="en-US" sz="1600" i="1" dirty="0">
                <a:latin typeface="Arial" panose="020B0604020202020204" pitchFamily="34" charset="0"/>
                <a:cs typeface="Arial" panose="020B0604020202020204" pitchFamily="34" charset="0"/>
              </a:rPr>
              <a:t>access-list-number</a:t>
            </a:r>
            <a:r>
              <a:rPr lang="en-US" sz="1600" dirty="0">
                <a:latin typeface="Arial" panose="020B0604020202020204" pitchFamily="34" charset="0"/>
                <a:cs typeface="Arial" panose="020B0604020202020204" pitchFamily="34" charset="0"/>
              </a:rPr>
              <a:t> global configuration command to remove a numbered standard ACL.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Numbered Standard IPv4 ACL Syntax (Cont.)</a:t>
            </a:r>
          </a:p>
        </p:txBody>
      </p:sp>
      <p:graphicFrame>
        <p:nvGraphicFramePr>
          <p:cNvPr id="23" name="Table 22"/>
          <p:cNvGraphicFramePr>
            <a:graphicFrameLocks noGrp="1"/>
          </p:cNvGraphicFramePr>
          <p:nvPr>
            <p:extLst>
              <p:ext uri="{D42A27DB-BD31-4B8C-83A1-F6EECF244321}">
                <p14:modId xmlns:p14="http://schemas.microsoft.com/office/powerpoint/2010/main" val="767000649"/>
              </p:ext>
            </p:extLst>
          </p:nvPr>
        </p:nvGraphicFramePr>
        <p:xfrm>
          <a:off x="91440" y="1010373"/>
          <a:ext cx="8961120" cy="3718560"/>
        </p:xfrm>
        <a:graphic>
          <a:graphicData uri="http://schemas.openxmlformats.org/drawingml/2006/table">
            <a:tbl>
              <a:tblPr/>
              <a:tblGrid>
                <a:gridCol w="1959302">
                  <a:extLst>
                    <a:ext uri="{9D8B030D-6E8A-4147-A177-3AD203B41FA5}">
                      <a16:colId xmlns:a16="http://schemas.microsoft.com/office/drawing/2014/main" val="20000"/>
                    </a:ext>
                  </a:extLst>
                </a:gridCol>
                <a:gridCol w="7001818">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access-list-number</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This is the decimal number of the ACL. </a:t>
                      </a:r>
                      <a:endParaRPr lang="en-US" sz="1200" dirty="0"/>
                    </a:p>
                    <a:p>
                      <a:pPr marL="171450" indent="-171450">
                        <a:buFont typeface="Arial" panose="020B0604020202020204" pitchFamily="34" charset="0"/>
                        <a:buChar char="•"/>
                      </a:pPr>
                      <a:r>
                        <a:rPr lang="en-US" sz="1200" dirty="0">
                          <a:solidFill>
                            <a:srgbClr val="58585B"/>
                          </a:solidFill>
                        </a:rPr>
                        <a:t> Standard ACL number range is 1 to 99 or 1300 to 1999.</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deny</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This denies access if the condition is matched.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permit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permits access if the condition is matched.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remark</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text</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(Optional) This adds a text entry for documentation purposes.</a:t>
                      </a:r>
                      <a:endParaRPr lang="en-US" sz="1200" dirty="0"/>
                    </a:p>
                    <a:p>
                      <a:pPr marL="171450" indent="-171450">
                        <a:buFont typeface="Arial" panose="020B0604020202020204" pitchFamily="34" charset="0"/>
                        <a:buChar char="•"/>
                      </a:pPr>
                      <a:r>
                        <a:rPr lang="en-US" sz="1200" dirty="0">
                          <a:solidFill>
                            <a:srgbClr val="58585B"/>
                          </a:solidFill>
                        </a:rPr>
                        <a:t> Each remark is limited to 100 characters.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source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This identifies the source network or host address to filter.</a:t>
                      </a:r>
                      <a:endParaRPr lang="en-US" sz="1200" dirty="0"/>
                    </a:p>
                    <a:p>
                      <a:pPr marL="171450" indent="-171450">
                        <a:buFont typeface="Arial" panose="020B0604020202020204" pitchFamily="34" charset="0"/>
                        <a:buChar char="•"/>
                      </a:pPr>
                      <a:r>
                        <a:rPr lang="en-US" sz="1200" dirty="0">
                          <a:solidFill>
                            <a:srgbClr val="58585B"/>
                          </a:solidFill>
                        </a:rPr>
                        <a:t> Use the </a:t>
                      </a:r>
                      <a:r>
                        <a:rPr lang="en-US" sz="1200" b="1" dirty="0">
                          <a:solidFill>
                            <a:srgbClr val="58585B"/>
                          </a:solidFill>
                        </a:rPr>
                        <a:t>any</a:t>
                      </a:r>
                      <a:r>
                        <a:rPr lang="en-US" sz="1200" dirty="0">
                          <a:solidFill>
                            <a:srgbClr val="58585B"/>
                          </a:solidFill>
                        </a:rPr>
                        <a:t> keyword to specify all networks. </a:t>
                      </a:r>
                      <a:endParaRPr lang="en-US" sz="1200" dirty="0"/>
                    </a:p>
                    <a:p>
                      <a:pPr marL="171450" indent="-171450">
                        <a:buFont typeface="Arial" panose="020B0604020202020204" pitchFamily="34" charset="0"/>
                        <a:buChar char="•"/>
                      </a:pPr>
                      <a:r>
                        <a:rPr lang="en-US" sz="1200" dirty="0">
                          <a:solidFill>
                            <a:srgbClr val="58585B"/>
                          </a:solidFill>
                        </a:rPr>
                        <a:t> Use the </a:t>
                      </a:r>
                      <a:r>
                        <a:rPr lang="en-US" sz="1200" b="1" dirty="0">
                          <a:solidFill>
                            <a:srgbClr val="58585B"/>
                          </a:solidFill>
                        </a:rPr>
                        <a:t>host</a:t>
                      </a:r>
                      <a:r>
                        <a:rPr lang="en-US" sz="1200" dirty="0">
                          <a:solidFill>
                            <a:srgbClr val="58585B"/>
                          </a:solidFill>
                        </a:rPr>
                        <a:t> </a:t>
                      </a:r>
                      <a:r>
                        <a:rPr lang="en-US" sz="1200" i="1" dirty="0">
                          <a:solidFill>
                            <a:srgbClr val="58585B"/>
                          </a:solidFill>
                        </a:rPr>
                        <a:t>ip-address</a:t>
                      </a:r>
                      <a:r>
                        <a:rPr lang="en-US" sz="1200" dirty="0">
                          <a:solidFill>
                            <a:srgbClr val="58585B"/>
                          </a:solidFill>
                        </a:rPr>
                        <a:t> keyword or simply enter an ip-address (without the host  keyword) to identify a specific IP address.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source-wildcard</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This is a 32-bit wildcard mask that is applied to the . If omitted, a default 0.0.0.0 mask is assumed.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log</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(Optional) This keyword generates and sends an informational message whenever the ACE is matched. </a:t>
                      </a:r>
                      <a:endParaRPr lang="en-US" sz="1200" dirty="0"/>
                    </a:p>
                    <a:p>
                      <a:pPr marL="171450" indent="-171450">
                        <a:buFont typeface="Arial" panose="020B0604020202020204" pitchFamily="34" charset="0"/>
                        <a:buChar char="•"/>
                      </a:pPr>
                      <a:r>
                        <a:rPr lang="en-US" sz="1200" dirty="0">
                          <a:solidFill>
                            <a:srgbClr val="58585B"/>
                          </a:solidFill>
                        </a:rPr>
                        <a:t> Message includes ACL number, matched condition (i.e., permitted or denied), source address, and number of packets.{`{" "}`} </a:t>
                      </a:r>
                      <a:endParaRPr lang="en-US" sz="1200" dirty="0"/>
                    </a:p>
                    <a:p>
                      <a:pPr marL="171450" indent="-171450">
                        <a:buFont typeface="Arial" panose="020B0604020202020204" pitchFamily="34" charset="0"/>
                        <a:buChar char="•"/>
                      </a:pPr>
                      <a:r>
                        <a:rPr lang="en-US" sz="1200" dirty="0">
                          <a:solidFill>
                            <a:srgbClr val="58585B"/>
                          </a:solidFill>
                        </a:rPr>
                        <a:t>This message is generated for the first matched packet.</a:t>
                      </a:r>
                      <a:endParaRPr lang="en-US" sz="1200" dirty="0"/>
                    </a:p>
                    <a:p>
                      <a:pPr marL="171450" indent="-171450">
                        <a:buFont typeface="Arial" panose="020B0604020202020204" pitchFamily="34" charset="0"/>
                        <a:buChar char="•"/>
                      </a:pPr>
                      <a:r>
                        <a:rPr lang="en-US" sz="1200" dirty="0">
                          <a:solidFill>
                            <a:srgbClr val="58585B"/>
                          </a:solidFill>
                        </a:rPr>
                        <a:t>This keyword should only be implemented for troubleshooting or security reasons.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28</a:t>
            </a:fld>
            <a:endParaRPr lang="en-US" dirty="0"/>
          </a:p>
        </p:txBody>
      </p:sp>
      <p:sp>
        <p:nvSpPr>
          <p:cNvPr id="4" name="TextBox 3">
            <a:extLst>
              <a:ext uri="{FF2B5EF4-FFF2-40B4-BE49-F238E27FC236}">
                <a16:creationId xmlns:a16="http://schemas.microsoft.com/office/drawing/2014/main" id="{56EA16DA-91EA-40F2-BDC2-703B54C9A2FB}"/>
              </a:ext>
            </a:extLst>
          </p:cNvPr>
          <p:cNvSpPr txBox="1"/>
          <p:nvPr/>
        </p:nvSpPr>
        <p:spPr>
          <a:xfrm>
            <a:off x="91440" y="680323"/>
            <a:ext cx="608346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This table provides a detailed explanation of the syntax for a standard ACL.</a:t>
            </a:r>
          </a:p>
        </p:txBody>
      </p:sp>
    </p:spTree>
    <p:extLst>
      <p:ext uri="{BB962C8B-B14F-4D97-AF65-F5344CB8AC3E}">
        <p14:creationId xmlns:p14="http://schemas.microsoft.com/office/powerpoint/2010/main" val="1715267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Named Standard IPv4 ACL Syntax</a:t>
            </a:r>
          </a:p>
        </p:txBody>
      </p:sp>
      <p:sp>
        <p:nvSpPr>
          <p:cNvPr id="5" name="Object4"/>
          <p:cNvSpPr/>
          <p:nvPr/>
        </p:nvSpPr>
        <p:spPr>
          <a:xfrm>
            <a:off x="0" y="865163"/>
            <a:ext cx="8959362" cy="692889"/>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ACL names are alphanumeric, case sensitive, and must be unique. Capitalizing ACL names is recommended. To create a named standard ACL, use the following global configuration command: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29</a:t>
            </a:fld>
            <a:endParaRPr lang="en-US" dirty="0"/>
          </a:p>
        </p:txBody>
      </p:sp>
      <p:sp>
        <p:nvSpPr>
          <p:cNvPr id="10" name="TextBox 9">
            <a:extLst>
              <a:ext uri="{FF2B5EF4-FFF2-40B4-BE49-F238E27FC236}">
                <a16:creationId xmlns:a16="http://schemas.microsoft.com/office/drawing/2014/main" id="{F3EBC5FE-D090-4E9F-A3FB-432AD2E5C92E}"/>
              </a:ext>
            </a:extLst>
          </p:cNvPr>
          <p:cNvSpPr txBox="1"/>
          <p:nvPr/>
        </p:nvSpPr>
        <p:spPr>
          <a:xfrm>
            <a:off x="0" y="2019672"/>
            <a:ext cx="8625253"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In the example, a named standard IPv4 ACL called </a:t>
            </a:r>
            <a:r>
              <a:rPr lang="en-US" sz="1400" b="1" dirty="0">
                <a:latin typeface="Arial" panose="020B0604020202020204" pitchFamily="34" charset="0"/>
                <a:cs typeface="Arial" panose="020B0604020202020204" pitchFamily="34" charset="0"/>
              </a:rPr>
              <a:t>NO-ACCESS</a:t>
            </a:r>
            <a:r>
              <a:rPr lang="en-US" sz="1400" dirty="0">
                <a:latin typeface="Arial" panose="020B0604020202020204" pitchFamily="34" charset="0"/>
                <a:cs typeface="Arial" panose="020B0604020202020204" pitchFamily="34" charset="0"/>
              </a:rPr>
              <a:t> is created. Notice that the prompt changes to named standard ACL configuration mode. Use the help facility to view all the named standard ACL ACE options.</a:t>
            </a:r>
          </a:p>
        </p:txBody>
      </p:sp>
      <p:pic>
        <p:nvPicPr>
          <p:cNvPr id="7" name="Picture 6">
            <a:extLst>
              <a:ext uri="{FF2B5EF4-FFF2-40B4-BE49-F238E27FC236}">
                <a16:creationId xmlns:a16="http://schemas.microsoft.com/office/drawing/2014/main" id="{B8C58D86-2D40-4B90-9B37-ED7B0186572A}"/>
              </a:ext>
            </a:extLst>
          </p:cNvPr>
          <p:cNvPicPr>
            <a:picLocks noChangeAspect="1"/>
          </p:cNvPicPr>
          <p:nvPr/>
        </p:nvPicPr>
        <p:blipFill>
          <a:blip r:embed="rId3"/>
          <a:stretch>
            <a:fillRect/>
          </a:stretch>
        </p:blipFill>
        <p:spPr>
          <a:xfrm>
            <a:off x="1525148" y="1623054"/>
            <a:ext cx="4737343" cy="273064"/>
          </a:xfrm>
          <a:prstGeom prst="rect">
            <a:avLst/>
          </a:prstGeom>
        </p:spPr>
      </p:pic>
      <p:pic>
        <p:nvPicPr>
          <p:cNvPr id="9" name="Picture 8">
            <a:extLst>
              <a:ext uri="{FF2B5EF4-FFF2-40B4-BE49-F238E27FC236}">
                <a16:creationId xmlns:a16="http://schemas.microsoft.com/office/drawing/2014/main" id="{1259CC7D-6DA3-4CAA-AD8E-E3AA4827022B}"/>
              </a:ext>
            </a:extLst>
          </p:cNvPr>
          <p:cNvPicPr>
            <a:picLocks noChangeAspect="1"/>
          </p:cNvPicPr>
          <p:nvPr/>
        </p:nvPicPr>
        <p:blipFill>
          <a:blip r:embed="rId4"/>
          <a:stretch>
            <a:fillRect/>
          </a:stretch>
        </p:blipFill>
        <p:spPr>
          <a:xfrm>
            <a:off x="1502288" y="2818939"/>
            <a:ext cx="4730993" cy="211465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Numbered Extended IPv4 ACL Syntax</a:t>
            </a:r>
          </a:p>
        </p:txBody>
      </p:sp>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30</a:t>
            </a:fld>
            <a:endParaRPr lang="en-US" dirty="0"/>
          </a:p>
        </p:txBody>
      </p:sp>
      <p:sp>
        <p:nvSpPr>
          <p:cNvPr id="7" name="TextBox 6">
            <a:extLst>
              <a:ext uri="{FF2B5EF4-FFF2-40B4-BE49-F238E27FC236}">
                <a16:creationId xmlns:a16="http://schemas.microsoft.com/office/drawing/2014/main" id="{CDAEFD8F-D04A-446B-A9E3-D4FBA7CA09D7}"/>
              </a:ext>
            </a:extLst>
          </p:cNvPr>
          <p:cNvSpPr txBox="1"/>
          <p:nvPr/>
        </p:nvSpPr>
        <p:spPr>
          <a:xfrm>
            <a:off x="171450" y="755485"/>
            <a:ext cx="8801100"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procedural steps for configuring extended ACLs are the same as for standard ACLs. The extended ACL is first configured, and then it is activated on an interface. However, the command syntax and parameters are more complex to support the additional features provided by extended ACLs.</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To create a numbered extended ACL, use the following global configuration command:</a:t>
            </a:r>
          </a:p>
        </p:txBody>
      </p:sp>
      <p:sp>
        <p:nvSpPr>
          <p:cNvPr id="10" name="TextBox 9">
            <a:extLst>
              <a:ext uri="{FF2B5EF4-FFF2-40B4-BE49-F238E27FC236}">
                <a16:creationId xmlns:a16="http://schemas.microsoft.com/office/drawing/2014/main" id="{FC92D0C0-75AA-4C7B-BD40-51B3B8CA7F1D}"/>
              </a:ext>
            </a:extLst>
          </p:cNvPr>
          <p:cNvSpPr txBox="1"/>
          <p:nvPr/>
        </p:nvSpPr>
        <p:spPr>
          <a:xfrm>
            <a:off x="237392" y="2789200"/>
            <a:ext cx="8326315"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parameters are reviewed on the next two slides.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command to apply an extended IPv4 ACL to an interface is the same as the command used for standard IPv4 ACLs.</a:t>
            </a:r>
          </a:p>
        </p:txBody>
      </p:sp>
      <p:pic>
        <p:nvPicPr>
          <p:cNvPr id="8" name="Picture 7">
            <a:extLst>
              <a:ext uri="{FF2B5EF4-FFF2-40B4-BE49-F238E27FC236}">
                <a16:creationId xmlns:a16="http://schemas.microsoft.com/office/drawing/2014/main" id="{E13EDA61-6A67-48E1-92AD-E6C6420E6669}"/>
              </a:ext>
            </a:extLst>
          </p:cNvPr>
          <p:cNvPicPr>
            <a:picLocks noChangeAspect="1"/>
          </p:cNvPicPr>
          <p:nvPr/>
        </p:nvPicPr>
        <p:blipFill>
          <a:blip r:embed="rId3"/>
          <a:stretch>
            <a:fillRect/>
          </a:stretch>
        </p:blipFill>
        <p:spPr>
          <a:xfrm>
            <a:off x="237392" y="1925036"/>
            <a:ext cx="8096666" cy="736638"/>
          </a:xfrm>
          <a:prstGeom prst="rect">
            <a:avLst/>
          </a:prstGeom>
        </p:spPr>
      </p:pic>
      <p:pic>
        <p:nvPicPr>
          <p:cNvPr id="11" name="Picture 10">
            <a:extLst>
              <a:ext uri="{FF2B5EF4-FFF2-40B4-BE49-F238E27FC236}">
                <a16:creationId xmlns:a16="http://schemas.microsoft.com/office/drawing/2014/main" id="{CC6FF3E8-75AB-4621-A5A0-584494DE3C26}"/>
              </a:ext>
            </a:extLst>
          </p:cNvPr>
          <p:cNvPicPr>
            <a:picLocks noChangeAspect="1"/>
          </p:cNvPicPr>
          <p:nvPr/>
        </p:nvPicPr>
        <p:blipFill>
          <a:blip r:embed="rId4"/>
          <a:stretch>
            <a:fillRect/>
          </a:stretch>
        </p:blipFill>
        <p:spPr>
          <a:xfrm>
            <a:off x="319860" y="3993944"/>
            <a:ext cx="7010760" cy="2730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Numbered Extended IPv4 ACL Syntax (Cont.)</a:t>
            </a:r>
          </a:p>
        </p:txBody>
      </p:sp>
      <p:graphicFrame>
        <p:nvGraphicFramePr>
          <p:cNvPr id="25" name="Table 24"/>
          <p:cNvGraphicFramePr>
            <a:graphicFrameLocks noGrp="1"/>
          </p:cNvGraphicFramePr>
          <p:nvPr>
            <p:extLst>
              <p:ext uri="{D42A27DB-BD31-4B8C-83A1-F6EECF244321}">
                <p14:modId xmlns:p14="http://schemas.microsoft.com/office/powerpoint/2010/main" val="2444697180"/>
              </p:ext>
            </p:extLst>
          </p:nvPr>
        </p:nvGraphicFramePr>
        <p:xfrm>
          <a:off x="91440" y="1225501"/>
          <a:ext cx="8961120" cy="3352800"/>
        </p:xfrm>
        <a:graphic>
          <a:graphicData uri="http://schemas.openxmlformats.org/drawingml/2006/table">
            <a:tbl>
              <a:tblPr/>
              <a:tblGrid>
                <a:gridCol w="1861647">
                  <a:extLst>
                    <a:ext uri="{9D8B030D-6E8A-4147-A177-3AD203B41FA5}">
                      <a16:colId xmlns:a16="http://schemas.microsoft.com/office/drawing/2014/main" val="20000"/>
                    </a:ext>
                  </a:extLst>
                </a:gridCol>
                <a:gridCol w="7099473">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access-list-number</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is the decimal number of the ACL. </a:t>
                      </a:r>
                      <a:endParaRPr lang="en-US" sz="1200" dirty="0"/>
                    </a:p>
                    <a:p>
                      <a:r>
                        <a:rPr lang="en-US" sz="1200" dirty="0">
                          <a:solidFill>
                            <a:srgbClr val="58585B"/>
                          </a:solidFill>
                        </a:rPr>
                        <a:t>Extended ACL number range is 100 to 199 and 2000 to 2699.</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deny</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This denies access if the condition is matched.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permit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permits access if the condition is matched.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remark</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text</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(Optional) Adds a text entry for documentation purposes.</a:t>
                      </a:r>
                      <a:endParaRPr lang="en-US" sz="1200" dirty="0"/>
                    </a:p>
                    <a:p>
                      <a:pPr marL="171450" indent="-171450">
                        <a:buFont typeface="Arial" panose="020B0604020202020204" pitchFamily="34" charset="0"/>
                        <a:buChar char="•"/>
                      </a:pPr>
                      <a:r>
                        <a:rPr lang="en-US" sz="1200" dirty="0">
                          <a:solidFill>
                            <a:srgbClr val="58585B"/>
                          </a:solidFill>
                        </a:rPr>
                        <a:t>Each remark is limited to 100 characters.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protocol</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Name or number of an internet protocol. </a:t>
                      </a:r>
                      <a:endParaRPr lang="en-US" sz="1200" dirty="0"/>
                    </a:p>
                    <a:p>
                      <a:pPr marL="171450" indent="-171450">
                        <a:buFont typeface="Arial" panose="020B0604020202020204" pitchFamily="34" charset="0"/>
                        <a:buChar char="•"/>
                      </a:pPr>
                      <a:r>
                        <a:rPr lang="en-US" sz="1200" dirty="0">
                          <a:solidFill>
                            <a:srgbClr val="58585B"/>
                          </a:solidFill>
                        </a:rPr>
                        <a:t>Common keywords include </a:t>
                      </a:r>
                      <a:r>
                        <a:rPr lang="en-US" sz="1200" b="1" dirty="0">
                          <a:solidFill>
                            <a:srgbClr val="58585B"/>
                          </a:solidFill>
                        </a:rPr>
                        <a:t>ip</a:t>
                      </a:r>
                      <a:r>
                        <a:rPr lang="en-US" sz="1200" dirty="0">
                          <a:solidFill>
                            <a:srgbClr val="58585B"/>
                          </a:solidFill>
                        </a:rPr>
                        <a:t>, </a:t>
                      </a:r>
                      <a:r>
                        <a:rPr lang="en-US" sz="1200" b="1" dirty="0">
                          <a:solidFill>
                            <a:srgbClr val="58585B"/>
                          </a:solidFill>
                        </a:rPr>
                        <a:t>tcp</a:t>
                      </a:r>
                      <a:r>
                        <a:rPr lang="en-US" sz="1200" dirty="0">
                          <a:solidFill>
                            <a:srgbClr val="58585B"/>
                          </a:solidFill>
                        </a:rPr>
                        <a:t>, </a:t>
                      </a:r>
                      <a:r>
                        <a:rPr lang="en-US" sz="1200" b="1" dirty="0">
                          <a:solidFill>
                            <a:srgbClr val="58585B"/>
                          </a:solidFill>
                        </a:rPr>
                        <a:t>udp</a:t>
                      </a:r>
                      <a:r>
                        <a:rPr lang="en-US" sz="1200" dirty="0">
                          <a:solidFill>
                            <a:srgbClr val="58585B"/>
                          </a:solidFill>
                        </a:rPr>
                        <a:t>, and </a:t>
                      </a:r>
                      <a:r>
                        <a:rPr lang="en-US" sz="1200" b="1" dirty="0">
                          <a:solidFill>
                            <a:srgbClr val="58585B"/>
                          </a:solidFill>
                        </a:rPr>
                        <a:t>icmp</a:t>
                      </a:r>
                      <a:r>
                        <a:rPr lang="en-US" sz="1200" dirty="0">
                          <a:solidFill>
                            <a:srgbClr val="58585B"/>
                          </a:solidFill>
                        </a:rPr>
                        <a:t>.</a:t>
                      </a:r>
                      <a:endParaRPr lang="en-US" sz="1200" dirty="0"/>
                    </a:p>
                    <a:p>
                      <a:pPr marL="171450" indent="-171450">
                        <a:buFont typeface="Arial" panose="020B0604020202020204" pitchFamily="34" charset="0"/>
                        <a:buChar char="•"/>
                      </a:pPr>
                      <a:r>
                        <a:rPr lang="en-US" sz="1200" dirty="0">
                          <a:solidFill>
                            <a:srgbClr val="58585B"/>
                          </a:solidFill>
                        </a:rPr>
                        <a:t>The </a:t>
                      </a:r>
                      <a:r>
                        <a:rPr lang="en-US" sz="1200" b="1" dirty="0">
                          <a:solidFill>
                            <a:srgbClr val="58585B"/>
                          </a:solidFill>
                        </a:rPr>
                        <a:t>ip</a:t>
                      </a:r>
                      <a:r>
                        <a:rPr lang="en-US" sz="1200" dirty="0">
                          <a:solidFill>
                            <a:srgbClr val="58585B"/>
                          </a:solidFill>
                        </a:rPr>
                        <a:t> keyword matches all IP protocols.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source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This identifies the source network or host address to filter.</a:t>
                      </a:r>
                      <a:endParaRPr lang="en-US" sz="1200" dirty="0"/>
                    </a:p>
                    <a:p>
                      <a:pPr marL="171450" indent="-171450">
                        <a:buFont typeface="Arial" panose="020B0604020202020204" pitchFamily="34" charset="0"/>
                        <a:buChar char="•"/>
                      </a:pPr>
                      <a:r>
                        <a:rPr lang="en-US" sz="1200" dirty="0">
                          <a:solidFill>
                            <a:srgbClr val="58585B"/>
                          </a:solidFill>
                        </a:rPr>
                        <a:t>Use the </a:t>
                      </a:r>
                      <a:r>
                        <a:rPr lang="en-US" sz="1200" b="1" dirty="0">
                          <a:solidFill>
                            <a:srgbClr val="58585B"/>
                          </a:solidFill>
                        </a:rPr>
                        <a:t>any</a:t>
                      </a:r>
                      <a:r>
                        <a:rPr lang="en-US" sz="1200" dirty="0">
                          <a:solidFill>
                            <a:srgbClr val="58585B"/>
                          </a:solidFill>
                        </a:rPr>
                        <a:t> keyword to specify all networks.</a:t>
                      </a:r>
                      <a:endParaRPr lang="en-US" sz="1200" dirty="0"/>
                    </a:p>
                    <a:p>
                      <a:pPr marL="171450" indent="-171450">
                        <a:buFont typeface="Arial" panose="020B0604020202020204" pitchFamily="34" charset="0"/>
                        <a:buChar char="•"/>
                      </a:pPr>
                      <a:r>
                        <a:rPr lang="en-US" sz="1200" dirty="0">
                          <a:solidFill>
                            <a:srgbClr val="58585B"/>
                          </a:solidFill>
                        </a:rPr>
                        <a:t>Use the </a:t>
                      </a:r>
                      <a:r>
                        <a:rPr lang="en-US" sz="1200" b="1" dirty="0">
                          <a:solidFill>
                            <a:srgbClr val="58585B"/>
                          </a:solidFill>
                        </a:rPr>
                        <a:t>host</a:t>
                      </a:r>
                      <a:r>
                        <a:rPr lang="en-US" sz="1200" dirty="0">
                          <a:solidFill>
                            <a:srgbClr val="58585B"/>
                          </a:solidFill>
                        </a:rPr>
                        <a:t> </a:t>
                      </a:r>
                      <a:r>
                        <a:rPr lang="en-US" sz="1200" i="1" dirty="0">
                          <a:solidFill>
                            <a:srgbClr val="58585B"/>
                          </a:solidFill>
                        </a:rPr>
                        <a:t>ip-address</a:t>
                      </a:r>
                      <a:r>
                        <a:rPr lang="en-US" sz="1200" dirty="0">
                          <a:solidFill>
                            <a:srgbClr val="58585B"/>
                          </a:solidFill>
                        </a:rPr>
                        <a:t> keyword or simply enter an </a:t>
                      </a:r>
                      <a:r>
                        <a:rPr lang="en-US" sz="1200" i="1" dirty="0">
                          <a:solidFill>
                            <a:srgbClr val="58585B"/>
                          </a:solidFill>
                        </a:rPr>
                        <a:t>ip-address</a:t>
                      </a:r>
                      <a:r>
                        <a:rPr lang="en-US" sz="1200" dirty="0">
                          <a:solidFill>
                            <a:srgbClr val="58585B"/>
                          </a:solidFill>
                        </a:rPr>
                        <a:t> (without the </a:t>
                      </a:r>
                      <a:r>
                        <a:rPr lang="en-US" sz="1200" b="1" dirty="0">
                          <a:solidFill>
                            <a:srgbClr val="58585B"/>
                          </a:solidFill>
                        </a:rPr>
                        <a:t>host</a:t>
                      </a:r>
                      <a:r>
                        <a:rPr lang="en-US" sz="1200" dirty="0">
                          <a:solidFill>
                            <a:srgbClr val="58585B"/>
                          </a:solidFill>
                        </a:rPr>
                        <a:t>  keyword) to identify a specific IP address.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source-wildcard</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A 32-bit wildcard mask that is applied to the source.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31</a:t>
            </a:fld>
            <a:endParaRPr lang="en-US" dirty="0"/>
          </a:p>
        </p:txBody>
      </p:sp>
      <p:sp>
        <p:nvSpPr>
          <p:cNvPr id="7" name="TextBox 6">
            <a:extLst>
              <a:ext uri="{FF2B5EF4-FFF2-40B4-BE49-F238E27FC236}">
                <a16:creationId xmlns:a16="http://schemas.microsoft.com/office/drawing/2014/main" id="{064470E5-1FF9-4A1F-96B8-5D6CFC3DE809}"/>
              </a:ext>
            </a:extLst>
          </p:cNvPr>
          <p:cNvSpPr txBox="1"/>
          <p:nvPr/>
        </p:nvSpPr>
        <p:spPr>
          <a:xfrm>
            <a:off x="0" y="565199"/>
            <a:ext cx="8739554"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Although there are many keywords and parameters for extended ACLs, it is not necessary to use all of them when configuring an extended ACL. The table provides a detailed explanation of the syntax for an extended ACL.</a:t>
            </a:r>
          </a:p>
        </p:txBody>
      </p:sp>
      <p:sp>
        <p:nvSpPr>
          <p:cNvPr id="5" name="TextBox 4">
            <a:extLst>
              <a:ext uri="{FF2B5EF4-FFF2-40B4-BE49-F238E27FC236}">
                <a16:creationId xmlns:a16="http://schemas.microsoft.com/office/drawing/2014/main" id="{CD187249-67E1-445C-8F96-9ABA9F71674F}"/>
              </a:ext>
            </a:extLst>
          </p:cNvPr>
          <p:cNvSpPr txBox="1"/>
          <p:nvPr/>
        </p:nvSpPr>
        <p:spPr>
          <a:xfrm>
            <a:off x="2785113" y="4629150"/>
            <a:ext cx="3169328" cy="307777"/>
          </a:xfrm>
          <a:prstGeom prst="rect">
            <a:avLst/>
          </a:prstGeom>
          <a:noFill/>
        </p:spPr>
        <p:txBody>
          <a:bodyPr wrap="square" rtlCol="0">
            <a:spAutoFit/>
          </a:bodyPr>
          <a:lstStyle/>
          <a:p>
            <a:pPr algn="ctr"/>
            <a:r>
              <a:rPr lang="en-US" sz="1400" dirty="0"/>
              <a:t>(table continued on next slide)</a:t>
            </a:r>
          </a:p>
        </p:txBody>
      </p:sp>
    </p:spTree>
    <p:extLst>
      <p:ext uri="{BB962C8B-B14F-4D97-AF65-F5344CB8AC3E}">
        <p14:creationId xmlns:p14="http://schemas.microsoft.com/office/powerpoint/2010/main" val="2526716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Numbered Extended IPv4 ACL Syntax (Cont.)</a:t>
            </a:r>
          </a:p>
        </p:txBody>
      </p:sp>
      <p:graphicFrame>
        <p:nvGraphicFramePr>
          <p:cNvPr id="25" name="Table 24"/>
          <p:cNvGraphicFramePr>
            <a:graphicFrameLocks noGrp="1"/>
          </p:cNvGraphicFramePr>
          <p:nvPr>
            <p:extLst>
              <p:ext uri="{D42A27DB-BD31-4B8C-83A1-F6EECF244321}">
                <p14:modId xmlns:p14="http://schemas.microsoft.com/office/powerpoint/2010/main" val="3366020940"/>
              </p:ext>
            </p:extLst>
          </p:nvPr>
        </p:nvGraphicFramePr>
        <p:xfrm>
          <a:off x="91440" y="933450"/>
          <a:ext cx="8961120" cy="3276600"/>
        </p:xfrm>
        <a:graphic>
          <a:graphicData uri="http://schemas.openxmlformats.org/drawingml/2006/table">
            <a:tbl>
              <a:tblPr/>
              <a:tblGrid>
                <a:gridCol w="2021445">
                  <a:extLst>
                    <a:ext uri="{9D8B030D-6E8A-4147-A177-3AD203B41FA5}">
                      <a16:colId xmlns:a16="http://schemas.microsoft.com/office/drawing/2014/main" val="20000"/>
                    </a:ext>
                  </a:extLst>
                </a:gridCol>
                <a:gridCol w="6939675">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destination</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This identifies the destination network or host address to filter.</a:t>
                      </a:r>
                      <a:endParaRPr lang="en-US" sz="1200" dirty="0"/>
                    </a:p>
                    <a:p>
                      <a:pPr marL="171450" indent="-171450">
                        <a:buFont typeface="Arial" panose="020B0604020202020204" pitchFamily="34" charset="0"/>
                        <a:buChar char="•"/>
                      </a:pPr>
                      <a:r>
                        <a:rPr lang="en-US" sz="1200" dirty="0">
                          <a:solidFill>
                            <a:srgbClr val="58585B"/>
                          </a:solidFill>
                        </a:rPr>
                        <a:t>Use the </a:t>
                      </a:r>
                      <a:r>
                        <a:rPr lang="en-US" sz="1200" b="1" dirty="0">
                          <a:solidFill>
                            <a:srgbClr val="58585B"/>
                          </a:solidFill>
                        </a:rPr>
                        <a:t>any</a:t>
                      </a:r>
                      <a:r>
                        <a:rPr lang="en-US" sz="1200" dirty="0">
                          <a:solidFill>
                            <a:srgbClr val="58585B"/>
                          </a:solidFill>
                        </a:rPr>
                        <a:t> keyword to specify all networks.</a:t>
                      </a:r>
                      <a:endParaRPr lang="en-US" sz="1200" dirty="0"/>
                    </a:p>
                    <a:p>
                      <a:pPr marL="171450" indent="-171450">
                        <a:buFont typeface="Arial" panose="020B0604020202020204" pitchFamily="34" charset="0"/>
                        <a:buChar char="•"/>
                      </a:pPr>
                      <a:r>
                        <a:rPr lang="en-US" sz="1200" dirty="0">
                          <a:solidFill>
                            <a:srgbClr val="58585B"/>
                          </a:solidFill>
                        </a:rPr>
                        <a:t>Use the </a:t>
                      </a:r>
                      <a:r>
                        <a:rPr lang="en-US" sz="1200" b="1" dirty="0">
                          <a:solidFill>
                            <a:srgbClr val="58585B"/>
                          </a:solidFill>
                        </a:rPr>
                        <a:t>host</a:t>
                      </a:r>
                      <a:r>
                        <a:rPr lang="en-US" sz="1200" dirty="0">
                          <a:solidFill>
                            <a:srgbClr val="58585B"/>
                          </a:solidFill>
                        </a:rPr>
                        <a:t> </a:t>
                      </a:r>
                      <a:r>
                        <a:rPr lang="en-US" sz="1200" i="1" dirty="0">
                          <a:solidFill>
                            <a:srgbClr val="58585B"/>
                          </a:solidFill>
                        </a:rPr>
                        <a:t>ip-address</a:t>
                      </a:r>
                      <a:r>
                        <a:rPr lang="en-US" sz="1200" dirty="0">
                          <a:solidFill>
                            <a:srgbClr val="58585B"/>
                          </a:solidFill>
                        </a:rPr>
                        <a:t> keyword or </a:t>
                      </a:r>
                      <a:r>
                        <a:rPr lang="en-US" sz="1200" i="1" dirty="0">
                          <a:solidFill>
                            <a:srgbClr val="58585B"/>
                          </a:solidFill>
                        </a:rPr>
                        <a:t>ip-address</a:t>
                      </a:r>
                      <a:r>
                        <a:rPr lang="en-US" sz="1200" dirty="0">
                          <a:solidFill>
                            <a:srgbClr val="58585B"/>
                          </a:solidFill>
                        </a:rPr>
                        <a: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destination-wildcard</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This is a 32-bit wildcard mask that is applied to the destination.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operator</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(Optional) This compares source or destination ports. </a:t>
                      </a:r>
                      <a:endParaRPr lang="en-US" sz="1200" dirty="0"/>
                    </a:p>
                    <a:p>
                      <a:pPr marL="171450" indent="-171450">
                        <a:buFont typeface="Arial" panose="020B0604020202020204" pitchFamily="34" charset="0"/>
                        <a:buChar char="•"/>
                      </a:pPr>
                      <a:r>
                        <a:rPr lang="en-US" sz="1200" dirty="0">
                          <a:solidFill>
                            <a:srgbClr val="58585B"/>
                          </a:solidFill>
                        </a:rPr>
                        <a:t>Some operators include </a:t>
                      </a:r>
                      <a:r>
                        <a:rPr lang="en-US" sz="1200" b="1" dirty="0">
                          <a:solidFill>
                            <a:srgbClr val="58585B"/>
                          </a:solidFill>
                        </a:rPr>
                        <a:t>lt</a:t>
                      </a:r>
                      <a:r>
                        <a:rPr lang="en-US" sz="1200" dirty="0">
                          <a:solidFill>
                            <a:srgbClr val="58585B"/>
                          </a:solidFill>
                        </a:rPr>
                        <a:t> (less than), </a:t>
                      </a:r>
                      <a:r>
                        <a:rPr lang="en-US" sz="1200" b="1" dirty="0">
                          <a:solidFill>
                            <a:srgbClr val="58585B"/>
                          </a:solidFill>
                        </a:rPr>
                        <a:t>gt</a:t>
                      </a:r>
                      <a:r>
                        <a:rPr lang="en-US" sz="1200" dirty="0">
                          <a:solidFill>
                            <a:srgbClr val="58585B"/>
                          </a:solidFill>
                        </a:rPr>
                        <a:t> (greater than), </a:t>
                      </a:r>
                      <a:r>
                        <a:rPr lang="en-US" sz="1200" b="1" dirty="0">
                          <a:solidFill>
                            <a:srgbClr val="58585B"/>
                          </a:solidFill>
                        </a:rPr>
                        <a:t>eq</a:t>
                      </a:r>
                      <a:r>
                        <a:rPr lang="en-US" sz="1200" dirty="0">
                          <a:solidFill>
                            <a:srgbClr val="58585B"/>
                          </a:solidFill>
                        </a:rPr>
                        <a:t> (equal), and </a:t>
                      </a:r>
                      <a:r>
                        <a:rPr lang="en-US" sz="1200" b="1" dirty="0">
                          <a:solidFill>
                            <a:srgbClr val="58585B"/>
                          </a:solidFill>
                        </a:rPr>
                        <a:t>neq</a:t>
                      </a:r>
                      <a:r>
                        <a:rPr lang="en-US" sz="1200" dirty="0">
                          <a:solidFill>
                            <a:srgbClr val="58585B"/>
                          </a:solidFill>
                        </a:rPr>
                        <a:t> (not equal).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0"/>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port</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The decimal number or name of a TCP or UDP port.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established</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(Optional) For the TCP protocol only.</a:t>
                      </a:r>
                      <a:endParaRPr lang="en-US" sz="1200" dirty="0"/>
                    </a:p>
                    <a:p>
                      <a:pPr marL="171450" indent="-171450">
                        <a:buFont typeface="Arial" panose="020B0604020202020204" pitchFamily="34" charset="0"/>
                        <a:buChar char="•"/>
                      </a:pPr>
                      <a:r>
                        <a:rPr lang="en-US" sz="1200" dirty="0">
                          <a:solidFill>
                            <a:srgbClr val="58585B"/>
                          </a:solidFill>
                        </a:rPr>
                        <a:t>This is a 1</a:t>
                      </a:r>
                      <a:r>
                        <a:rPr lang="en-US" sz="1200" baseline="30000" dirty="0">
                          <a:solidFill>
                            <a:srgbClr val="58585B"/>
                          </a:solidFill>
                        </a:rPr>
                        <a:t>st</a:t>
                      </a:r>
                      <a:r>
                        <a:rPr lang="en-US" sz="1200" dirty="0">
                          <a:solidFill>
                            <a:srgbClr val="58585B"/>
                          </a:solidFill>
                        </a:rPr>
                        <a:t> generation firewall feature.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log</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200" dirty="0">
                          <a:solidFill>
                            <a:srgbClr val="58585B"/>
                          </a:solidFill>
                        </a:rPr>
                        <a:t>(Optional) This keyword generates and sends an informational message whenever the ACE is matched. </a:t>
                      </a:r>
                      <a:endParaRPr lang="en-US" sz="1200" dirty="0"/>
                    </a:p>
                    <a:p>
                      <a:pPr marL="171450" indent="-171450">
                        <a:buFont typeface="Arial" panose="020B0604020202020204" pitchFamily="34" charset="0"/>
                        <a:buChar char="•"/>
                      </a:pPr>
                      <a:r>
                        <a:rPr lang="en-US" sz="1200" dirty="0">
                          <a:solidFill>
                            <a:srgbClr val="58585B"/>
                          </a:solidFill>
                        </a:rPr>
                        <a:t>This message includes ACL number, matched condition (i.e., permitted or denied), source address, and number of packets. </a:t>
                      </a:r>
                      <a:endParaRPr lang="en-US" sz="1200" dirty="0"/>
                    </a:p>
                    <a:p>
                      <a:pPr marL="171450" indent="-171450">
                        <a:buFont typeface="Arial" panose="020B0604020202020204" pitchFamily="34" charset="0"/>
                        <a:buChar char="•"/>
                      </a:pPr>
                      <a:r>
                        <a:rPr lang="en-US" sz="1200" dirty="0">
                          <a:solidFill>
                            <a:srgbClr val="58585B"/>
                          </a:solidFill>
                        </a:rPr>
                        <a:t>This message is generated for the first matched packet.</a:t>
                      </a:r>
                      <a:endParaRPr lang="en-US" sz="1200" dirty="0"/>
                    </a:p>
                    <a:p>
                      <a:pPr marL="171450" indent="-171450">
                        <a:buFont typeface="Arial" panose="020B0604020202020204" pitchFamily="34" charset="0"/>
                        <a:buChar char="•"/>
                      </a:pPr>
                      <a:r>
                        <a:rPr lang="en-US" sz="1200" dirty="0">
                          <a:solidFill>
                            <a:srgbClr val="58585B"/>
                          </a:solidFill>
                        </a:rPr>
                        <a:t>This keyword should only be implemented for troubleshooting or security reasons.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3"/>
                  </a:ext>
                </a:extLst>
              </a:tr>
            </a:tbl>
          </a:graphicData>
        </a:graphic>
      </p:graphicFrame>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32</a:t>
            </a:fld>
            <a:endParaRPr lang="en-US" dirty="0"/>
          </a:p>
        </p:txBody>
      </p:sp>
    </p:spTree>
    <p:extLst>
      <p:ext uri="{BB962C8B-B14F-4D97-AF65-F5344CB8AC3E}">
        <p14:creationId xmlns:p14="http://schemas.microsoft.com/office/powerpoint/2010/main" val="372246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Protocols and Port Numbers</a:t>
            </a:r>
          </a:p>
        </p:txBody>
      </p:sp>
      <p:sp>
        <p:nvSpPr>
          <p:cNvPr id="5" name="Object4"/>
          <p:cNvSpPr/>
          <p:nvPr/>
        </p:nvSpPr>
        <p:spPr>
          <a:xfrm>
            <a:off x="0" y="914400"/>
            <a:ext cx="3455377" cy="2571750"/>
          </a:xfrm>
          <a:prstGeom prst="rect">
            <a:avLst/>
          </a:prstGeom>
          <a:noFill/>
          <a:ln/>
        </p:spPr>
        <p:txBody>
          <a:bodyPr wrap="square" rtlCol="0" anchor="t"/>
          <a:lstStyle/>
          <a:p>
            <a:pPr>
              <a:lnSpc>
                <a:spcPts val="2000"/>
              </a:lnSpc>
            </a:pPr>
            <a:r>
              <a:rPr lang="en-US" sz="1400" b="1" dirty="0">
                <a:solidFill>
                  <a:srgbClr val="000000"/>
                </a:solidFill>
                <a:latin typeface="Arial" pitchFamily="34" charset="0"/>
                <a:ea typeface="Arial" pitchFamily="34" charset="-122"/>
                <a:cs typeface="Arial" pitchFamily="34" charset="-120"/>
              </a:rPr>
              <a:t>Protocol Options </a:t>
            </a:r>
            <a:r>
              <a:rPr lang="en-US" sz="1400" dirty="0">
                <a:solidFill>
                  <a:srgbClr val="000000"/>
                </a:solidFill>
                <a:latin typeface="Arial" pitchFamily="34" charset="0"/>
                <a:ea typeface="Arial" pitchFamily="34" charset="-122"/>
                <a:cs typeface="Arial" pitchFamily="34" charset="-120"/>
              </a:rPr>
              <a:t>- The four highlighted protocols are the most popular options. Use the </a:t>
            </a:r>
            <a:r>
              <a:rPr lang="en-US" sz="1400" b="1" dirty="0">
                <a:solidFill>
                  <a:srgbClr val="000000"/>
                </a:solidFill>
                <a:latin typeface="Arial" pitchFamily="34" charset="0"/>
                <a:ea typeface="Arial" pitchFamily="34" charset="-122"/>
                <a:cs typeface="Arial" pitchFamily="34" charset="-120"/>
              </a:rPr>
              <a:t>?</a:t>
            </a:r>
            <a:r>
              <a:rPr lang="en-US" sz="1400" dirty="0">
                <a:solidFill>
                  <a:srgbClr val="000000"/>
                </a:solidFill>
                <a:latin typeface="Arial" pitchFamily="34" charset="0"/>
                <a:ea typeface="Arial" pitchFamily="34" charset="-122"/>
                <a:cs typeface="Arial" pitchFamily="34" charset="-120"/>
              </a:rPr>
              <a:t> to get help when entering a complex ACE. If an internet protocol is not listed, then the IP protocol number could be specified. For instance, the ICMP protocol number 1, TCP is 6, and UDP is 17.</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33</a:t>
            </a:fld>
            <a:endParaRPr lang="en-US" dirty="0"/>
          </a:p>
        </p:txBody>
      </p:sp>
      <p:pic>
        <p:nvPicPr>
          <p:cNvPr id="4" name="Picture 3">
            <a:extLst>
              <a:ext uri="{FF2B5EF4-FFF2-40B4-BE49-F238E27FC236}">
                <a16:creationId xmlns:a16="http://schemas.microsoft.com/office/drawing/2014/main" id="{6C23EF5D-2FB5-4DD3-AF1B-D856B62C0B23}"/>
              </a:ext>
            </a:extLst>
          </p:cNvPr>
          <p:cNvPicPr>
            <a:picLocks noChangeAspect="1"/>
          </p:cNvPicPr>
          <p:nvPr/>
        </p:nvPicPr>
        <p:blipFill>
          <a:blip r:embed="rId3"/>
          <a:stretch>
            <a:fillRect/>
          </a:stretch>
        </p:blipFill>
        <p:spPr>
          <a:xfrm>
            <a:off x="4167555" y="914400"/>
            <a:ext cx="4519246" cy="330888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Protocols and Port Numbers (Cont.)</a:t>
            </a:r>
          </a:p>
        </p:txBody>
      </p:sp>
      <p:sp>
        <p:nvSpPr>
          <p:cNvPr id="5" name="Object4"/>
          <p:cNvSpPr/>
          <p:nvPr/>
        </p:nvSpPr>
        <p:spPr>
          <a:xfrm>
            <a:off x="-1" y="731520"/>
            <a:ext cx="5265683" cy="2571750"/>
          </a:xfrm>
          <a:prstGeom prst="rect">
            <a:avLst/>
          </a:prstGeom>
          <a:noFill/>
          <a:ln/>
        </p:spPr>
        <p:txBody>
          <a:bodyPr wrap="square" rtlCol="0" anchor="t"/>
          <a:lstStyle/>
          <a:p>
            <a:pPr>
              <a:lnSpc>
                <a:spcPts val="2000"/>
              </a:lnSpc>
            </a:pPr>
            <a:r>
              <a:rPr lang="en-US" sz="1400" b="1" dirty="0">
                <a:solidFill>
                  <a:srgbClr val="000000"/>
                </a:solidFill>
                <a:latin typeface="Arial" pitchFamily="34" charset="0"/>
                <a:ea typeface="Arial" pitchFamily="34" charset="-122"/>
                <a:cs typeface="Arial" pitchFamily="34" charset="-120"/>
              </a:rPr>
              <a:t>Port Keyword Options</a:t>
            </a:r>
            <a:r>
              <a:rPr lang="en-US" sz="1400" dirty="0">
                <a:solidFill>
                  <a:srgbClr val="000000"/>
                </a:solidFill>
                <a:latin typeface="Arial" pitchFamily="34" charset="0"/>
                <a:ea typeface="Arial" pitchFamily="34" charset="-122"/>
                <a:cs typeface="Arial" pitchFamily="34" charset="-120"/>
              </a:rPr>
              <a:t> - Selecting a protocol influences port options. For instance, selecting the:</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tcp</a:t>
            </a:r>
            <a:r>
              <a:rPr lang="en-US" sz="1400" dirty="0">
                <a:solidFill>
                  <a:srgbClr val="000000"/>
                </a:solidFill>
                <a:latin typeface="Arial" pitchFamily="34" charset="0"/>
                <a:ea typeface="Arial" pitchFamily="34" charset="-122"/>
                <a:cs typeface="Arial" pitchFamily="34" charset="-120"/>
              </a:rPr>
              <a:t> protocol would provide TCP related ports options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udp</a:t>
            </a:r>
            <a:r>
              <a:rPr lang="en-US" sz="1400" dirty="0">
                <a:solidFill>
                  <a:srgbClr val="000000"/>
                </a:solidFill>
                <a:latin typeface="Arial" pitchFamily="34" charset="0"/>
                <a:ea typeface="Arial" pitchFamily="34" charset="-122"/>
                <a:cs typeface="Arial" pitchFamily="34" charset="-120"/>
              </a:rPr>
              <a:t> protocol would provide UDP specific ports options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icmp</a:t>
            </a:r>
            <a:r>
              <a:rPr lang="en-US" sz="1400" dirty="0">
                <a:solidFill>
                  <a:srgbClr val="000000"/>
                </a:solidFill>
                <a:latin typeface="Arial" pitchFamily="34" charset="0"/>
                <a:ea typeface="Arial" pitchFamily="34" charset="-122"/>
                <a:cs typeface="Arial" pitchFamily="34" charset="-120"/>
              </a:rPr>
              <a:t> protocol would provide ICMP related ports (i.e., message) options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Notice how many TCP port options are available. The highlighted ports are popular options. Port names or number can be specified. However, port names make it easier to understand the purpose of an ACE. Notice how some common ports names (e.g., SSH and HTTPS) are not listed. For these protocols, port numbers will have to be specified.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34</a:t>
            </a:fld>
            <a:endParaRPr lang="en-US" dirty="0"/>
          </a:p>
        </p:txBody>
      </p:sp>
      <p:pic>
        <p:nvPicPr>
          <p:cNvPr id="4" name="Picture 3">
            <a:extLst>
              <a:ext uri="{FF2B5EF4-FFF2-40B4-BE49-F238E27FC236}">
                <a16:creationId xmlns:a16="http://schemas.microsoft.com/office/drawing/2014/main" id="{6BE95C90-7C07-44BA-B49C-FD75F2095239}"/>
              </a:ext>
            </a:extLst>
          </p:cNvPr>
          <p:cNvPicPr>
            <a:picLocks noChangeAspect="1"/>
          </p:cNvPicPr>
          <p:nvPr/>
        </p:nvPicPr>
        <p:blipFill>
          <a:blip r:embed="rId3"/>
          <a:stretch>
            <a:fillRect/>
          </a:stretch>
        </p:blipFill>
        <p:spPr>
          <a:xfrm>
            <a:off x="5621464" y="0"/>
            <a:ext cx="2947856" cy="5143500"/>
          </a:xfrm>
          <a:prstGeom prst="rect">
            <a:avLst/>
          </a:prstGeom>
        </p:spPr>
      </p:pic>
    </p:spTree>
    <p:extLst>
      <p:ext uri="{BB962C8B-B14F-4D97-AF65-F5344CB8AC3E}">
        <p14:creationId xmlns:p14="http://schemas.microsoft.com/office/powerpoint/2010/main" val="1826942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Protocols and Port Numbers Configuration Examples</a:t>
            </a:r>
          </a:p>
        </p:txBody>
      </p:sp>
      <p:sp>
        <p:nvSpPr>
          <p:cNvPr id="5" name="Object4"/>
          <p:cNvSpPr/>
          <p:nvPr/>
        </p:nvSpPr>
        <p:spPr>
          <a:xfrm>
            <a:off x="-1" y="731520"/>
            <a:ext cx="8836269" cy="91440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Extended ACLs can filter on different port number and port name options. This example configures an extended ACL 100 to filter HTTP traffic. The first ACE uses the www port name. The second ACE uses the port number 80. Both ACEs achieve exactly the same result.</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35</a:t>
            </a:fld>
            <a:endParaRPr lang="en-US" dirty="0"/>
          </a:p>
        </p:txBody>
      </p:sp>
      <p:pic>
        <p:nvPicPr>
          <p:cNvPr id="4" name="Picture 3">
            <a:extLst>
              <a:ext uri="{FF2B5EF4-FFF2-40B4-BE49-F238E27FC236}">
                <a16:creationId xmlns:a16="http://schemas.microsoft.com/office/drawing/2014/main" id="{0BE219D3-A7ED-4B24-803C-2E0CB77273EF}"/>
              </a:ext>
            </a:extLst>
          </p:cNvPr>
          <p:cNvPicPr>
            <a:picLocks noChangeAspect="1"/>
          </p:cNvPicPr>
          <p:nvPr/>
        </p:nvPicPr>
        <p:blipFill>
          <a:blip r:embed="rId3"/>
          <a:stretch>
            <a:fillRect/>
          </a:stretch>
        </p:blipFill>
        <p:spPr>
          <a:xfrm>
            <a:off x="1248720" y="1650316"/>
            <a:ext cx="5958217" cy="472161"/>
          </a:xfrm>
          <a:prstGeom prst="rect">
            <a:avLst/>
          </a:prstGeom>
        </p:spPr>
      </p:pic>
      <p:sp>
        <p:nvSpPr>
          <p:cNvPr id="8" name="TextBox 7">
            <a:extLst>
              <a:ext uri="{FF2B5EF4-FFF2-40B4-BE49-F238E27FC236}">
                <a16:creationId xmlns:a16="http://schemas.microsoft.com/office/drawing/2014/main" id="{4D6F9D2A-D96C-4826-8178-077FE092BAFC}"/>
              </a:ext>
            </a:extLst>
          </p:cNvPr>
          <p:cNvSpPr txBox="1"/>
          <p:nvPr/>
        </p:nvSpPr>
        <p:spPr>
          <a:xfrm>
            <a:off x="0" y="2418725"/>
            <a:ext cx="8669214"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Configuring the port number is required when there is not a specific protocol name listed such as SSH (port number 22) or an HTTPS (port number 443)</a:t>
            </a:r>
          </a:p>
        </p:txBody>
      </p:sp>
      <p:pic>
        <p:nvPicPr>
          <p:cNvPr id="7" name="Picture 6">
            <a:extLst>
              <a:ext uri="{FF2B5EF4-FFF2-40B4-BE49-F238E27FC236}">
                <a16:creationId xmlns:a16="http://schemas.microsoft.com/office/drawing/2014/main" id="{B0E03662-7EAB-450E-AC12-4CF36E41F7F2}"/>
              </a:ext>
            </a:extLst>
          </p:cNvPr>
          <p:cNvPicPr>
            <a:picLocks noChangeAspect="1"/>
          </p:cNvPicPr>
          <p:nvPr/>
        </p:nvPicPr>
        <p:blipFill>
          <a:blip r:embed="rId4"/>
          <a:stretch>
            <a:fillRect/>
          </a:stretch>
        </p:blipFill>
        <p:spPr>
          <a:xfrm>
            <a:off x="1102449" y="3106828"/>
            <a:ext cx="6939102" cy="5232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TCP Established Extended ACL</a:t>
            </a:r>
          </a:p>
        </p:txBody>
      </p:sp>
      <p:sp>
        <p:nvSpPr>
          <p:cNvPr id="5" name="Object4"/>
          <p:cNvSpPr/>
          <p:nvPr/>
        </p:nvSpPr>
        <p:spPr>
          <a:xfrm>
            <a:off x="0" y="914400"/>
            <a:ext cx="34290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TCP can also perform basic stateful firewall services using the TCP </a:t>
            </a:r>
            <a:r>
              <a:rPr lang="en-US" sz="1400" b="1" dirty="0">
                <a:solidFill>
                  <a:srgbClr val="000000"/>
                </a:solidFill>
                <a:latin typeface="Arial" pitchFamily="34" charset="0"/>
                <a:ea typeface="Arial" pitchFamily="34" charset="-122"/>
                <a:cs typeface="Arial" pitchFamily="34" charset="-120"/>
              </a:rPr>
              <a:t>established</a:t>
            </a:r>
            <a:r>
              <a:rPr lang="en-US" sz="1400" dirty="0">
                <a:solidFill>
                  <a:srgbClr val="000000"/>
                </a:solidFill>
                <a:latin typeface="Arial" pitchFamily="34" charset="0"/>
                <a:ea typeface="Arial" pitchFamily="34" charset="-122"/>
                <a:cs typeface="Arial" pitchFamily="34" charset="-120"/>
              </a:rPr>
              <a:t> keyword. The keyword enables inside traffic to exit the inside private network and permits the returning reply traffic to enter the inside private network. However, TCP traffic generated by an outside host and attempting to communicate with an inside host is denied. The established keyword can be used to permit only the return HTTP traffic from requested websites, while denying all other traffic.</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36</a:t>
            </a:fld>
            <a:endParaRPr lang="en-US" dirty="0"/>
          </a:p>
        </p:txBody>
      </p:sp>
      <p:pic>
        <p:nvPicPr>
          <p:cNvPr id="4" name="Picture 3">
            <a:extLst>
              <a:ext uri="{FF2B5EF4-FFF2-40B4-BE49-F238E27FC236}">
                <a16:creationId xmlns:a16="http://schemas.microsoft.com/office/drawing/2014/main" id="{8DE078B1-D553-4675-92E6-EAB74942FDE0}"/>
              </a:ext>
            </a:extLst>
          </p:cNvPr>
          <p:cNvPicPr>
            <a:picLocks noChangeAspect="1"/>
          </p:cNvPicPr>
          <p:nvPr/>
        </p:nvPicPr>
        <p:blipFill>
          <a:blip r:embed="rId3"/>
          <a:stretch>
            <a:fillRect/>
          </a:stretch>
        </p:blipFill>
        <p:spPr>
          <a:xfrm>
            <a:off x="3753470" y="1036767"/>
            <a:ext cx="5066060" cy="279667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TCP Established Extended ACL (Cont.)</a:t>
            </a:r>
          </a:p>
        </p:txBody>
      </p:sp>
      <p:sp>
        <p:nvSpPr>
          <p:cNvPr id="5" name="Object4"/>
          <p:cNvSpPr/>
          <p:nvPr/>
        </p:nvSpPr>
        <p:spPr>
          <a:xfrm>
            <a:off x="0" y="914400"/>
            <a:ext cx="8816340" cy="120396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In this example, ACL 120 is configured to only permit returning web traffic to the inside hosts. The new ACL is then applied outbound on the R1 G0/0/0 interface. The show access-lists command displays both ACLs. Notice from the match statistics that inside hosts have been accessing the secure web resources from the internet.</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pic>
        <p:nvPicPr>
          <p:cNvPr id="7" name="Picture 6">
            <a:extLst>
              <a:ext uri="{FF2B5EF4-FFF2-40B4-BE49-F238E27FC236}">
                <a16:creationId xmlns:a16="http://schemas.microsoft.com/office/drawing/2014/main" id="{8AFF6DBF-BB57-4AB9-88E0-17581404A8CC}"/>
              </a:ext>
            </a:extLst>
          </p:cNvPr>
          <p:cNvPicPr>
            <a:picLocks noChangeAspect="1"/>
          </p:cNvPicPr>
          <p:nvPr/>
        </p:nvPicPr>
        <p:blipFill>
          <a:blip r:embed="rId3"/>
          <a:stretch>
            <a:fillRect/>
          </a:stretch>
        </p:blipFill>
        <p:spPr>
          <a:xfrm>
            <a:off x="1204430" y="2297374"/>
            <a:ext cx="6407479" cy="2152761"/>
          </a:xfrm>
          <a:prstGeom prst="rect">
            <a:avLst/>
          </a:prstGeom>
        </p:spPr>
      </p:pic>
    </p:spTree>
    <p:extLst>
      <p:ext uri="{BB962C8B-B14F-4D97-AF65-F5344CB8AC3E}">
        <p14:creationId xmlns:p14="http://schemas.microsoft.com/office/powerpoint/2010/main" val="1932221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Named Extended IPv4 ACL Syntax</a:t>
            </a:r>
          </a:p>
        </p:txBody>
      </p:sp>
      <p:sp>
        <p:nvSpPr>
          <p:cNvPr id="5" name="Object4"/>
          <p:cNvSpPr/>
          <p:nvPr/>
        </p:nvSpPr>
        <p:spPr>
          <a:xfrm>
            <a:off x="-1" y="914400"/>
            <a:ext cx="8941777" cy="54864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Naming an ACL makes it easier to understand its function. This command enters the named extended configuration mode. Recall that ACL names are alphanumeric, case sensitive, and must be unique. To create a named extended ACL, use the following global configuration command:</a:t>
            </a:r>
          </a:p>
          <a:p>
            <a:pPr>
              <a:lnSpc>
                <a:spcPts val="2000"/>
              </a:lnSpc>
            </a:pPr>
            <a:endParaRPr lang="en-US" sz="1400" dirty="0">
              <a:solidFill>
                <a:srgbClr val="000000"/>
              </a:solidFill>
              <a:latin typeface="Arial" pitchFamily="34" charset="0"/>
              <a:ea typeface="Arial" pitchFamily="34" charset="-122"/>
              <a:cs typeface="Arial" pitchFamily="34" charset="-12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38</a:t>
            </a:fld>
            <a:endParaRPr lang="en-US" dirty="0"/>
          </a:p>
        </p:txBody>
      </p:sp>
      <p:pic>
        <p:nvPicPr>
          <p:cNvPr id="4" name="Picture 3">
            <a:extLst>
              <a:ext uri="{FF2B5EF4-FFF2-40B4-BE49-F238E27FC236}">
                <a16:creationId xmlns:a16="http://schemas.microsoft.com/office/drawing/2014/main" id="{2B0765D5-999E-4C37-A20E-7387232189B9}"/>
              </a:ext>
            </a:extLst>
          </p:cNvPr>
          <p:cNvPicPr>
            <a:picLocks noChangeAspect="1"/>
          </p:cNvPicPr>
          <p:nvPr/>
        </p:nvPicPr>
        <p:blipFill>
          <a:blip r:embed="rId3"/>
          <a:stretch>
            <a:fillRect/>
          </a:stretch>
        </p:blipFill>
        <p:spPr>
          <a:xfrm>
            <a:off x="1629393" y="1976396"/>
            <a:ext cx="5345880" cy="300706"/>
          </a:xfrm>
          <a:prstGeom prst="rect">
            <a:avLst/>
          </a:prstGeom>
        </p:spPr>
      </p:pic>
      <p:sp>
        <p:nvSpPr>
          <p:cNvPr id="8" name="TextBox 7">
            <a:extLst>
              <a:ext uri="{FF2B5EF4-FFF2-40B4-BE49-F238E27FC236}">
                <a16:creationId xmlns:a16="http://schemas.microsoft.com/office/drawing/2014/main" id="{9453CD84-0369-4B95-A98A-C39D1F8615C5}"/>
              </a:ext>
            </a:extLst>
          </p:cNvPr>
          <p:cNvSpPr txBox="1"/>
          <p:nvPr/>
        </p:nvSpPr>
        <p:spPr>
          <a:xfrm>
            <a:off x="52755" y="2196145"/>
            <a:ext cx="8634045" cy="1077218"/>
          </a:xfrm>
          <a:prstGeom prst="rect">
            <a:avLst/>
          </a:prstGeom>
          <a:noFill/>
        </p:spPr>
        <p:txBody>
          <a:bodyPr wrap="square">
            <a:spAutoFit/>
          </a:bodyPr>
          <a:lstStyle/>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In the example, a named extended ACL called NO-FTP-ACCESS is created and the prompt changed to named extended ACL configuration mode. ACE statements are entered in the named extended ACL sub configuration mode.</a:t>
            </a:r>
          </a:p>
        </p:txBody>
      </p:sp>
      <p:pic>
        <p:nvPicPr>
          <p:cNvPr id="7" name="Picture 6">
            <a:extLst>
              <a:ext uri="{FF2B5EF4-FFF2-40B4-BE49-F238E27FC236}">
                <a16:creationId xmlns:a16="http://schemas.microsoft.com/office/drawing/2014/main" id="{AEAEAAD4-8C19-42AB-BDF9-3954131FBE49}"/>
              </a:ext>
            </a:extLst>
          </p:cNvPr>
          <p:cNvPicPr>
            <a:picLocks noChangeAspect="1"/>
          </p:cNvPicPr>
          <p:nvPr/>
        </p:nvPicPr>
        <p:blipFill>
          <a:blip r:embed="rId4"/>
          <a:stretch>
            <a:fillRect/>
          </a:stretch>
        </p:blipFill>
        <p:spPr>
          <a:xfrm>
            <a:off x="1873411" y="3342759"/>
            <a:ext cx="4857845" cy="40566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Named Extended IPv4 ACL Example</a:t>
            </a:r>
          </a:p>
        </p:txBody>
      </p:sp>
      <p:sp>
        <p:nvSpPr>
          <p:cNvPr id="5" name="Object4"/>
          <p:cNvSpPr/>
          <p:nvPr/>
        </p:nvSpPr>
        <p:spPr>
          <a:xfrm>
            <a:off x="0" y="914400"/>
            <a:ext cx="3789485" cy="1723292"/>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Named extended ACLs are created in essentially the same way that named standard ACLs are created. The topology in the figure is used to demonstrate configuring and applying two named extended IPv4 ACLs to an interface: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SURFING - This will permit inside HTTP and HTTPS traffic to exit to the internet.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BROWSING - This will only permit returning web traffic to the inside hosts while all other traffic exiting the R1 G0/0/0 interface is implicitly denied.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39</a:t>
            </a:fld>
            <a:endParaRPr lang="en-US" dirty="0"/>
          </a:p>
        </p:txBody>
      </p:sp>
      <p:pic>
        <p:nvPicPr>
          <p:cNvPr id="4" name="Picture 3">
            <a:extLst>
              <a:ext uri="{FF2B5EF4-FFF2-40B4-BE49-F238E27FC236}">
                <a16:creationId xmlns:a16="http://schemas.microsoft.com/office/drawing/2014/main" id="{271BC3E4-8FEF-4545-BC31-2342F1905F7D}"/>
              </a:ext>
            </a:extLst>
          </p:cNvPr>
          <p:cNvPicPr>
            <a:picLocks noChangeAspect="1"/>
          </p:cNvPicPr>
          <p:nvPr/>
        </p:nvPicPr>
        <p:blipFill>
          <a:blip r:embed="rId3"/>
          <a:stretch>
            <a:fillRect/>
          </a:stretch>
        </p:blipFill>
        <p:spPr>
          <a:xfrm>
            <a:off x="3893267" y="988256"/>
            <a:ext cx="5250733" cy="134445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Named Extended IPv4 ACL Example (Cont.)</a:t>
            </a:r>
          </a:p>
        </p:txBody>
      </p:sp>
      <p:sp>
        <p:nvSpPr>
          <p:cNvPr id="5" name="Object4"/>
          <p:cNvSpPr/>
          <p:nvPr/>
        </p:nvSpPr>
        <p:spPr>
          <a:xfrm>
            <a:off x="0" y="914400"/>
            <a:ext cx="3789485" cy="1723292"/>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SURFING ACL permits HTTP and HTTPS traffic from inside users to exit the G0/0/1 interface connected to the internet. Web traffic returning from the internet is permitted back into the inside private network by the BROWSING ACL. </a:t>
            </a:r>
          </a:p>
          <a:p>
            <a:pPr>
              <a:lnSpc>
                <a:spcPts val="2000"/>
              </a:lnSpc>
            </a:pPr>
            <a:r>
              <a:rPr lang="en-US" sz="1400" dirty="0">
                <a:solidFill>
                  <a:srgbClr val="000000"/>
                </a:solidFill>
                <a:latin typeface="Arial" pitchFamily="34" charset="0"/>
                <a:ea typeface="Arial" pitchFamily="34" charset="-122"/>
                <a:cs typeface="Arial" pitchFamily="34" charset="-120"/>
              </a:rPr>
              <a:t>The SURFING ACL is applied inbound and the BROWSING ACL applied outbound on the R1 G0/0/0 interface.</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Inside hosts have been accessing the secure web resources from the internet. The </a:t>
            </a:r>
            <a:r>
              <a:rPr lang="en-US" sz="1400" b="1" dirty="0">
                <a:solidFill>
                  <a:srgbClr val="000000"/>
                </a:solidFill>
                <a:latin typeface="Arial" pitchFamily="34" charset="0"/>
                <a:ea typeface="Arial" pitchFamily="34" charset="-122"/>
                <a:cs typeface="Arial" pitchFamily="34" charset="-120"/>
              </a:rPr>
              <a:t>show access-lists</a:t>
            </a:r>
            <a:r>
              <a:rPr lang="en-US" sz="1400" dirty="0">
                <a:solidFill>
                  <a:srgbClr val="000000"/>
                </a:solidFill>
                <a:latin typeface="Arial" pitchFamily="34" charset="0"/>
                <a:ea typeface="Arial" pitchFamily="34" charset="-122"/>
                <a:cs typeface="Arial" pitchFamily="34" charset="-120"/>
              </a:rPr>
              <a:t> command is used to verify the ACL statistics.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40</a:t>
            </a:fld>
            <a:endParaRPr lang="en-US" dirty="0"/>
          </a:p>
        </p:txBody>
      </p:sp>
      <p:pic>
        <p:nvPicPr>
          <p:cNvPr id="6" name="Picture 5">
            <a:extLst>
              <a:ext uri="{FF2B5EF4-FFF2-40B4-BE49-F238E27FC236}">
                <a16:creationId xmlns:a16="http://schemas.microsoft.com/office/drawing/2014/main" id="{F5E47310-FD3E-4AA8-A8D3-12F17BDD4BAD}"/>
              </a:ext>
            </a:extLst>
          </p:cNvPr>
          <p:cNvPicPr>
            <a:picLocks noChangeAspect="1"/>
          </p:cNvPicPr>
          <p:nvPr/>
        </p:nvPicPr>
        <p:blipFill>
          <a:blip r:embed="rId3"/>
          <a:stretch>
            <a:fillRect/>
          </a:stretch>
        </p:blipFill>
        <p:spPr>
          <a:xfrm>
            <a:off x="4419408" y="1033543"/>
            <a:ext cx="4419983" cy="3208298"/>
          </a:xfrm>
          <a:prstGeom prst="rect">
            <a:avLst/>
          </a:prstGeom>
        </p:spPr>
      </p:pic>
    </p:spTree>
    <p:extLst>
      <p:ext uri="{BB962C8B-B14F-4D97-AF65-F5344CB8AC3E}">
        <p14:creationId xmlns:p14="http://schemas.microsoft.com/office/powerpoint/2010/main" val="27102922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8.4 Modify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Modify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Two Methods to Modify an ACL</a:t>
            </a:r>
          </a:p>
        </p:txBody>
      </p:sp>
      <p:sp>
        <p:nvSpPr>
          <p:cNvPr id="5" name="Object4"/>
          <p:cNvSpPr/>
          <p:nvPr/>
        </p:nvSpPr>
        <p:spPr>
          <a:xfrm>
            <a:off x="20782" y="914400"/>
            <a:ext cx="8894618"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After an ACL is configured, it may need to be modified. ACLs with multiple ACEs can be complex to configure. Sometimes the configured ACE does not yield the expected behaviors. For these reasons, ACLs may initially require a bit of trial and error to achieve the desired filtering result. There are two methods to use when modifying an ACL:</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Use a Text Editor</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Use Sequence Numbers</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Modify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Text Editor Method</a:t>
            </a:r>
          </a:p>
        </p:txBody>
      </p:sp>
      <p:sp>
        <p:nvSpPr>
          <p:cNvPr id="5" name="Object4"/>
          <p:cNvSpPr/>
          <p:nvPr/>
        </p:nvSpPr>
        <p:spPr>
          <a:xfrm>
            <a:off x="249381" y="1011382"/>
            <a:ext cx="8658136"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ACLs with multiple ACEs should be created in a text editor. This allows you to plan the required ACEs, create the ACL, and then paste it into the router interface. It also simplifies the tasks to edit and fix an ACL. To modify an ACL using a text editor: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Copy the ACL from the running configuration and paste it into the text editor.</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Make the necessary edits changes.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Remove the previously configured ACL on the router otherwise, pasting the edited ACL commands will only append (i.e., add) to the existing ACL ACEs on the router.</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Copy and paste the edited ACL back to the router.</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Modify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Sequence Number Method</a:t>
            </a:r>
          </a:p>
        </p:txBody>
      </p:sp>
      <p:sp>
        <p:nvSpPr>
          <p:cNvPr id="5" name="Object4"/>
          <p:cNvSpPr/>
          <p:nvPr/>
        </p:nvSpPr>
        <p:spPr>
          <a:xfrm>
            <a:off x="0" y="914400"/>
            <a:ext cx="9047018" cy="2136531"/>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ACL ACE can also be deleted or added using the ACL sequence numbers. Sequence numbers are automatically assigned when an ACE is entered. These numbers are listed in the </a:t>
            </a:r>
            <a:r>
              <a:rPr lang="en-US" sz="1400" b="1" dirty="0">
                <a:solidFill>
                  <a:srgbClr val="000000"/>
                </a:solidFill>
                <a:latin typeface="Arial" pitchFamily="34" charset="0"/>
                <a:ea typeface="Arial" pitchFamily="34" charset="-122"/>
                <a:cs typeface="Arial" pitchFamily="34" charset="-120"/>
              </a:rPr>
              <a:t>show access-lists </a:t>
            </a:r>
            <a:r>
              <a:rPr lang="en-US" sz="1400" dirty="0">
                <a:solidFill>
                  <a:srgbClr val="000000"/>
                </a:solidFill>
                <a:latin typeface="Arial" pitchFamily="34" charset="0"/>
                <a:ea typeface="Arial" pitchFamily="34" charset="-122"/>
                <a:cs typeface="Arial" pitchFamily="34" charset="-120"/>
              </a:rPr>
              <a:t>command. The </a:t>
            </a:r>
            <a:r>
              <a:rPr lang="en-US" sz="1400" b="1" dirty="0">
                <a:solidFill>
                  <a:srgbClr val="000000"/>
                </a:solidFill>
                <a:latin typeface="Arial" pitchFamily="34" charset="0"/>
                <a:ea typeface="Arial" pitchFamily="34" charset="-122"/>
                <a:cs typeface="Arial" pitchFamily="34" charset="-120"/>
              </a:rPr>
              <a:t>show running-config </a:t>
            </a:r>
            <a:r>
              <a:rPr lang="en-US" sz="1400" dirty="0">
                <a:solidFill>
                  <a:srgbClr val="000000"/>
                </a:solidFill>
                <a:latin typeface="Arial" pitchFamily="34" charset="0"/>
                <a:ea typeface="Arial" pitchFamily="34" charset="-122"/>
                <a:cs typeface="Arial" pitchFamily="34" charset="-120"/>
              </a:rPr>
              <a:t>command does not display sequence numbers.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Use the </a:t>
            </a:r>
            <a:r>
              <a:rPr lang="en-US" sz="1400" b="1" dirty="0">
                <a:solidFill>
                  <a:srgbClr val="000000"/>
                </a:solidFill>
                <a:latin typeface="Arial" pitchFamily="34" charset="0"/>
                <a:ea typeface="Arial" pitchFamily="34" charset="-122"/>
                <a:cs typeface="Arial" pitchFamily="34" charset="-120"/>
              </a:rPr>
              <a:t>ip access-list standard </a:t>
            </a:r>
            <a:r>
              <a:rPr lang="en-US" sz="1400" dirty="0">
                <a:solidFill>
                  <a:srgbClr val="000000"/>
                </a:solidFill>
                <a:latin typeface="Arial" pitchFamily="34" charset="0"/>
                <a:ea typeface="Arial" pitchFamily="34" charset="-122"/>
                <a:cs typeface="Arial" pitchFamily="34" charset="-120"/>
              </a:rPr>
              <a:t>command to edit an ACL. Statements cannot be overwritten using the same sequence number as an existing statement. Therefore, the current statement must be deleted first with the </a:t>
            </a:r>
            <a:r>
              <a:rPr lang="en-US" sz="1400" b="1" dirty="0">
                <a:solidFill>
                  <a:srgbClr val="000000"/>
                </a:solidFill>
                <a:latin typeface="Arial" pitchFamily="34" charset="0"/>
                <a:ea typeface="Arial" pitchFamily="34" charset="-122"/>
                <a:cs typeface="Arial" pitchFamily="34" charset="-120"/>
              </a:rPr>
              <a:t>no 10 </a:t>
            </a:r>
            <a:r>
              <a:rPr lang="en-US" sz="1400" dirty="0">
                <a:solidFill>
                  <a:srgbClr val="000000"/>
                </a:solidFill>
                <a:latin typeface="Arial" pitchFamily="34" charset="0"/>
                <a:ea typeface="Arial" pitchFamily="34" charset="-122"/>
                <a:cs typeface="Arial" pitchFamily="34" charset="-120"/>
              </a:rPr>
              <a:t>command. Then the correct ACE can be added using sequence number 10 as configured. Verify the changes using the </a:t>
            </a:r>
            <a:r>
              <a:rPr lang="en-US" sz="1400" b="1" dirty="0">
                <a:solidFill>
                  <a:srgbClr val="000000"/>
                </a:solidFill>
                <a:latin typeface="Arial" pitchFamily="34" charset="0"/>
                <a:ea typeface="Arial" pitchFamily="34" charset="-122"/>
                <a:cs typeface="Arial" pitchFamily="34" charset="-120"/>
              </a:rPr>
              <a:t>show access-lists </a:t>
            </a:r>
            <a:r>
              <a:rPr lang="en-US" sz="1400" dirty="0">
                <a:solidFill>
                  <a:srgbClr val="000000"/>
                </a:solidFill>
                <a:latin typeface="Arial" pitchFamily="34" charset="0"/>
                <a:ea typeface="Arial" pitchFamily="34" charset="-122"/>
                <a:cs typeface="Arial" pitchFamily="34" charset="-120"/>
              </a:rPr>
              <a:t>command.</a:t>
            </a:r>
          </a:p>
          <a:p>
            <a:pPr>
              <a:lnSpc>
                <a:spcPts val="2000"/>
              </a:lnSpc>
            </a:pPr>
            <a:endParaRPr lang="en-US" sz="1400" dirty="0">
              <a:solidFill>
                <a:srgbClr val="000000"/>
              </a:solidFill>
              <a:latin typeface="Arial" pitchFamily="34" charset="0"/>
              <a:cs typeface="Arial" pitchFamily="34" charset="-120"/>
            </a:endParaRP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44</a:t>
            </a:fld>
            <a:endParaRPr lang="en-US" dirty="0"/>
          </a:p>
        </p:txBody>
      </p:sp>
      <p:pic>
        <p:nvPicPr>
          <p:cNvPr id="4" name="Picture 3">
            <a:extLst>
              <a:ext uri="{FF2B5EF4-FFF2-40B4-BE49-F238E27FC236}">
                <a16:creationId xmlns:a16="http://schemas.microsoft.com/office/drawing/2014/main" id="{CBEF092D-828D-43E0-B2C2-C98ECDB53A83}"/>
              </a:ext>
            </a:extLst>
          </p:cNvPr>
          <p:cNvPicPr>
            <a:picLocks noChangeAspect="1"/>
          </p:cNvPicPr>
          <p:nvPr/>
        </p:nvPicPr>
        <p:blipFill>
          <a:blip r:embed="rId3"/>
          <a:stretch>
            <a:fillRect/>
          </a:stretch>
        </p:blipFill>
        <p:spPr>
          <a:xfrm>
            <a:off x="2130484" y="3097397"/>
            <a:ext cx="4267570" cy="153175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8.5 Implement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ACL Configuration Guidelines</a:t>
            </a:r>
          </a:p>
        </p:txBody>
      </p:sp>
      <p:sp>
        <p:nvSpPr>
          <p:cNvPr id="5" name="Object4"/>
          <p:cNvSpPr/>
          <p:nvPr/>
        </p:nvSpPr>
        <p:spPr>
          <a:xfrm>
            <a:off x="270163" y="91440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ACL is made up of one or more access control entries (ACEs) or statements. When configuring and applying an ACL, be aware of the guidelines summarized in this list:</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Create an ACL globally and then apply it.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Ensure the last statement is an implicit </a:t>
            </a:r>
            <a:r>
              <a:rPr lang="en-US" sz="1400" b="1" dirty="0">
                <a:solidFill>
                  <a:srgbClr val="000000"/>
                </a:solidFill>
                <a:latin typeface="Arial" pitchFamily="34" charset="0"/>
                <a:ea typeface="Arial" pitchFamily="34" charset="-122"/>
                <a:cs typeface="Arial" pitchFamily="34" charset="-120"/>
              </a:rPr>
              <a:t>deny any </a:t>
            </a:r>
            <a:r>
              <a:rPr lang="en-US" sz="1400" dirty="0">
                <a:solidFill>
                  <a:srgbClr val="000000"/>
                </a:solidFill>
                <a:latin typeface="Arial" pitchFamily="34" charset="0"/>
                <a:ea typeface="Arial" pitchFamily="34" charset="-122"/>
                <a:cs typeface="Arial" pitchFamily="34" charset="-120"/>
              </a:rPr>
              <a:t>or </a:t>
            </a:r>
            <a:r>
              <a:rPr lang="en-US" sz="1400" b="1" dirty="0">
                <a:solidFill>
                  <a:srgbClr val="000000"/>
                </a:solidFill>
                <a:latin typeface="Arial" pitchFamily="34" charset="0"/>
                <a:ea typeface="Arial" pitchFamily="34" charset="-122"/>
                <a:cs typeface="Arial" pitchFamily="34" charset="-120"/>
              </a:rPr>
              <a:t>deny ip any any</a:t>
            </a:r>
            <a:r>
              <a:rPr lang="en-US" sz="1400" dirty="0">
                <a:solidFill>
                  <a:srgbClr val="000000"/>
                </a:solidFill>
                <a:latin typeface="Arial" pitchFamily="34" charset="0"/>
                <a:ea typeface="Arial" pitchFamily="34" charset="-122"/>
                <a:cs typeface="Arial" pitchFamily="34" charset="-120"/>
              </a:rPr>
              <a: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Remember that statement order is important because ACLs are processed top-down.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As soon as a statement is matched the ACL is exited.</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Ensure that the most specific statements are at the top of the list.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Remember that only one ACL is allowed per interface, per protocol, per direction.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Remember that new statements for an existing ACL are added to the bottom of the ACL by default.</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Remember that router-generated packets are not filtered by outbound ACLs.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Place standard ACLs as close to the destination as possible.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Place extended ACLs as close to the source as possible.</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Apply an ACL</a:t>
            </a:r>
          </a:p>
        </p:txBody>
      </p:sp>
      <p:sp>
        <p:nvSpPr>
          <p:cNvPr id="5" name="Object4"/>
          <p:cNvSpPr/>
          <p:nvPr/>
        </p:nvSpPr>
        <p:spPr>
          <a:xfrm>
            <a:off x="0" y="766689"/>
            <a:ext cx="8959362" cy="54864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After creating an ACL, the administrator can apply it in a number of different ways. The following shows the command syntax to apply an ACL to an interface or to the vty lines.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47</a:t>
            </a:fld>
            <a:endParaRPr lang="en-US" dirty="0"/>
          </a:p>
        </p:txBody>
      </p:sp>
      <p:pic>
        <p:nvPicPr>
          <p:cNvPr id="9" name="Picture 8">
            <a:extLst>
              <a:ext uri="{FF2B5EF4-FFF2-40B4-BE49-F238E27FC236}">
                <a16:creationId xmlns:a16="http://schemas.microsoft.com/office/drawing/2014/main" id="{A6ED6503-7D20-4E96-9B70-CCABC64B88D0}"/>
              </a:ext>
            </a:extLst>
          </p:cNvPr>
          <p:cNvPicPr>
            <a:picLocks noChangeAspect="1"/>
          </p:cNvPicPr>
          <p:nvPr/>
        </p:nvPicPr>
        <p:blipFill>
          <a:blip r:embed="rId3"/>
          <a:stretch>
            <a:fillRect/>
          </a:stretch>
        </p:blipFill>
        <p:spPr>
          <a:xfrm>
            <a:off x="1796907" y="1612851"/>
            <a:ext cx="5550185" cy="958899"/>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Apply an ACL (Cont.)</a:t>
            </a:r>
          </a:p>
        </p:txBody>
      </p:sp>
      <p:sp>
        <p:nvSpPr>
          <p:cNvPr id="5" name="Object4"/>
          <p:cNvSpPr/>
          <p:nvPr/>
        </p:nvSpPr>
        <p:spPr>
          <a:xfrm>
            <a:off x="0" y="749105"/>
            <a:ext cx="8229600" cy="439615"/>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The figure below shows a named standard ACL applied to outbound traffic.</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48</a:t>
            </a:fld>
            <a:endParaRPr lang="en-US" dirty="0"/>
          </a:p>
        </p:txBody>
      </p:sp>
      <p:pic>
        <p:nvPicPr>
          <p:cNvPr id="4" name="Picture 3">
            <a:extLst>
              <a:ext uri="{FF2B5EF4-FFF2-40B4-BE49-F238E27FC236}">
                <a16:creationId xmlns:a16="http://schemas.microsoft.com/office/drawing/2014/main" id="{1022F12D-5634-4F96-A3AD-6B856A5396A9}"/>
              </a:ext>
            </a:extLst>
          </p:cNvPr>
          <p:cNvPicPr>
            <a:picLocks noChangeAspect="1"/>
          </p:cNvPicPr>
          <p:nvPr/>
        </p:nvPicPr>
        <p:blipFill>
          <a:blip r:embed="rId3"/>
          <a:stretch>
            <a:fillRect/>
          </a:stretch>
        </p:blipFill>
        <p:spPr>
          <a:xfrm>
            <a:off x="5388045" y="1463040"/>
            <a:ext cx="3596318" cy="1108710"/>
          </a:xfrm>
          <a:prstGeom prst="rect">
            <a:avLst/>
          </a:prstGeom>
        </p:spPr>
      </p:pic>
      <p:pic>
        <p:nvPicPr>
          <p:cNvPr id="6" name="Picture 5">
            <a:extLst>
              <a:ext uri="{FF2B5EF4-FFF2-40B4-BE49-F238E27FC236}">
                <a16:creationId xmlns:a16="http://schemas.microsoft.com/office/drawing/2014/main" id="{89CF2448-E2AF-4C74-AE40-87007D4B5E6F}"/>
              </a:ext>
            </a:extLst>
          </p:cNvPr>
          <p:cNvPicPr>
            <a:picLocks noChangeAspect="1"/>
          </p:cNvPicPr>
          <p:nvPr/>
        </p:nvPicPr>
        <p:blipFill>
          <a:blip r:embed="rId4"/>
          <a:stretch>
            <a:fillRect/>
          </a:stretch>
        </p:blipFill>
        <p:spPr>
          <a:xfrm>
            <a:off x="624253" y="1146488"/>
            <a:ext cx="4518292" cy="3323880"/>
          </a:xfrm>
          <a:prstGeom prst="rect">
            <a:avLst/>
          </a:prstGeom>
        </p:spPr>
      </p:pic>
    </p:spTree>
    <p:extLst>
      <p:ext uri="{BB962C8B-B14F-4D97-AF65-F5344CB8AC3E}">
        <p14:creationId xmlns:p14="http://schemas.microsoft.com/office/powerpoint/2010/main" val="18458865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Apply an ACL (Cont.)</a:t>
            </a:r>
          </a:p>
        </p:txBody>
      </p:sp>
      <p:sp>
        <p:nvSpPr>
          <p:cNvPr id="5" name="Object4"/>
          <p:cNvSpPr/>
          <p:nvPr/>
        </p:nvSpPr>
        <p:spPr>
          <a:xfrm>
            <a:off x="-8792" y="766689"/>
            <a:ext cx="8924192" cy="54864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figure shows two named extended ACLs. The SURFING ACL is applied to inbound traffic and the BROWSING ACL is applied to outbound traffic.</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49</a:t>
            </a:fld>
            <a:endParaRPr lang="en-US" dirty="0"/>
          </a:p>
        </p:txBody>
      </p:sp>
      <p:pic>
        <p:nvPicPr>
          <p:cNvPr id="4" name="Picture 3">
            <a:extLst>
              <a:ext uri="{FF2B5EF4-FFF2-40B4-BE49-F238E27FC236}">
                <a16:creationId xmlns:a16="http://schemas.microsoft.com/office/drawing/2014/main" id="{5C56557B-E7F3-47A7-A7E0-B80935612DB6}"/>
              </a:ext>
            </a:extLst>
          </p:cNvPr>
          <p:cNvPicPr>
            <a:picLocks noChangeAspect="1"/>
          </p:cNvPicPr>
          <p:nvPr/>
        </p:nvPicPr>
        <p:blipFill>
          <a:blip r:embed="rId3"/>
          <a:stretch>
            <a:fillRect/>
          </a:stretch>
        </p:blipFill>
        <p:spPr>
          <a:xfrm>
            <a:off x="4756638" y="2172380"/>
            <a:ext cx="4261442" cy="1437080"/>
          </a:xfrm>
          <a:prstGeom prst="rect">
            <a:avLst/>
          </a:prstGeom>
        </p:spPr>
      </p:pic>
      <p:pic>
        <p:nvPicPr>
          <p:cNvPr id="6" name="Picture 5">
            <a:extLst>
              <a:ext uri="{FF2B5EF4-FFF2-40B4-BE49-F238E27FC236}">
                <a16:creationId xmlns:a16="http://schemas.microsoft.com/office/drawing/2014/main" id="{A0887872-7C1D-4DD2-BBFA-336F6741CAC9}"/>
              </a:ext>
            </a:extLst>
          </p:cNvPr>
          <p:cNvPicPr>
            <a:picLocks noChangeAspect="1"/>
          </p:cNvPicPr>
          <p:nvPr/>
        </p:nvPicPr>
        <p:blipFill>
          <a:blip r:embed="rId4"/>
          <a:stretch>
            <a:fillRect/>
          </a:stretch>
        </p:blipFill>
        <p:spPr>
          <a:xfrm>
            <a:off x="7223" y="1534039"/>
            <a:ext cx="4564777" cy="2075421"/>
          </a:xfrm>
          <a:prstGeom prst="rect">
            <a:avLst/>
          </a:prstGeom>
        </p:spPr>
      </p:pic>
    </p:spTree>
    <p:extLst>
      <p:ext uri="{BB962C8B-B14F-4D97-AF65-F5344CB8AC3E}">
        <p14:creationId xmlns:p14="http://schemas.microsoft.com/office/powerpoint/2010/main" val="29316265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Apply an ACL (Cont.)</a:t>
            </a:r>
          </a:p>
        </p:txBody>
      </p:sp>
      <p:sp>
        <p:nvSpPr>
          <p:cNvPr id="5" name="Object4"/>
          <p:cNvSpPr/>
          <p:nvPr/>
        </p:nvSpPr>
        <p:spPr>
          <a:xfrm>
            <a:off x="0" y="945803"/>
            <a:ext cx="8924192" cy="54864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This example shows an ACL applied to the vty lines.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50</a:t>
            </a:fld>
            <a:endParaRPr lang="en-US" dirty="0"/>
          </a:p>
        </p:txBody>
      </p:sp>
      <p:pic>
        <p:nvPicPr>
          <p:cNvPr id="8" name="Picture 7">
            <a:extLst>
              <a:ext uri="{FF2B5EF4-FFF2-40B4-BE49-F238E27FC236}">
                <a16:creationId xmlns:a16="http://schemas.microsoft.com/office/drawing/2014/main" id="{DF900BA6-6950-48F0-8B70-87C698878F2A}"/>
              </a:ext>
            </a:extLst>
          </p:cNvPr>
          <p:cNvPicPr>
            <a:picLocks noChangeAspect="1"/>
          </p:cNvPicPr>
          <p:nvPr/>
        </p:nvPicPr>
        <p:blipFill>
          <a:blip r:embed="rId3"/>
          <a:stretch>
            <a:fillRect/>
          </a:stretch>
        </p:blipFill>
        <p:spPr>
          <a:xfrm>
            <a:off x="4707693" y="137160"/>
            <a:ext cx="4207707" cy="1592669"/>
          </a:xfrm>
          <a:prstGeom prst="rect">
            <a:avLst/>
          </a:prstGeom>
        </p:spPr>
      </p:pic>
      <p:pic>
        <p:nvPicPr>
          <p:cNvPr id="10" name="Picture 9">
            <a:extLst>
              <a:ext uri="{FF2B5EF4-FFF2-40B4-BE49-F238E27FC236}">
                <a16:creationId xmlns:a16="http://schemas.microsoft.com/office/drawing/2014/main" id="{490CC54E-F82A-4DAE-8548-A24CE61D38EA}"/>
              </a:ext>
            </a:extLst>
          </p:cNvPr>
          <p:cNvPicPr>
            <a:picLocks noChangeAspect="1"/>
          </p:cNvPicPr>
          <p:nvPr/>
        </p:nvPicPr>
        <p:blipFill>
          <a:blip r:embed="rId4"/>
          <a:stretch>
            <a:fillRect/>
          </a:stretch>
        </p:blipFill>
        <p:spPr>
          <a:xfrm>
            <a:off x="1400023" y="1737360"/>
            <a:ext cx="5886753" cy="3079908"/>
          </a:xfrm>
          <a:prstGeom prst="rect">
            <a:avLst/>
          </a:prstGeom>
        </p:spPr>
      </p:pic>
    </p:spTree>
    <p:extLst>
      <p:ext uri="{BB962C8B-B14F-4D97-AF65-F5344CB8AC3E}">
        <p14:creationId xmlns:p14="http://schemas.microsoft.com/office/powerpoint/2010/main" val="5408899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Where to Place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51</a:t>
            </a:fld>
            <a:endParaRPr lang="en-US" dirty="0"/>
          </a:p>
        </p:txBody>
      </p:sp>
      <p:sp>
        <p:nvSpPr>
          <p:cNvPr id="7" name="TextBox 6">
            <a:extLst>
              <a:ext uri="{FF2B5EF4-FFF2-40B4-BE49-F238E27FC236}">
                <a16:creationId xmlns:a16="http://schemas.microsoft.com/office/drawing/2014/main" id="{4D9E7E2D-44DF-40C9-AA6A-5B2A089308A6}"/>
              </a:ext>
            </a:extLst>
          </p:cNvPr>
          <p:cNvSpPr txBox="1"/>
          <p:nvPr/>
        </p:nvSpPr>
        <p:spPr>
          <a:xfrm>
            <a:off x="79131" y="735724"/>
            <a:ext cx="3288323" cy="2246769"/>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Every ACL should be placed where it is the most efficient.</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 figure illustrates where standard and extended ACLs should be located in an enterprise network. Assume the objective is to prevent traffic that originates in the 192.168.10.0/24 network from reaching the 192.168.30.0/24 network.</a:t>
            </a:r>
          </a:p>
        </p:txBody>
      </p:sp>
      <p:pic>
        <p:nvPicPr>
          <p:cNvPr id="5" name="Picture 4">
            <a:extLst>
              <a:ext uri="{FF2B5EF4-FFF2-40B4-BE49-F238E27FC236}">
                <a16:creationId xmlns:a16="http://schemas.microsoft.com/office/drawing/2014/main" id="{4E5B14AE-3DCE-4D5C-81F3-9044292705CD}"/>
              </a:ext>
            </a:extLst>
          </p:cNvPr>
          <p:cNvPicPr>
            <a:picLocks noChangeAspect="1"/>
          </p:cNvPicPr>
          <p:nvPr/>
        </p:nvPicPr>
        <p:blipFill>
          <a:blip r:embed="rId3"/>
          <a:stretch>
            <a:fillRect/>
          </a:stretch>
        </p:blipFill>
        <p:spPr>
          <a:xfrm>
            <a:off x="3446585" y="726997"/>
            <a:ext cx="5334462" cy="368077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Where to Place ACLs (Cont.)</a:t>
            </a:r>
          </a:p>
        </p:txBody>
      </p:sp>
      <p:graphicFrame>
        <p:nvGraphicFramePr>
          <p:cNvPr id="39" name="Table 38"/>
          <p:cNvGraphicFramePr>
            <a:graphicFrameLocks noGrp="1"/>
          </p:cNvGraphicFramePr>
          <p:nvPr>
            <p:extLst>
              <p:ext uri="{D42A27DB-BD31-4B8C-83A1-F6EECF244321}">
                <p14:modId xmlns:p14="http://schemas.microsoft.com/office/powerpoint/2010/main" val="4112782805"/>
              </p:ext>
            </p:extLst>
          </p:nvPr>
        </p:nvGraphicFramePr>
        <p:xfrm>
          <a:off x="91440" y="1463040"/>
          <a:ext cx="8961120" cy="2133600"/>
        </p:xfrm>
        <a:graphic>
          <a:graphicData uri="http://schemas.openxmlformats.org/drawingml/2006/table">
            <a:tbl>
              <a:tblPr/>
              <a:tblGrid>
                <a:gridCol w="310896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0">
                <a:tc>
                  <a:txBody>
                    <a:bodyPr/>
                    <a:lstStyle/>
                    <a:p>
                      <a:r>
                        <a:rPr lang="en-US" sz="1200" dirty="0">
                          <a:solidFill>
                            <a:srgbClr val="FFFFFF"/>
                          </a:solidFill>
                        </a:rPr>
                        <a:t>Factors Influencing ACL Placement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Explanation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rPr>
                        <a:t>The extent of organizational control</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Placement of the ACL can depend on whether or not the organization has control of both the source and destination networks.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rPr>
                        <a:t>Bandwidth of the networks involved</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It may be desirable to filter unwanted traffic at the source to prevent transmission of bandwidth-consuming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rPr>
                        <a:t>Ease of configuration</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200" dirty="0">
                          <a:solidFill>
                            <a:srgbClr val="58585B"/>
                          </a:solidFill>
                        </a:rPr>
                        <a:t>It may be easier to implement an ACL at the destination, but traffic will use bandwidth unnecessarily. </a:t>
                      </a:r>
                      <a:endParaRPr lang="en-US" sz="1200" dirty="0"/>
                    </a:p>
                    <a:p>
                      <a:pPr marL="171450" indent="-171450">
                        <a:buFont typeface="Arial" panose="020B0604020202020204" pitchFamily="34" charset="0"/>
                        <a:buChar char="•"/>
                      </a:pPr>
                      <a:r>
                        <a:rPr lang="en-US" sz="1200" dirty="0">
                          <a:solidFill>
                            <a:srgbClr val="58585B"/>
                          </a:solidFill>
                        </a:rPr>
                        <a:t>An extended ACL could be used on each router where the traffic originated. This would save bandwidth by filtering the traffic at the source, but it would require creating extended ACLs on multiple routers.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52</a:t>
            </a:fld>
            <a:endParaRPr lang="en-US" dirty="0"/>
          </a:p>
        </p:txBody>
      </p:sp>
      <p:sp>
        <p:nvSpPr>
          <p:cNvPr id="7" name="TextBox 6">
            <a:extLst>
              <a:ext uri="{FF2B5EF4-FFF2-40B4-BE49-F238E27FC236}">
                <a16:creationId xmlns:a16="http://schemas.microsoft.com/office/drawing/2014/main" id="{5420E09A-F3C9-4DA6-9D80-3FC017ECB379}"/>
              </a:ext>
            </a:extLst>
          </p:cNvPr>
          <p:cNvSpPr txBox="1"/>
          <p:nvPr/>
        </p:nvSpPr>
        <p:spPr>
          <a:xfrm>
            <a:off x="0" y="765672"/>
            <a:ext cx="8809892"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Placement of the ACL and therefore, the type of ACL used, may also depend on a variety of factors as listed in the table.</a:t>
            </a:r>
          </a:p>
        </p:txBody>
      </p:sp>
    </p:spTree>
    <p:extLst>
      <p:ext uri="{BB962C8B-B14F-4D97-AF65-F5344CB8AC3E}">
        <p14:creationId xmlns:p14="http://schemas.microsoft.com/office/powerpoint/2010/main" val="5319822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Standard ACL Placement Example</a:t>
            </a:r>
          </a:p>
        </p:txBody>
      </p:sp>
      <p:sp>
        <p:nvSpPr>
          <p:cNvPr id="5" name="Object4"/>
          <p:cNvSpPr/>
          <p:nvPr/>
        </p:nvSpPr>
        <p:spPr>
          <a:xfrm>
            <a:off x="0" y="914400"/>
            <a:ext cx="3279531"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Following the guidelines for ACL placement, standard ACLs should be located as close to the destination as possible. In the figure, the administrator wants to prevent traffic originating in the 192.168.10.0/24 network from reaching the 192.168.30.0/24 network.</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53</a:t>
            </a:fld>
            <a:endParaRPr lang="en-US" dirty="0"/>
          </a:p>
        </p:txBody>
      </p:sp>
      <p:pic>
        <p:nvPicPr>
          <p:cNvPr id="4" name="Picture 3">
            <a:extLst>
              <a:ext uri="{FF2B5EF4-FFF2-40B4-BE49-F238E27FC236}">
                <a16:creationId xmlns:a16="http://schemas.microsoft.com/office/drawing/2014/main" id="{8186189E-CDCE-4D89-BFF7-E693912EE758}"/>
              </a:ext>
            </a:extLst>
          </p:cNvPr>
          <p:cNvPicPr>
            <a:picLocks noChangeAspect="1"/>
          </p:cNvPicPr>
          <p:nvPr/>
        </p:nvPicPr>
        <p:blipFill>
          <a:blip r:embed="rId3"/>
          <a:stretch>
            <a:fillRect/>
          </a:stretch>
        </p:blipFill>
        <p:spPr>
          <a:xfrm>
            <a:off x="3801245" y="914400"/>
            <a:ext cx="4821040" cy="324218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 Configure Named Standard IPv4 ACLs  </a:t>
            </a:r>
          </a:p>
        </p:txBody>
      </p:sp>
      <p:sp>
        <p:nvSpPr>
          <p:cNvPr id="5" name="Object4"/>
          <p:cNvSpPr/>
          <p:nvPr/>
        </p:nvSpPr>
        <p:spPr>
          <a:xfrm>
            <a:off x="0" y="914400"/>
            <a:ext cx="9041524" cy="2571750"/>
          </a:xfrm>
          <a:prstGeom prst="rect">
            <a:avLst/>
          </a:prstGeom>
          <a:noFill/>
          <a:ln/>
        </p:spPr>
        <p:txBody>
          <a:bodyPr wrap="square" rtlCol="0" anchor="t"/>
          <a:lstStyle/>
          <a:p>
            <a:pPr>
              <a:lnSpc>
                <a:spcPts val="2000"/>
              </a:lnSpc>
            </a:pPr>
            <a:r>
              <a:rPr lang="en-US" dirty="0">
                <a:solidFill>
                  <a:srgbClr val="000000"/>
                </a:solidFill>
                <a:latin typeface="Arial" pitchFamily="34" charset="0"/>
                <a:ea typeface="Arial" pitchFamily="34" charset="-122"/>
                <a:cs typeface="Arial" pitchFamily="34" charset="-120"/>
              </a:rPr>
              <a:t>The senior network administrator has asked you to create a named standard ACL to prevent access to a file server. All clients from one network and one specific workstation from a different network should be denied access.</a:t>
            </a:r>
            <a:endParaRPr lang="en-US"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 Configure Numbered Standard IPv4 ACLs  </a:t>
            </a:r>
          </a:p>
        </p:txBody>
      </p:sp>
      <p:sp>
        <p:nvSpPr>
          <p:cNvPr id="5" name="Object4"/>
          <p:cNvSpPr/>
          <p:nvPr/>
        </p:nvSpPr>
        <p:spPr>
          <a:xfrm>
            <a:off x="0" y="914400"/>
            <a:ext cx="8797636"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Standard access control lists are router configuration scripts that control whether a router permits or denies packets based on the source address. This activity focuses on defining filtering criteria, configuring standard ACLs, applying ACLs to router interfaces, and verifying and testing the ACL implementation. The routers are already configured.</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Extended ACL Placement Example</a:t>
            </a:r>
          </a:p>
        </p:txBody>
      </p:sp>
      <p:sp>
        <p:nvSpPr>
          <p:cNvPr id="5" name="Object4"/>
          <p:cNvSpPr/>
          <p:nvPr/>
        </p:nvSpPr>
        <p:spPr>
          <a:xfrm>
            <a:off x="0" y="731520"/>
            <a:ext cx="3763108"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Extended ACLs should be located as close to the source as possible. This prevents unwanted traffic from being sent across multiple networks only to be denied when it reaches its destination. However, the organization can only place ACLs on devices that they control. Therefore, the extended ACL placement must be determined in the context of where organizational control extends. </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Company A wants to deny Telnet and FTP traffic to Company B’s 192.168.30.0/24 network from their 192.168.11.0/24 network while permitting all other traffic.</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56</a:t>
            </a:fld>
            <a:endParaRPr lang="en-US" dirty="0"/>
          </a:p>
        </p:txBody>
      </p:sp>
      <p:pic>
        <p:nvPicPr>
          <p:cNvPr id="4" name="Picture 3">
            <a:extLst>
              <a:ext uri="{FF2B5EF4-FFF2-40B4-BE49-F238E27FC236}">
                <a16:creationId xmlns:a16="http://schemas.microsoft.com/office/drawing/2014/main" id="{525C2B8D-C989-4243-87DA-1CFE7EF8F7C3}"/>
              </a:ext>
            </a:extLst>
          </p:cNvPr>
          <p:cNvPicPr>
            <a:picLocks noChangeAspect="1"/>
          </p:cNvPicPr>
          <p:nvPr/>
        </p:nvPicPr>
        <p:blipFill>
          <a:blip r:embed="rId3"/>
          <a:stretch>
            <a:fillRect/>
          </a:stretch>
        </p:blipFill>
        <p:spPr>
          <a:xfrm>
            <a:off x="3872102" y="731520"/>
            <a:ext cx="5162904" cy="360887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Configuring Extended ACLs Scenario 1</a:t>
            </a:r>
          </a:p>
        </p:txBody>
      </p:sp>
      <p:sp>
        <p:nvSpPr>
          <p:cNvPr id="5" name="Object4"/>
          <p:cNvSpPr/>
          <p:nvPr/>
        </p:nvSpPr>
        <p:spPr>
          <a:xfrm>
            <a:off x="180109" y="914400"/>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In this Packet Tracer activity, you will complete the following objectives: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1: Configure, Apply, and Verify an Extended Numbered IPv4 ACL</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2: Configure, Apply, and Verify an Extended Named IPv4 ACL</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Implement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 Configuring Extended ACLs Scenario 2</a:t>
            </a:r>
          </a:p>
        </p:txBody>
      </p:sp>
      <p:sp>
        <p:nvSpPr>
          <p:cNvPr id="5" name="Object4"/>
          <p:cNvSpPr/>
          <p:nvPr/>
        </p:nvSpPr>
        <p:spPr>
          <a:xfrm>
            <a:off x="200891" y="928255"/>
            <a:ext cx="8229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In this Packet Tracer activity, you will complete the following objectives: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1: Configure a Named Extended IPv4 ACL</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Part 2: Apply and Verify the Extended IPv4 ACL</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8.6 Mitigate Attacks with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Mitigate Spoofing Attacks</a:t>
            </a:r>
          </a:p>
        </p:txBody>
      </p:sp>
      <p:sp>
        <p:nvSpPr>
          <p:cNvPr id="5" name="Object4"/>
          <p:cNvSpPr/>
          <p:nvPr/>
        </p:nvSpPr>
        <p:spPr>
          <a:xfrm>
            <a:off x="0" y="615462"/>
            <a:ext cx="4237892"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IP address spoofing overrides the normal packet creation process by inserting a custom IP header with a different source IP address. There are many well-known classes of IP addresses that should never be source IP addresses for traffic entering an organization’s network. The S0/0/0 interface is attached to the internet and should never accept inbound packets from the following addresses: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All zeros addresses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Broadcast addresses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Local host addresses (127.0.0.0/8)</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Automatic Private IP Addressing (APIPA) addresses (169.254.0.0/16)</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Reserved private addresses (RFC 1918)</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IP multicast address range (224.0.0.0/4)</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60</a:t>
            </a:fld>
            <a:endParaRPr lang="en-US" dirty="0"/>
          </a:p>
        </p:txBody>
      </p:sp>
      <p:pic>
        <p:nvPicPr>
          <p:cNvPr id="7" name="Picture 6">
            <a:extLst>
              <a:ext uri="{FF2B5EF4-FFF2-40B4-BE49-F238E27FC236}">
                <a16:creationId xmlns:a16="http://schemas.microsoft.com/office/drawing/2014/main" id="{B1BF81F2-00E3-45A7-A2B4-51E5CEE89156}"/>
              </a:ext>
            </a:extLst>
          </p:cNvPr>
          <p:cNvPicPr>
            <a:picLocks noChangeAspect="1"/>
          </p:cNvPicPr>
          <p:nvPr/>
        </p:nvPicPr>
        <p:blipFill>
          <a:blip r:embed="rId3"/>
          <a:stretch>
            <a:fillRect/>
          </a:stretch>
        </p:blipFill>
        <p:spPr>
          <a:xfrm>
            <a:off x="4159471" y="612474"/>
            <a:ext cx="4797386" cy="376140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Permit Necessary Traffic through a Firewall</a:t>
            </a:r>
          </a:p>
        </p:txBody>
      </p:sp>
      <p:sp>
        <p:nvSpPr>
          <p:cNvPr id="5" name="Object4"/>
          <p:cNvSpPr/>
          <p:nvPr/>
        </p:nvSpPr>
        <p:spPr>
          <a:xfrm>
            <a:off x="0" y="914400"/>
            <a:ext cx="3613638"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effective strategy for mitigating attacks is to explicitly permit only certain types of traffic through a firewall. For example, Domain Name System (DNS), Simple Mail Transfer Protocol (SMTP), and File Transfer Protocol (FTP) are services that often must be allowed through a firewall. Secure Shell (SSH), syslog, and Simple Network Management Protocol (SNMP) are examples of services that a router may need to include. The figure shows an example topology with ACL configurations to permit specific services on the Serial 0/0/0 interface.</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61</a:t>
            </a:fld>
            <a:endParaRPr lang="en-US" dirty="0"/>
          </a:p>
        </p:txBody>
      </p:sp>
      <p:pic>
        <p:nvPicPr>
          <p:cNvPr id="7" name="Picture 6">
            <a:extLst>
              <a:ext uri="{FF2B5EF4-FFF2-40B4-BE49-F238E27FC236}">
                <a16:creationId xmlns:a16="http://schemas.microsoft.com/office/drawing/2014/main" id="{2FC85FD6-A35C-4E3B-BC64-20981CC07599}"/>
              </a:ext>
            </a:extLst>
          </p:cNvPr>
          <p:cNvPicPr>
            <a:picLocks noChangeAspect="1"/>
          </p:cNvPicPr>
          <p:nvPr/>
        </p:nvPicPr>
        <p:blipFill>
          <a:blip r:embed="rId3"/>
          <a:stretch>
            <a:fillRect/>
          </a:stretch>
        </p:blipFill>
        <p:spPr>
          <a:xfrm>
            <a:off x="3681879" y="731521"/>
            <a:ext cx="5248344" cy="372618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Mitigate ICMP Attacks</a:t>
            </a:r>
          </a:p>
        </p:txBody>
      </p:sp>
      <p:sp>
        <p:nvSpPr>
          <p:cNvPr id="5" name="Object4"/>
          <p:cNvSpPr/>
          <p:nvPr/>
        </p:nvSpPr>
        <p:spPr>
          <a:xfrm>
            <a:off x="-1" y="731520"/>
            <a:ext cx="9143999"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Both ICMP echo and redirect messages should be blocked inbound by the router. Several ICMP messages are recommended for proper network operation and should be allowed into the internal network:</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Echo reply </a:t>
            </a:r>
            <a:r>
              <a:rPr lang="en-US" sz="1400" dirty="0">
                <a:solidFill>
                  <a:srgbClr val="000000"/>
                </a:solidFill>
                <a:latin typeface="Arial" pitchFamily="34" charset="0"/>
                <a:ea typeface="Arial" pitchFamily="34" charset="-122"/>
                <a:cs typeface="Arial" pitchFamily="34" charset="-120"/>
              </a:rPr>
              <a:t>- Allows users to ping external hosts.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Source quench </a:t>
            </a:r>
            <a:r>
              <a:rPr lang="en-US" sz="1400" dirty="0">
                <a:solidFill>
                  <a:srgbClr val="000000"/>
                </a:solidFill>
                <a:latin typeface="Arial" pitchFamily="34" charset="0"/>
                <a:ea typeface="Arial" pitchFamily="34" charset="-122"/>
                <a:cs typeface="Arial" pitchFamily="34" charset="-120"/>
              </a:rPr>
              <a:t>- Requests that the sender decrease the traffic rate of messages.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Unreachable</a:t>
            </a:r>
            <a:r>
              <a:rPr lang="en-US" sz="1400" dirty="0">
                <a:solidFill>
                  <a:srgbClr val="000000"/>
                </a:solidFill>
                <a:latin typeface="Arial" pitchFamily="34" charset="0"/>
                <a:ea typeface="Arial" pitchFamily="34" charset="-122"/>
                <a:cs typeface="Arial" pitchFamily="34" charset="-120"/>
              </a:rPr>
              <a:t> - Generated for packets that are administratively denied by an ACL.</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Several ICMP messages are required for proper network operation and should be allowed to exit the network:</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Echo</a:t>
            </a:r>
            <a:r>
              <a:rPr lang="en-US" sz="1400" dirty="0">
                <a:solidFill>
                  <a:srgbClr val="000000"/>
                </a:solidFill>
                <a:latin typeface="Arial" pitchFamily="34" charset="0"/>
                <a:ea typeface="Arial" pitchFamily="34" charset="-122"/>
                <a:cs typeface="Arial" pitchFamily="34" charset="-120"/>
              </a:rPr>
              <a:t> - Allows users to ping external hosts.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Parameter problem </a:t>
            </a:r>
            <a:r>
              <a:rPr lang="en-US" sz="1400" dirty="0">
                <a:solidFill>
                  <a:srgbClr val="000000"/>
                </a:solidFill>
                <a:latin typeface="Arial" pitchFamily="34" charset="0"/>
                <a:ea typeface="Arial" pitchFamily="34" charset="-122"/>
                <a:cs typeface="Arial" pitchFamily="34" charset="-120"/>
              </a:rPr>
              <a:t>- Informs the host of packet header problems.</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Packet too big </a:t>
            </a:r>
            <a:r>
              <a:rPr lang="en-US" sz="1400" dirty="0">
                <a:solidFill>
                  <a:srgbClr val="000000"/>
                </a:solidFill>
                <a:latin typeface="Arial" pitchFamily="34" charset="0"/>
                <a:ea typeface="Arial" pitchFamily="34" charset="-122"/>
                <a:cs typeface="Arial" pitchFamily="34" charset="-120"/>
              </a:rPr>
              <a:t>- Enables packet maximum transmission unit (MTU) discovery.</a:t>
            </a:r>
          </a:p>
          <a:p>
            <a:pPr marL="285750" indent="-285750">
              <a:lnSpc>
                <a:spcPts val="2000"/>
              </a:lnSpc>
              <a:buFont typeface="Arial" panose="020B0604020202020204" pitchFamily="34" charset="0"/>
              <a:buChar char="•"/>
            </a:pPr>
            <a:r>
              <a:rPr lang="en-US" sz="1400" b="1" dirty="0">
                <a:solidFill>
                  <a:srgbClr val="000000"/>
                </a:solidFill>
                <a:latin typeface="Arial" pitchFamily="34" charset="0"/>
                <a:ea typeface="Arial" pitchFamily="34" charset="-122"/>
                <a:cs typeface="Arial" pitchFamily="34" charset="-120"/>
              </a:rPr>
              <a:t>Source quench </a:t>
            </a:r>
            <a:r>
              <a:rPr lang="en-US" sz="1400" dirty="0">
                <a:solidFill>
                  <a:srgbClr val="000000"/>
                </a:solidFill>
                <a:latin typeface="Arial" pitchFamily="34" charset="0"/>
                <a:ea typeface="Arial" pitchFamily="34" charset="-122"/>
                <a:cs typeface="Arial" pitchFamily="34" charset="-120"/>
              </a:rPr>
              <a:t>- Throttles down traffic when necessary.</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a:lnSpc>
                <a:spcPts val="2000"/>
              </a:lnSpc>
            </a:pPr>
            <a:r>
              <a:rPr lang="en-US" sz="1400" dirty="0">
                <a:solidFill>
                  <a:srgbClr val="000000"/>
                </a:solidFill>
                <a:latin typeface="Arial" pitchFamily="34" charset="0"/>
                <a:ea typeface="Arial" pitchFamily="34" charset="-122"/>
                <a:cs typeface="Arial" pitchFamily="34" charset="-120"/>
              </a:rPr>
              <a:t>As a rule, block all other ICMP message types outbound.</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156804-1CBA-4C2E-8B55-01870AB241B0}"/>
              </a:ext>
            </a:extLst>
          </p:cNvPr>
          <p:cNvPicPr>
            <a:picLocks noChangeAspect="1"/>
          </p:cNvPicPr>
          <p:nvPr/>
        </p:nvPicPr>
        <p:blipFill>
          <a:blip r:embed="rId3"/>
          <a:stretch>
            <a:fillRect/>
          </a:stretch>
        </p:blipFill>
        <p:spPr>
          <a:xfrm>
            <a:off x="3646311" y="548640"/>
            <a:ext cx="4919359" cy="4038600"/>
          </a:xfrm>
          <a:prstGeom prst="rect">
            <a:avLst/>
          </a:prstGeom>
        </p:spPr>
      </p:pic>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Mitigate ICMP Attacks (Cont.)</a:t>
            </a:r>
          </a:p>
        </p:txBody>
      </p:sp>
      <p:sp>
        <p:nvSpPr>
          <p:cNvPr id="5" name="Object4"/>
          <p:cNvSpPr/>
          <p:nvPr/>
        </p:nvSpPr>
        <p:spPr>
          <a:xfrm>
            <a:off x="228600" y="1272540"/>
            <a:ext cx="3101340" cy="190500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The example shows a sample topology and possible ACL configurations to permit specific ICMP services on the G0/0 and S0/0/0 interfaces.</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63</a:t>
            </a:fld>
            <a:endParaRPr lang="en-US" dirty="0"/>
          </a:p>
        </p:txBody>
      </p:sp>
    </p:spTree>
    <p:extLst>
      <p:ext uri="{BB962C8B-B14F-4D97-AF65-F5344CB8AC3E}">
        <p14:creationId xmlns:p14="http://schemas.microsoft.com/office/powerpoint/2010/main" val="10353530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Mitigate SNMP Attacks</a:t>
            </a:r>
          </a:p>
        </p:txBody>
      </p:sp>
      <p:sp>
        <p:nvSpPr>
          <p:cNvPr id="5" name="Object4"/>
          <p:cNvSpPr/>
          <p:nvPr/>
        </p:nvSpPr>
        <p:spPr>
          <a:xfrm>
            <a:off x="0" y="914400"/>
            <a:ext cx="3349869"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Exploitation of SNMP vulnerabilities can be mitigated by applying interface ACLs to filter SNMP packets from non-authorized systems. These security measures are helpful, but the most effective means of exploitation prevention is to disable the SNMP server on IOS devices for which it is not required. Use the command </a:t>
            </a:r>
            <a:r>
              <a:rPr lang="en-US" sz="1400" b="1" dirty="0">
                <a:solidFill>
                  <a:srgbClr val="000000"/>
                </a:solidFill>
                <a:latin typeface="Arial" pitchFamily="34" charset="0"/>
                <a:ea typeface="Arial" pitchFamily="34" charset="-122"/>
                <a:cs typeface="Arial" pitchFamily="34" charset="-120"/>
              </a:rPr>
              <a:t>no snmp-server </a:t>
            </a:r>
            <a:r>
              <a:rPr lang="en-US" sz="1400" dirty="0">
                <a:solidFill>
                  <a:srgbClr val="000000"/>
                </a:solidFill>
                <a:latin typeface="Arial" pitchFamily="34" charset="0"/>
                <a:ea typeface="Arial" pitchFamily="34" charset="-122"/>
                <a:cs typeface="Arial" pitchFamily="34" charset="-120"/>
              </a:rPr>
              <a:t>to disable SNMP services on Cisco IOS devices.</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64</a:t>
            </a:fld>
            <a:endParaRPr lang="en-US" dirty="0"/>
          </a:p>
        </p:txBody>
      </p:sp>
      <p:pic>
        <p:nvPicPr>
          <p:cNvPr id="4" name="Picture 3">
            <a:extLst>
              <a:ext uri="{FF2B5EF4-FFF2-40B4-BE49-F238E27FC236}">
                <a16:creationId xmlns:a16="http://schemas.microsoft.com/office/drawing/2014/main" id="{07765727-FAF4-409C-9E0A-84C6D565A341}"/>
              </a:ext>
            </a:extLst>
          </p:cNvPr>
          <p:cNvPicPr>
            <a:picLocks noChangeAspect="1"/>
          </p:cNvPicPr>
          <p:nvPr/>
        </p:nvPicPr>
        <p:blipFill>
          <a:blip r:embed="rId3"/>
          <a:stretch>
            <a:fillRect/>
          </a:stretch>
        </p:blipFill>
        <p:spPr>
          <a:xfrm>
            <a:off x="3767267" y="916533"/>
            <a:ext cx="5148133" cy="1283742"/>
          </a:xfrm>
          <a:prstGeom prst="rect">
            <a:avLst/>
          </a:prstGeom>
        </p:spPr>
      </p:pic>
      <p:pic>
        <p:nvPicPr>
          <p:cNvPr id="6" name="Picture 5">
            <a:extLst>
              <a:ext uri="{FF2B5EF4-FFF2-40B4-BE49-F238E27FC236}">
                <a16:creationId xmlns:a16="http://schemas.microsoft.com/office/drawing/2014/main" id="{1A572965-7116-4E4A-970B-CCC8C57830AC}"/>
              </a:ext>
            </a:extLst>
          </p:cNvPr>
          <p:cNvPicPr>
            <a:picLocks noChangeAspect="1"/>
          </p:cNvPicPr>
          <p:nvPr/>
        </p:nvPicPr>
        <p:blipFill>
          <a:blip r:embed="rId4"/>
          <a:stretch>
            <a:fillRect/>
          </a:stretch>
        </p:blipFill>
        <p:spPr>
          <a:xfrm>
            <a:off x="3460723" y="2464744"/>
            <a:ext cx="5572423" cy="278016"/>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Attacks with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 Configure IP ACLs to Mitigate Attacks</a:t>
            </a:r>
          </a:p>
        </p:txBody>
      </p:sp>
      <p:sp>
        <p:nvSpPr>
          <p:cNvPr id="5" name="Object4"/>
          <p:cNvSpPr/>
          <p:nvPr/>
        </p:nvSpPr>
        <p:spPr>
          <a:xfrm>
            <a:off x="0" y="914400"/>
            <a:ext cx="8610600"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In this Packet Tracer, you will complete the following objectives:</a:t>
            </a:r>
          </a:p>
          <a:p>
            <a:pPr>
              <a:lnSpc>
                <a:spcPts val="2000"/>
              </a:lnSpc>
            </a:pPr>
            <a:endParaRPr lang="en-US" sz="1400" dirty="0">
              <a:solidFill>
                <a:srgbClr val="000000"/>
              </a:solidFill>
              <a:latin typeface="Arial" pitchFamily="34" charset="0"/>
              <a:ea typeface="Arial" pitchFamily="34" charset="-122"/>
              <a:cs typeface="Arial" pitchFamily="34" charset="-120"/>
            </a:endParaRP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Verify connectivity among devices before firewall configuration.</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Use ACLs to ensure remote access to the routers is available from only management station PC-C.</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Configure ACLs on R1 and R3 to mitigate attacks.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Verify ACL functionality.</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65</a:t>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8.7 IPv6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1EEFA8-834B-45C7-BBD9-BACB0B76FC65}"/>
              </a:ext>
            </a:extLst>
          </p:cNvPr>
          <p:cNvPicPr>
            <a:picLocks noChangeAspect="1"/>
          </p:cNvPicPr>
          <p:nvPr/>
        </p:nvPicPr>
        <p:blipFill>
          <a:blip r:embed="rId3"/>
          <a:stretch>
            <a:fillRect/>
          </a:stretch>
        </p:blipFill>
        <p:spPr>
          <a:xfrm>
            <a:off x="3967025" y="1264920"/>
            <a:ext cx="4925515" cy="2476938"/>
          </a:xfrm>
          <a:prstGeom prst="rect">
            <a:avLst/>
          </a:prstGeom>
        </p:spPr>
      </p:pic>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IPv6 ACL Overview</a:t>
            </a:r>
          </a:p>
        </p:txBody>
      </p:sp>
      <p:sp>
        <p:nvSpPr>
          <p:cNvPr id="5" name="Object4"/>
          <p:cNvSpPr/>
          <p:nvPr/>
        </p:nvSpPr>
        <p:spPr>
          <a:xfrm>
            <a:off x="0" y="708660"/>
            <a:ext cx="4411980" cy="2571750"/>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As the migration to IPv6 continues, IPv6 attacks are becoming more pervasive. IPv4 will not disappear overnight. IPv4 will coexist with IPv6 and then gradually be replaced by IPv6. This creates potential security holes. An example of a security concern is attackers leveraging IPv4 to exploit IPv6 in dual stack environments. </a:t>
            </a:r>
          </a:p>
          <a:p>
            <a:pPr>
              <a:lnSpc>
                <a:spcPts val="2000"/>
              </a:lnSpc>
            </a:pPr>
            <a:endParaRPr lang="en-US" sz="1400" dirty="0">
              <a:latin typeface="Arial" panose="020B0604020202020204" pitchFamily="34" charset="0"/>
              <a:cs typeface="Arial" panose="020B0604020202020204" pitchFamily="34" charset="0"/>
            </a:endParaRPr>
          </a:p>
          <a:p>
            <a:pPr>
              <a:lnSpc>
                <a:spcPts val="2000"/>
              </a:lnSpc>
            </a:pPr>
            <a:r>
              <a:rPr lang="en-US" sz="1400" dirty="0">
                <a:latin typeface="Arial" panose="020B0604020202020204" pitchFamily="34" charset="0"/>
                <a:cs typeface="Arial" panose="020B0604020202020204" pitchFamily="34" charset="0"/>
              </a:rPr>
              <a:t>As shown in the figure, threat actors can accomplish stealth attacks that result in trust exploitation by using dual-stacked hosts, rogue Neighbor Discovery Protocol (NDP) messages, and tunneling techniques. To protect against these threats, filter at the edge using various techniques, such as IPv6 ACLs.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67</a:t>
            </a:fld>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IPv6 ACL Syntax</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68</a:t>
            </a:fld>
            <a:endParaRPr lang="en-US" dirty="0"/>
          </a:p>
        </p:txBody>
      </p:sp>
      <p:sp>
        <p:nvSpPr>
          <p:cNvPr id="7" name="TextBox 6">
            <a:extLst>
              <a:ext uri="{FF2B5EF4-FFF2-40B4-BE49-F238E27FC236}">
                <a16:creationId xmlns:a16="http://schemas.microsoft.com/office/drawing/2014/main" id="{5446294D-EB57-4108-9F2D-320557889A15}"/>
              </a:ext>
            </a:extLst>
          </p:cNvPr>
          <p:cNvSpPr txBox="1"/>
          <p:nvPr/>
        </p:nvSpPr>
        <p:spPr>
          <a:xfrm>
            <a:off x="123092" y="731520"/>
            <a:ext cx="8792308" cy="203132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ACL functionality in IPv6 is like ACLs in IPv4. However, there is no equivalent to IPv4 standard ACLs. All IPv6 ACLs must be configured with a name. IPv6 ACLs allow filtering based on source and destination addresses that are traveling inbound and outbound to a specific interface. They also support traffic filtering based on IPv6 option headers and optional, upper-layer protocol type information for finer granularity of control, like extended ACLs in IPv4.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To configure an IPv6 ACL, use the </a:t>
            </a:r>
            <a:r>
              <a:rPr lang="en-US" sz="1400" b="1" dirty="0">
                <a:latin typeface="Arial" panose="020B0604020202020204" pitchFamily="34" charset="0"/>
                <a:cs typeface="Arial" panose="020B0604020202020204" pitchFamily="34" charset="0"/>
              </a:rPr>
              <a:t>ipv6 access-list </a:t>
            </a:r>
            <a:r>
              <a:rPr lang="en-US" sz="1400" dirty="0">
                <a:latin typeface="Arial" panose="020B0604020202020204" pitchFamily="34" charset="0"/>
                <a:cs typeface="Arial" panose="020B0604020202020204" pitchFamily="34" charset="0"/>
              </a:rPr>
              <a:t>command to enter into IPv6 ACL configuration mode. Next, use the syntax shown in the figure to configure each access list entry to specifically permit or deny traffic. Apply an IPv6 ACL to an interface with the </a:t>
            </a:r>
            <a:r>
              <a:rPr lang="en-US" sz="1400" b="1" dirty="0">
                <a:latin typeface="Arial" panose="020B0604020202020204" pitchFamily="34" charset="0"/>
                <a:cs typeface="Arial" panose="020B0604020202020204" pitchFamily="34" charset="0"/>
              </a:rPr>
              <a:t>ipv6 traffic-filter </a:t>
            </a:r>
            <a:r>
              <a:rPr lang="en-US" sz="1400" dirty="0">
                <a:latin typeface="Arial" panose="020B0604020202020204" pitchFamily="34" charset="0"/>
                <a:cs typeface="Arial" panose="020B0604020202020204" pitchFamily="34" charset="0"/>
              </a:rPr>
              <a:t>command.</a:t>
            </a:r>
          </a:p>
        </p:txBody>
      </p:sp>
      <p:pic>
        <p:nvPicPr>
          <p:cNvPr id="5" name="Picture 4">
            <a:extLst>
              <a:ext uri="{FF2B5EF4-FFF2-40B4-BE49-F238E27FC236}">
                <a16:creationId xmlns:a16="http://schemas.microsoft.com/office/drawing/2014/main" id="{D9B8624E-7119-4FCF-9363-CE0D85D68A5C}"/>
              </a:ext>
            </a:extLst>
          </p:cNvPr>
          <p:cNvPicPr>
            <a:picLocks noChangeAspect="1"/>
          </p:cNvPicPr>
          <p:nvPr/>
        </p:nvPicPr>
        <p:blipFill>
          <a:blip r:embed="rId3"/>
          <a:stretch>
            <a:fillRect/>
          </a:stretch>
        </p:blipFill>
        <p:spPr>
          <a:xfrm>
            <a:off x="965598" y="2811543"/>
            <a:ext cx="7212803" cy="9016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IPv6 ACL Syntax (Cont.)</a:t>
            </a:r>
          </a:p>
        </p:txBody>
      </p:sp>
      <p:graphicFrame>
        <p:nvGraphicFramePr>
          <p:cNvPr id="58" name="Table 57"/>
          <p:cNvGraphicFramePr>
            <a:graphicFrameLocks noGrp="1"/>
          </p:cNvGraphicFramePr>
          <p:nvPr>
            <p:extLst>
              <p:ext uri="{D42A27DB-BD31-4B8C-83A1-F6EECF244321}">
                <p14:modId xmlns:p14="http://schemas.microsoft.com/office/powerpoint/2010/main" val="3832248677"/>
              </p:ext>
            </p:extLst>
          </p:nvPr>
        </p:nvGraphicFramePr>
        <p:xfrm>
          <a:off x="91440" y="872196"/>
          <a:ext cx="8961120" cy="3169920"/>
        </p:xfrm>
        <a:graphic>
          <a:graphicData uri="http://schemas.openxmlformats.org/drawingml/2006/table">
            <a:tbl>
              <a:tblPr/>
              <a:tblGrid>
                <a:gridCol w="3082583">
                  <a:extLst>
                    <a:ext uri="{9D8B030D-6E8A-4147-A177-3AD203B41FA5}">
                      <a16:colId xmlns:a16="http://schemas.microsoft.com/office/drawing/2014/main" val="20000"/>
                    </a:ext>
                  </a:extLst>
                </a:gridCol>
                <a:gridCol w="5878537">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deny</a:t>
                      </a:r>
                      <a:r>
                        <a:rPr lang="en-US" sz="1200" dirty="0">
                          <a:solidFill>
                            <a:srgbClr val="58585B"/>
                          </a:solidFill>
                          <a:latin typeface="Courier New" panose="02070309020205020404" pitchFamily="49" charset="0"/>
                          <a:cs typeface="Courier New" panose="02070309020205020404" pitchFamily="49" charset="0"/>
                        </a:rPr>
                        <a:t> | </a:t>
                      </a:r>
                      <a:r>
                        <a:rPr lang="en-US" sz="1200" b="1" dirty="0">
                          <a:solidFill>
                            <a:srgbClr val="58585B"/>
                          </a:solidFill>
                          <a:latin typeface="Courier New" panose="02070309020205020404" pitchFamily="49" charset="0"/>
                          <a:cs typeface="Courier New" panose="02070309020205020404" pitchFamily="49" charset="0"/>
                        </a:rPr>
                        <a:t>permit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Specifies whether to deny or permit the packet.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latin typeface="Courier New" panose="02070309020205020404" pitchFamily="49" charset="0"/>
                          <a:cs typeface="Courier New" panose="02070309020205020404" pitchFamily="49" charset="0"/>
                        </a:rPr>
                        <a:t>protocol</a:t>
                      </a:r>
                      <a:endParaRPr lang="en-US" sz="1200"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Enter the name or number of an Internet protocol, or an integer representing an IPv6 protocol number.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source-ipv6-prefix</a:t>
                      </a:r>
                      <a:r>
                        <a:rPr lang="en-US" sz="1200" b="1" i="0" dirty="0">
                          <a:solidFill>
                            <a:srgbClr val="58585B"/>
                          </a:solidFill>
                          <a:latin typeface="Courier New" panose="02070309020205020404" pitchFamily="49" charset="0"/>
                          <a:cs typeface="Courier New" panose="02070309020205020404" pitchFamily="49" charset="0"/>
                        </a:rPr>
                        <a:t>/</a:t>
                      </a:r>
                      <a:r>
                        <a:rPr lang="en-US" sz="1200" i="1" dirty="0">
                          <a:solidFill>
                            <a:srgbClr val="58585B"/>
                          </a:solidFill>
                          <a:latin typeface="Courier New" panose="02070309020205020404" pitchFamily="49" charset="0"/>
                          <a:cs typeface="Courier New" panose="02070309020205020404" pitchFamily="49" charset="0"/>
                        </a:rPr>
                        <a:t>prefix-length  destination-ipv6-address</a:t>
                      </a:r>
                      <a:r>
                        <a:rPr lang="en-US" sz="1200" b="1" i="0" dirty="0">
                          <a:solidFill>
                            <a:srgbClr val="58585B"/>
                          </a:solidFill>
                          <a:latin typeface="Courier New" panose="02070309020205020404" pitchFamily="49" charset="0"/>
                          <a:cs typeface="Courier New" panose="02070309020205020404" pitchFamily="49" charset="0"/>
                        </a:rPr>
                        <a:t>/</a:t>
                      </a:r>
                      <a:r>
                        <a:rPr lang="en-US" sz="1200" i="1" dirty="0">
                          <a:solidFill>
                            <a:srgbClr val="58585B"/>
                          </a:solidFill>
                          <a:latin typeface="Courier New" panose="02070309020205020404" pitchFamily="49" charset="0"/>
                          <a:cs typeface="Courier New" panose="02070309020205020404" pitchFamily="49" charset="0"/>
                        </a:rPr>
                        <a:t>prefix-length</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source or destination IPv6 network or class of networks for which to set </a:t>
                      </a:r>
                      <a:r>
                        <a:rPr lang="en-US" sz="1200" b="1" dirty="0">
                          <a:solidFill>
                            <a:srgbClr val="58585B"/>
                          </a:solidFill>
                        </a:rPr>
                        <a:t>deny</a:t>
                      </a:r>
                      <a:r>
                        <a:rPr lang="en-US" sz="1200" dirty="0">
                          <a:solidFill>
                            <a:srgbClr val="58585B"/>
                          </a:solidFill>
                        </a:rPr>
                        <a:t> or </a:t>
                      </a:r>
                      <a:r>
                        <a:rPr lang="en-US" sz="1200" b="1" dirty="0">
                          <a:solidFill>
                            <a:srgbClr val="58585B"/>
                          </a:solidFill>
                        </a:rPr>
                        <a:t>permit</a:t>
                      </a:r>
                      <a:r>
                        <a:rPr lang="en-US" sz="1200" dirty="0">
                          <a:solidFill>
                            <a:srgbClr val="58585B"/>
                          </a:solidFill>
                        </a:rPr>
                        <a:t> conditions.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any</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Enter </a:t>
                      </a:r>
                      <a:r>
                        <a:rPr lang="en-US" sz="1200" b="1" dirty="0">
                          <a:solidFill>
                            <a:srgbClr val="58585B"/>
                          </a:solidFill>
                        </a:rPr>
                        <a:t>any</a:t>
                      </a:r>
                      <a:r>
                        <a:rPr lang="en-US" sz="1200" dirty="0">
                          <a:solidFill>
                            <a:srgbClr val="58585B"/>
                          </a:solidFill>
                        </a:rPr>
                        <a:t> as an abbreviation for the IPv6 prefix ::/0. This matches all addresses.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host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For </a:t>
                      </a:r>
                      <a:r>
                        <a:rPr lang="en-US" sz="1200" b="1" dirty="0">
                          <a:solidFill>
                            <a:srgbClr val="58585B"/>
                          </a:solidFill>
                        </a:rPr>
                        <a:t>host</a:t>
                      </a:r>
                      <a:r>
                        <a:rPr lang="en-US" sz="1200" dirty="0">
                          <a:solidFill>
                            <a:srgbClr val="58585B"/>
                          </a:solidFill>
                        </a:rPr>
                        <a:t> </a:t>
                      </a:r>
                      <a:r>
                        <a:rPr lang="en-US" sz="1200" i="1" dirty="0">
                          <a:solidFill>
                            <a:srgbClr val="58585B"/>
                          </a:solidFill>
                        </a:rPr>
                        <a:t>source-ipv6-address</a:t>
                      </a:r>
                      <a:r>
                        <a:rPr lang="en-US" sz="1200" dirty="0">
                          <a:solidFill>
                            <a:srgbClr val="58585B"/>
                          </a:solidFill>
                        </a:rPr>
                        <a:t> or </a:t>
                      </a:r>
                      <a:r>
                        <a:rPr lang="en-US" sz="1200" i="1" dirty="0">
                          <a:solidFill>
                            <a:srgbClr val="58585B"/>
                          </a:solidFill>
                        </a:rPr>
                        <a:t>destination-ipv6-address</a:t>
                      </a:r>
                      <a:r>
                        <a:rPr lang="en-US" sz="1200" dirty="0">
                          <a:solidFill>
                            <a:srgbClr val="58585B"/>
                          </a:solidFill>
                        </a:rPr>
                        <a:t> , enter the source or destination IPv6 host address for which to set </a:t>
                      </a:r>
                      <a:r>
                        <a:rPr lang="en-US" sz="1200" b="1" dirty="0">
                          <a:solidFill>
                            <a:srgbClr val="58585B"/>
                          </a:solidFill>
                        </a:rPr>
                        <a:t>deny</a:t>
                      </a:r>
                      <a:r>
                        <a:rPr lang="en-US" sz="1200" dirty="0">
                          <a:solidFill>
                            <a:srgbClr val="58585B"/>
                          </a:solidFill>
                        </a:rPr>
                        <a:t> or </a:t>
                      </a:r>
                      <a:r>
                        <a:rPr lang="en-US" sz="1200" b="1" dirty="0">
                          <a:solidFill>
                            <a:srgbClr val="58585B"/>
                          </a:solidFill>
                        </a:rPr>
                        <a:t>permit</a:t>
                      </a:r>
                      <a:r>
                        <a:rPr lang="en-US" sz="1200" dirty="0">
                          <a:solidFill>
                            <a:srgbClr val="58585B"/>
                          </a:solidFill>
                        </a:rPr>
                        <a:t> conditions.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operator</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An operand that compares the source or destination ports of the specified protocol. Operands are </a:t>
                      </a:r>
                      <a:r>
                        <a:rPr lang="en-US" sz="1200" b="1" dirty="0">
                          <a:solidFill>
                            <a:srgbClr val="58585B"/>
                          </a:solidFill>
                        </a:rPr>
                        <a:t>lt</a:t>
                      </a:r>
                      <a:r>
                        <a:rPr lang="en-US" sz="1200" dirty="0">
                          <a:solidFill>
                            <a:srgbClr val="58585B"/>
                          </a:solidFill>
                        </a:rPr>
                        <a:t> (less than), </a:t>
                      </a:r>
                      <a:r>
                        <a:rPr lang="en-US" sz="1200" b="1" dirty="0">
                          <a:solidFill>
                            <a:srgbClr val="58585B"/>
                          </a:solidFill>
                        </a:rPr>
                        <a:t>gt</a:t>
                      </a:r>
                      <a:r>
                        <a:rPr lang="en-US" sz="1200" dirty="0">
                          <a:solidFill>
                            <a:srgbClr val="58585B"/>
                          </a:solidFill>
                        </a:rPr>
                        <a:t> (greater than), </a:t>
                      </a:r>
                      <a:r>
                        <a:rPr lang="en-US" sz="1200" b="1" dirty="0">
                          <a:solidFill>
                            <a:srgbClr val="58585B"/>
                          </a:solidFill>
                        </a:rPr>
                        <a:t>eq</a:t>
                      </a:r>
                      <a:r>
                        <a:rPr lang="en-US" sz="1200" dirty="0">
                          <a:solidFill>
                            <a:srgbClr val="58585B"/>
                          </a:solidFill>
                        </a:rPr>
                        <a:t> (equal), </a:t>
                      </a:r>
                      <a:r>
                        <a:rPr lang="en-US" sz="1200" b="1" dirty="0">
                          <a:solidFill>
                            <a:srgbClr val="58585B"/>
                          </a:solidFill>
                        </a:rPr>
                        <a:t>neq</a:t>
                      </a:r>
                      <a:r>
                        <a:rPr lang="en-US" sz="1200" dirty="0">
                          <a:solidFill>
                            <a:srgbClr val="58585B"/>
                          </a:solidFill>
                        </a:rPr>
                        <a:t> (not equal), and </a:t>
                      </a:r>
                      <a:r>
                        <a:rPr lang="en-US" sz="1200" b="1" dirty="0">
                          <a:solidFill>
                            <a:srgbClr val="58585B"/>
                          </a:solidFill>
                        </a:rPr>
                        <a:t>range</a:t>
                      </a:r>
                      <a:r>
                        <a:rPr lang="en-US" sz="1200" dirty="0">
                          <a:solidFill>
                            <a:srgbClr val="58585B"/>
                          </a:solidFill>
                        </a:rPr>
                        <a: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r>
                        <a:rPr lang="en-US" sz="1200" i="1" dirty="0">
                          <a:solidFill>
                            <a:srgbClr val="58585B"/>
                          </a:solidFill>
                          <a:latin typeface="Courier New" panose="02070309020205020404" pitchFamily="49" charset="0"/>
                          <a:cs typeface="Courier New" panose="02070309020205020404" pitchFamily="49" charset="0"/>
                        </a:rPr>
                        <a:t>port-number</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A decimal number or the name of a TCP or UDP port for filtering TCP or UDP, respectively.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69</a:t>
            </a:fld>
            <a:endParaRPr lang="en-US" dirty="0"/>
          </a:p>
        </p:txBody>
      </p:sp>
      <p:sp>
        <p:nvSpPr>
          <p:cNvPr id="6" name="TextBox 5">
            <a:extLst>
              <a:ext uri="{FF2B5EF4-FFF2-40B4-BE49-F238E27FC236}">
                <a16:creationId xmlns:a16="http://schemas.microsoft.com/office/drawing/2014/main" id="{1260B780-AFCF-40EB-8000-6DA2DB3A0676}"/>
              </a:ext>
            </a:extLst>
          </p:cNvPr>
          <p:cNvSpPr txBox="1"/>
          <p:nvPr/>
        </p:nvSpPr>
        <p:spPr>
          <a:xfrm>
            <a:off x="2785113" y="4090304"/>
            <a:ext cx="3169328" cy="307777"/>
          </a:xfrm>
          <a:prstGeom prst="rect">
            <a:avLst/>
          </a:prstGeom>
          <a:noFill/>
        </p:spPr>
        <p:txBody>
          <a:bodyPr wrap="square" rtlCol="0">
            <a:spAutoFit/>
          </a:bodyPr>
          <a:lstStyle/>
          <a:p>
            <a:pPr algn="ctr"/>
            <a:r>
              <a:rPr lang="en-US" sz="1400" dirty="0"/>
              <a:t>(table continued on next slide)</a:t>
            </a:r>
          </a:p>
        </p:txBody>
      </p:sp>
    </p:spTree>
    <p:extLst>
      <p:ext uri="{BB962C8B-B14F-4D97-AF65-F5344CB8AC3E}">
        <p14:creationId xmlns:p14="http://schemas.microsoft.com/office/powerpoint/2010/main" val="10884422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IPv6 ACL Syntax (Cont.)</a:t>
            </a:r>
          </a:p>
        </p:txBody>
      </p:sp>
      <p:graphicFrame>
        <p:nvGraphicFramePr>
          <p:cNvPr id="58" name="Table 57"/>
          <p:cNvGraphicFramePr>
            <a:graphicFrameLocks noGrp="1"/>
          </p:cNvGraphicFramePr>
          <p:nvPr>
            <p:extLst>
              <p:ext uri="{D42A27DB-BD31-4B8C-83A1-F6EECF244321}">
                <p14:modId xmlns:p14="http://schemas.microsoft.com/office/powerpoint/2010/main" val="2039375382"/>
              </p:ext>
            </p:extLst>
          </p:nvPr>
        </p:nvGraphicFramePr>
        <p:xfrm>
          <a:off x="91440" y="888023"/>
          <a:ext cx="8961120" cy="3276600"/>
        </p:xfrm>
        <a:graphic>
          <a:graphicData uri="http://schemas.openxmlformats.org/drawingml/2006/table">
            <a:tbl>
              <a:tblPr/>
              <a:tblGrid>
                <a:gridCol w="2045091">
                  <a:extLst>
                    <a:ext uri="{9D8B030D-6E8A-4147-A177-3AD203B41FA5}">
                      <a16:colId xmlns:a16="http://schemas.microsoft.com/office/drawing/2014/main" val="20000"/>
                    </a:ext>
                  </a:extLst>
                </a:gridCol>
                <a:gridCol w="6916029">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dscp</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Matches a differentiated services codepoint value against the traffic class value in the Traffic Class field of each IPv6 packet header. The acceptable range is from 0 to 63.</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fragments</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Matches non-initial fragmented packets where the fragment extension header contains a non-zero fragment offset. The </a:t>
                      </a:r>
                      <a:r>
                        <a:rPr lang="en-US" sz="1200" b="1" dirty="0">
                          <a:solidFill>
                            <a:srgbClr val="58585B"/>
                          </a:solidFill>
                        </a:rPr>
                        <a:t>fragments</a:t>
                      </a:r>
                      <a:r>
                        <a:rPr lang="en-US" sz="1200" dirty="0">
                          <a:solidFill>
                            <a:srgbClr val="58585B"/>
                          </a:solidFill>
                        </a:rPr>
                        <a:t> keyword is an option only if the operator [port-number ] arguments are not specified. When this keyword is used, it also matches when the first fragment does not have Layer 4 information.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log</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Causes an informational logging message about the packet that matches the entry to be sent to the console. (The level of messages logged to the console is controlled by the </a:t>
                      </a:r>
                      <a:r>
                        <a:rPr lang="en-US" sz="1200" b="1" dirty="0">
                          <a:solidFill>
                            <a:srgbClr val="58585B"/>
                          </a:solidFill>
                        </a:rPr>
                        <a:t>logging console </a:t>
                      </a:r>
                      <a:r>
                        <a:rPr lang="en-US" sz="1200" dirty="0">
                          <a:solidFill>
                            <a:srgbClr val="58585B"/>
                          </a:solidFill>
                        </a:rPr>
                        <a:t>command.)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log input</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Provides the same function as the </a:t>
                      </a:r>
                      <a:r>
                        <a:rPr lang="en-US" sz="1200" b="1" dirty="0">
                          <a:solidFill>
                            <a:srgbClr val="58585B"/>
                          </a:solidFill>
                        </a:rPr>
                        <a:t>log</a:t>
                      </a:r>
                      <a:r>
                        <a:rPr lang="en-US" sz="1200" dirty="0">
                          <a:solidFill>
                            <a:srgbClr val="58585B"/>
                          </a:solidFill>
                        </a:rPr>
                        <a:t> keyword, except that the logging message also includes the input interface.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sequence</a:t>
                      </a:r>
                      <a:r>
                        <a:rPr lang="en-US" sz="1200" dirty="0">
                          <a:solidFill>
                            <a:srgbClr val="58585B"/>
                          </a:solidFill>
                          <a:latin typeface="Courier New" panose="02070309020205020404" pitchFamily="49" charset="0"/>
                          <a:cs typeface="Courier New" panose="02070309020205020404" pitchFamily="49" charset="0"/>
                        </a:rPr>
                        <a:t> </a:t>
                      </a:r>
                      <a:r>
                        <a:rPr lang="en-US" sz="1200" i="1" dirty="0">
                          <a:solidFill>
                            <a:srgbClr val="58585B"/>
                          </a:solidFill>
                          <a:latin typeface="Courier New" panose="02070309020205020404" pitchFamily="49" charset="0"/>
                          <a:cs typeface="Courier New" panose="02070309020205020404" pitchFamily="49" charset="0"/>
                        </a:rPr>
                        <a:t>value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(Optional) Specifies the sequence number </a:t>
                      </a:r>
                      <a:r>
                        <a:rPr lang="en-US" sz="1200" i="1" dirty="0">
                          <a:solidFill>
                            <a:srgbClr val="58585B"/>
                          </a:solidFill>
                        </a:rPr>
                        <a:t>value</a:t>
                      </a:r>
                      <a:r>
                        <a:rPr lang="en-US" sz="1200" dirty="0">
                          <a:solidFill>
                            <a:srgbClr val="58585B"/>
                          </a:solidFill>
                        </a:rPr>
                        <a:t> for the access list statement. The acceptable range is from 1 to 4294967295.</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time-range </a:t>
                      </a:r>
                      <a:r>
                        <a:rPr lang="en-US" sz="1200" b="0" i="1" dirty="0">
                          <a:solidFill>
                            <a:srgbClr val="58585B"/>
                          </a:solidFill>
                          <a:latin typeface="Courier New" panose="02070309020205020404" pitchFamily="49" charset="0"/>
                          <a:cs typeface="Courier New" panose="02070309020205020404" pitchFamily="49" charset="0"/>
                        </a:rPr>
                        <a:t>name</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(Optional) Specifies the time range that applies to the permit statement. The name of the time range and its restrictions are specified by the </a:t>
                      </a:r>
                      <a:r>
                        <a:rPr lang="en-US" sz="1200" b="1" dirty="0">
                          <a:solidFill>
                            <a:srgbClr val="58585B"/>
                          </a:solidFill>
                        </a:rPr>
                        <a:t>time-range</a:t>
                      </a:r>
                      <a:r>
                        <a:rPr lang="en-US" sz="1200" dirty="0">
                          <a:solidFill>
                            <a:srgbClr val="58585B"/>
                          </a:solidFill>
                        </a:rPr>
                        <a:t> and </a:t>
                      </a:r>
                      <a:r>
                        <a:rPr lang="en-US" sz="1200" b="1" dirty="0">
                          <a:solidFill>
                            <a:srgbClr val="58585B"/>
                          </a:solidFill>
                        </a:rPr>
                        <a:t>absolute</a:t>
                      </a:r>
                      <a:r>
                        <a:rPr lang="en-US" sz="1200" dirty="0">
                          <a:solidFill>
                            <a:srgbClr val="58585B"/>
                          </a:solidFill>
                        </a:rPr>
                        <a:t> or </a:t>
                      </a:r>
                      <a:r>
                        <a:rPr lang="en-US" sz="1200" b="1" dirty="0">
                          <a:solidFill>
                            <a:srgbClr val="58585B"/>
                          </a:solidFill>
                        </a:rPr>
                        <a:t>periodic</a:t>
                      </a:r>
                      <a:r>
                        <a:rPr lang="en-US" sz="1200" dirty="0">
                          <a:solidFill>
                            <a:srgbClr val="58585B"/>
                          </a:solidFill>
                        </a:rPr>
                        <a:t> commands, respectively.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70</a:t>
            </a:fld>
            <a:endParaRPr lang="en-US" dirty="0"/>
          </a:p>
        </p:txBody>
      </p:sp>
    </p:spTree>
    <p:extLst>
      <p:ext uri="{BB962C8B-B14F-4D97-AF65-F5344CB8AC3E}">
        <p14:creationId xmlns:p14="http://schemas.microsoft.com/office/powerpoint/2010/main" val="39110030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IPv6 ACLs</a:t>
            </a:r>
          </a:p>
        </p:txBody>
      </p:sp>
      <p:sp>
        <p:nvSpPr>
          <p:cNvPr id="5" name="Object4"/>
          <p:cNvSpPr/>
          <p:nvPr/>
        </p:nvSpPr>
        <p:spPr>
          <a:xfrm>
            <a:off x="1" y="699868"/>
            <a:ext cx="4791807" cy="2571750"/>
          </a:xfrm>
          <a:prstGeom prst="rect">
            <a:avLst/>
          </a:prstGeom>
          <a:noFill/>
          <a:ln/>
        </p:spPr>
        <p:txBody>
          <a:bodyPr wrap="square" rtlCol="0" anchor="t"/>
          <a:lstStyle/>
          <a:p>
            <a:pPr>
              <a:lnSpc>
                <a:spcPts val="2000"/>
              </a:lnSpc>
            </a:pPr>
            <a:r>
              <a:rPr lang="en-US" sz="1400" dirty="0">
                <a:solidFill>
                  <a:srgbClr val="000000"/>
                </a:solidFill>
                <a:latin typeface="Arial" pitchFamily="34" charset="0"/>
                <a:ea typeface="Arial" pitchFamily="34" charset="-122"/>
                <a:cs typeface="Arial" pitchFamily="34" charset="-120"/>
              </a:rPr>
              <a:t>An IPv6 ACL contains an implicit </a:t>
            </a:r>
            <a:r>
              <a:rPr lang="en-US" sz="1400" b="1" dirty="0">
                <a:solidFill>
                  <a:srgbClr val="000000"/>
                </a:solidFill>
                <a:latin typeface="Arial" pitchFamily="34" charset="0"/>
                <a:ea typeface="Arial" pitchFamily="34" charset="-122"/>
                <a:cs typeface="Arial" pitchFamily="34" charset="-120"/>
              </a:rPr>
              <a:t>deny ipv6 any </a:t>
            </a:r>
            <a:r>
              <a:rPr lang="en-US" sz="1400" dirty="0">
                <a:solidFill>
                  <a:srgbClr val="000000"/>
                </a:solidFill>
                <a:latin typeface="Arial" pitchFamily="34" charset="0"/>
                <a:ea typeface="Arial" pitchFamily="34" charset="-122"/>
                <a:cs typeface="Arial" pitchFamily="34" charset="-120"/>
              </a:rPr>
              <a:t>command. Each IPv6 ACL also contains implicit permit rules to enable IPv6 neighbor discovery. The IPv6 NDP requires the IPv6 network layer to send neighbor advertisements (NAs) and neighbor solicitations (NSs). If an administrator configures the </a:t>
            </a:r>
            <a:r>
              <a:rPr lang="en-US" sz="1400" b="1" dirty="0">
                <a:solidFill>
                  <a:srgbClr val="000000"/>
                </a:solidFill>
                <a:latin typeface="Arial" pitchFamily="34" charset="0"/>
                <a:ea typeface="Arial" pitchFamily="34" charset="-122"/>
                <a:cs typeface="Arial" pitchFamily="34" charset="-120"/>
              </a:rPr>
              <a:t>deny ipv6 any </a:t>
            </a:r>
            <a:r>
              <a:rPr lang="en-US" sz="1400" dirty="0">
                <a:solidFill>
                  <a:srgbClr val="000000"/>
                </a:solidFill>
                <a:latin typeface="Arial" pitchFamily="34" charset="0"/>
                <a:ea typeface="Arial" pitchFamily="34" charset="-122"/>
                <a:cs typeface="Arial" pitchFamily="34" charset="-120"/>
              </a:rPr>
              <a:t>command without explicitly permitting neighbor discovery, then the NDP will be disabled.</a:t>
            </a:r>
          </a:p>
          <a:p>
            <a:pPr>
              <a:lnSpc>
                <a:spcPts val="2000"/>
              </a:lnSpc>
            </a:pPr>
            <a:r>
              <a:rPr lang="en-US" sz="1400" dirty="0">
                <a:solidFill>
                  <a:srgbClr val="000000"/>
                </a:solidFill>
                <a:latin typeface="Arial" pitchFamily="34" charset="0"/>
                <a:ea typeface="Arial" pitchFamily="34" charset="-122"/>
                <a:cs typeface="Arial" pitchFamily="34" charset="-120"/>
              </a:rPr>
              <a:t>R1 is permitting inbound traffic on G0/0 from the 2001:DB8:1:1::/64 network. NA and NS packets are explicitly permitted. Traffic sourced from any other IPv6 address is explicitly denied. If the administrator only configured the first permit statement, the ACL would have the same effect. However, it is a good practice to document the implicit statements by explicitly configuring them.</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71</a:t>
            </a:fld>
            <a:endParaRPr lang="en-US" dirty="0"/>
          </a:p>
        </p:txBody>
      </p:sp>
      <p:pic>
        <p:nvPicPr>
          <p:cNvPr id="4" name="Picture 3">
            <a:extLst>
              <a:ext uri="{FF2B5EF4-FFF2-40B4-BE49-F238E27FC236}">
                <a16:creationId xmlns:a16="http://schemas.microsoft.com/office/drawing/2014/main" id="{475E2324-85CA-444A-A650-A4ED9533BCC4}"/>
              </a:ext>
            </a:extLst>
          </p:cNvPr>
          <p:cNvPicPr>
            <a:picLocks noChangeAspect="1"/>
          </p:cNvPicPr>
          <p:nvPr/>
        </p:nvPicPr>
        <p:blipFill>
          <a:blip r:embed="rId3"/>
          <a:stretch>
            <a:fillRect/>
          </a:stretch>
        </p:blipFill>
        <p:spPr>
          <a:xfrm>
            <a:off x="4909947" y="728502"/>
            <a:ext cx="4115914" cy="920436"/>
          </a:xfrm>
          <a:prstGeom prst="rect">
            <a:avLst/>
          </a:prstGeom>
        </p:spPr>
      </p:pic>
      <p:pic>
        <p:nvPicPr>
          <p:cNvPr id="6" name="Picture 5">
            <a:extLst>
              <a:ext uri="{FF2B5EF4-FFF2-40B4-BE49-F238E27FC236}">
                <a16:creationId xmlns:a16="http://schemas.microsoft.com/office/drawing/2014/main" id="{93B78668-94CF-4DE4-98E3-282F424A711B}"/>
              </a:ext>
            </a:extLst>
          </p:cNvPr>
          <p:cNvPicPr>
            <a:picLocks noChangeAspect="1"/>
          </p:cNvPicPr>
          <p:nvPr/>
        </p:nvPicPr>
        <p:blipFill>
          <a:blip r:embed="rId4"/>
          <a:stretch>
            <a:fillRect/>
          </a:stretch>
        </p:blipFill>
        <p:spPr>
          <a:xfrm>
            <a:off x="5328138" y="1810835"/>
            <a:ext cx="3587262" cy="2264729"/>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IPv6 ACLs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Packet Tracer - Configure IPv6 ACLs</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In this Packet Tracer, you will complete the following objectives: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Configure, apply, and verify an IPv6 ACL</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Configure, apply, and verify a second IPv6 ACL</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72</a:t>
            </a:fld>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8.8 Access Control Lists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73</a:t>
            </a:fld>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Access Control Lists Summary</a:t>
            </a:r>
          </a:p>
        </p:txBody>
      </p:sp>
      <p:sp>
        <p:nvSpPr>
          <p:cNvPr id="3" name="Object2"/>
          <p:cNvSpPr>
            <a:spLocks noGrp="1"/>
          </p:cNvSpPr>
          <p:nvPr>
            <p:ph type="body" idx="100" hasCustomPrompt="1"/>
          </p:nvPr>
        </p:nvSpPr>
        <p:spPr>
          <a:xfrm>
            <a:off x="0" y="274320"/>
            <a:ext cx="9144000" cy="480282"/>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6868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An ACL uses a sequential list of permit or deny statements, known as ACEs.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packet filtering process occurs when network traffic passes through an interface configured with an ACL.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Packet filtering can occur at Layer 3 or Layer 4.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Named ACLs are the preferred method to use when configuring ACLs.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An IPv4 ACE uses a 32-bit wildcard mask to determine which bits of the address to examine for a match.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Unlike a subnet mask, in which binary 1 is equal to a match and binary 0 is not a match, in a wildcard mask, the reverse is true.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Subtract the subnet mask from 255.255.255.255 to calculate the wildcard mask.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Two keywords, </a:t>
            </a:r>
            <a:r>
              <a:rPr lang="en-US" sz="1400" b="1" dirty="0">
                <a:solidFill>
                  <a:srgbClr val="000000"/>
                </a:solidFill>
                <a:latin typeface="Arial" pitchFamily="34" charset="0"/>
                <a:ea typeface="Arial" pitchFamily="34" charset="-122"/>
                <a:cs typeface="Arial" pitchFamily="34" charset="-120"/>
              </a:rPr>
              <a:t>host</a:t>
            </a:r>
            <a:r>
              <a:rPr lang="en-US" sz="1400" dirty="0">
                <a:solidFill>
                  <a:srgbClr val="000000"/>
                </a:solidFill>
                <a:latin typeface="Arial" pitchFamily="34" charset="0"/>
                <a:ea typeface="Arial" pitchFamily="34" charset="-122"/>
                <a:cs typeface="Arial" pitchFamily="34" charset="-120"/>
              </a:rPr>
              <a:t> and </a:t>
            </a:r>
            <a:r>
              <a:rPr lang="en-US" sz="1400" b="1" dirty="0">
                <a:solidFill>
                  <a:srgbClr val="000000"/>
                </a:solidFill>
                <a:latin typeface="Arial" pitchFamily="34" charset="0"/>
                <a:ea typeface="Arial" pitchFamily="34" charset="-122"/>
                <a:cs typeface="Arial" pitchFamily="34" charset="-120"/>
              </a:rPr>
              <a:t>any</a:t>
            </a:r>
            <a:r>
              <a:rPr lang="en-US" sz="1400" dirty="0">
                <a:solidFill>
                  <a:srgbClr val="000000"/>
                </a:solidFill>
                <a:latin typeface="Arial" pitchFamily="34" charset="0"/>
                <a:ea typeface="Arial" pitchFamily="34" charset="-122"/>
                <a:cs typeface="Arial" pitchFamily="34" charset="-120"/>
              </a:rPr>
              <a:t>, can be used to simplify the most common uses of wildcard masking.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Use a text editor to configure more complex ACLs, and then copy and paste the commands onto the device.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74</a:t>
            </a:fld>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Access Control Lists Summary</a:t>
            </a:r>
          </a:p>
        </p:txBody>
      </p:sp>
      <p:sp>
        <p:nvSpPr>
          <p:cNvPr id="3" name="Object2"/>
          <p:cNvSpPr>
            <a:spLocks noGrp="1"/>
          </p:cNvSpPr>
          <p:nvPr>
            <p:ph type="body" idx="100" hasCustomPrompt="1"/>
          </p:nvPr>
        </p:nvSpPr>
        <p:spPr>
          <a:xfrm>
            <a:off x="0" y="274320"/>
            <a:ext cx="9144000" cy="480282"/>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87767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create a numbered standard ACL, use the command </a:t>
            </a:r>
            <a:r>
              <a:rPr lang="en-US" sz="1400" b="1" dirty="0">
                <a:solidFill>
                  <a:srgbClr val="000000"/>
                </a:solidFill>
                <a:latin typeface="Arial" pitchFamily="34" charset="0"/>
                <a:ea typeface="Arial" pitchFamily="34" charset="-122"/>
                <a:cs typeface="Arial" pitchFamily="34" charset="-120"/>
              </a:rPr>
              <a:t>access-list</a:t>
            </a:r>
            <a:r>
              <a:rPr lang="en-US" sz="1400" dirty="0">
                <a:solidFill>
                  <a:srgbClr val="000000"/>
                </a:solidFill>
                <a:latin typeface="Arial" pitchFamily="34" charset="0"/>
                <a:ea typeface="Arial" pitchFamily="34" charset="-122"/>
                <a:cs typeface="Arial" pitchFamily="34" charset="-120"/>
              </a:rPr>
              <a:t> </a:t>
            </a:r>
            <a:r>
              <a:rPr lang="en-US" sz="1400" i="1" dirty="0">
                <a:solidFill>
                  <a:srgbClr val="000000"/>
                </a:solidFill>
                <a:latin typeface="Arial" pitchFamily="34" charset="0"/>
                <a:ea typeface="Arial" pitchFamily="34" charset="-122"/>
                <a:cs typeface="Arial" pitchFamily="34" charset="-120"/>
              </a:rPr>
              <a:t>access-list-number</a:t>
            </a:r>
            <a:r>
              <a:rPr lang="en-US" sz="1400" dirty="0">
                <a:solidFill>
                  <a:srgbClr val="000000"/>
                </a:solidFill>
                <a:latin typeface="Arial" pitchFamily="34" charset="0"/>
                <a:ea typeface="Arial" pitchFamily="34" charset="-122"/>
                <a:cs typeface="Arial" pitchFamily="34" charset="-120"/>
              </a:rPr>
              <a:t> {</a:t>
            </a:r>
            <a:r>
              <a:rPr lang="en-US" sz="1400" b="1" dirty="0">
                <a:solidFill>
                  <a:srgbClr val="000000"/>
                </a:solidFill>
                <a:latin typeface="Arial" pitchFamily="34" charset="0"/>
                <a:ea typeface="Arial" pitchFamily="34" charset="-122"/>
                <a:cs typeface="Arial" pitchFamily="34" charset="-120"/>
              </a:rPr>
              <a:t>deny</a:t>
            </a:r>
            <a:r>
              <a:rPr lang="en-US" sz="1400" dirty="0">
                <a:solidFill>
                  <a:srgbClr val="000000"/>
                </a:solidFill>
                <a:latin typeface="Arial" pitchFamily="34" charset="0"/>
                <a:ea typeface="Arial" pitchFamily="34" charset="-122"/>
                <a:cs typeface="Arial" pitchFamily="34" charset="-120"/>
              </a:rPr>
              <a:t> | </a:t>
            </a:r>
            <a:r>
              <a:rPr lang="en-US" sz="1400" b="1" dirty="0">
                <a:solidFill>
                  <a:srgbClr val="000000"/>
                </a:solidFill>
                <a:latin typeface="Arial" pitchFamily="34" charset="0"/>
                <a:ea typeface="Arial" pitchFamily="34" charset="-122"/>
                <a:cs typeface="Arial" pitchFamily="34" charset="-120"/>
              </a:rPr>
              <a:t>permit</a:t>
            </a:r>
            <a:r>
              <a:rPr lang="en-US" sz="1400" dirty="0">
                <a:solidFill>
                  <a:srgbClr val="000000"/>
                </a:solidFill>
                <a:latin typeface="Arial" pitchFamily="34" charset="0"/>
                <a:ea typeface="Arial" pitchFamily="34" charset="-122"/>
                <a:cs typeface="Arial" pitchFamily="34" charset="-120"/>
              </a:rPr>
              <a:t> | </a:t>
            </a:r>
            <a:r>
              <a:rPr lang="en-US" sz="1400" b="1" dirty="0">
                <a:solidFill>
                  <a:srgbClr val="000000"/>
                </a:solidFill>
                <a:latin typeface="Arial" pitchFamily="34" charset="0"/>
                <a:ea typeface="Arial" pitchFamily="34" charset="-122"/>
                <a:cs typeface="Arial" pitchFamily="34" charset="-120"/>
              </a:rPr>
              <a:t>remark</a:t>
            </a:r>
            <a:r>
              <a:rPr lang="en-US" sz="1400" dirty="0">
                <a:solidFill>
                  <a:srgbClr val="000000"/>
                </a:solidFill>
                <a:latin typeface="Arial" pitchFamily="34" charset="0"/>
                <a:ea typeface="Arial" pitchFamily="34" charset="-122"/>
                <a:cs typeface="Arial" pitchFamily="34" charset="-120"/>
              </a:rPr>
              <a:t> </a:t>
            </a:r>
            <a:r>
              <a:rPr lang="en-US" sz="1400" i="1" dirty="0">
                <a:solidFill>
                  <a:srgbClr val="000000"/>
                </a:solidFill>
                <a:latin typeface="Arial" pitchFamily="34" charset="0"/>
                <a:ea typeface="Arial" pitchFamily="34" charset="-122"/>
                <a:cs typeface="Arial" pitchFamily="34" charset="-120"/>
              </a:rPr>
              <a:t>text</a:t>
            </a:r>
            <a:r>
              <a:rPr lang="en-US" sz="1400" dirty="0">
                <a:solidFill>
                  <a:srgbClr val="000000"/>
                </a:solidFill>
                <a:latin typeface="Arial" pitchFamily="34" charset="0"/>
                <a:ea typeface="Arial" pitchFamily="34" charset="-122"/>
                <a:cs typeface="Arial" pitchFamily="34" charset="-120"/>
              </a:rPr>
              <a:t>} </a:t>
            </a:r>
            <a:r>
              <a:rPr lang="en-US" sz="1400" i="1" dirty="0">
                <a:solidFill>
                  <a:srgbClr val="000000"/>
                </a:solidFill>
                <a:latin typeface="Arial" pitchFamily="34" charset="0"/>
                <a:ea typeface="Arial" pitchFamily="34" charset="-122"/>
                <a:cs typeface="Arial" pitchFamily="34" charset="-120"/>
              </a:rPr>
              <a:t>source</a:t>
            </a:r>
            <a:r>
              <a:rPr lang="en-US" sz="1400" dirty="0">
                <a:solidFill>
                  <a:srgbClr val="000000"/>
                </a:solidFill>
                <a:latin typeface="Arial" pitchFamily="34" charset="0"/>
                <a:ea typeface="Arial" pitchFamily="34" charset="-122"/>
                <a:cs typeface="Arial" pitchFamily="34" charset="-120"/>
              </a:rPr>
              <a:t> [</a:t>
            </a:r>
            <a:r>
              <a:rPr lang="en-US" sz="1400" i="1" dirty="0">
                <a:solidFill>
                  <a:srgbClr val="000000"/>
                </a:solidFill>
                <a:latin typeface="Arial" pitchFamily="34" charset="0"/>
                <a:ea typeface="Arial" pitchFamily="34" charset="-122"/>
                <a:cs typeface="Arial" pitchFamily="34" charset="-120"/>
              </a:rPr>
              <a:t>source-wildcard</a:t>
            </a:r>
            <a:r>
              <a:rPr lang="en-US" sz="1400" dirty="0">
                <a:solidFill>
                  <a:srgbClr val="000000"/>
                </a:solidFill>
                <a:latin typeface="Arial" pitchFamily="34" charset="0"/>
                <a:ea typeface="Arial" pitchFamily="34" charset="-122"/>
                <a:cs typeface="Arial" pitchFamily="34" charset="-120"/>
              </a:rPr>
              <a:t>] [</a:t>
            </a:r>
            <a:r>
              <a:rPr lang="en-US" sz="1400" b="1" dirty="0">
                <a:solidFill>
                  <a:srgbClr val="000000"/>
                </a:solidFill>
                <a:latin typeface="Arial" pitchFamily="34" charset="0"/>
                <a:ea typeface="Arial" pitchFamily="34" charset="-122"/>
                <a:cs typeface="Arial" pitchFamily="34" charset="-120"/>
              </a:rPr>
              <a:t>log</a:t>
            </a:r>
            <a:r>
              <a:rPr lang="en-US" sz="1400" dirty="0">
                <a:solidFill>
                  <a:srgbClr val="000000"/>
                </a:solidFill>
                <a:latin typeface="Arial" pitchFamily="34" charset="0"/>
                <a:ea typeface="Arial" pitchFamily="34" charset="-122"/>
                <a:cs typeface="Arial" pitchFamily="34" charset="-120"/>
              </a:rPr>
              <a:t>].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create a named standard ACL, use the command </a:t>
            </a:r>
            <a:r>
              <a:rPr lang="en-US" sz="1400" b="1" dirty="0">
                <a:solidFill>
                  <a:srgbClr val="000000"/>
                </a:solidFill>
                <a:latin typeface="Arial" pitchFamily="34" charset="0"/>
                <a:ea typeface="Arial" pitchFamily="34" charset="-122"/>
                <a:cs typeface="Arial" pitchFamily="34" charset="-120"/>
              </a:rPr>
              <a:t>ip access-list standard </a:t>
            </a:r>
            <a:r>
              <a:rPr lang="en-US" sz="1400" i="1" dirty="0">
                <a:solidFill>
                  <a:srgbClr val="000000"/>
                </a:solidFill>
                <a:latin typeface="Arial" pitchFamily="34" charset="0"/>
                <a:ea typeface="Arial" pitchFamily="34" charset="-122"/>
                <a:cs typeface="Arial" pitchFamily="34" charset="-120"/>
              </a:rPr>
              <a:t>access-list-name</a:t>
            </a:r>
            <a:r>
              <a:rPr lang="en-US" sz="1400" dirty="0">
                <a:solidFill>
                  <a:srgbClr val="000000"/>
                </a:solidFill>
                <a:latin typeface="Arial" pitchFamily="34" charset="0"/>
                <a:ea typeface="Arial" pitchFamily="34" charset="-122"/>
                <a:cs typeface="Arial" pitchFamily="34" charset="-120"/>
              </a:rPr>
              <a:t>.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apply a standard or extended IPv4 ACL to an interface use the command </a:t>
            </a:r>
            <a:r>
              <a:rPr lang="en-US" sz="1400" b="1" dirty="0">
                <a:solidFill>
                  <a:srgbClr val="000000"/>
                </a:solidFill>
                <a:latin typeface="Arial" pitchFamily="34" charset="0"/>
                <a:ea typeface="Arial" pitchFamily="34" charset="-122"/>
                <a:cs typeface="Arial" pitchFamily="34" charset="-120"/>
              </a:rPr>
              <a:t>ip access-group </a:t>
            </a:r>
            <a:r>
              <a:rPr lang="en-US" sz="1400" dirty="0">
                <a:solidFill>
                  <a:srgbClr val="000000"/>
                </a:solidFill>
                <a:latin typeface="Arial" pitchFamily="34" charset="0"/>
                <a:ea typeface="Arial" pitchFamily="34" charset="-122"/>
                <a:cs typeface="Arial" pitchFamily="34" charset="-120"/>
              </a:rPr>
              <a:t>{</a:t>
            </a:r>
            <a:r>
              <a:rPr lang="en-US" sz="1400" i="1" dirty="0">
                <a:solidFill>
                  <a:srgbClr val="000000"/>
                </a:solidFill>
                <a:latin typeface="Arial" pitchFamily="34" charset="0"/>
                <a:ea typeface="Arial" pitchFamily="34" charset="-122"/>
                <a:cs typeface="Arial" pitchFamily="34" charset="-120"/>
              </a:rPr>
              <a:t>access-list-number</a:t>
            </a:r>
            <a:r>
              <a:rPr lang="en-US" sz="1400" dirty="0">
                <a:solidFill>
                  <a:srgbClr val="000000"/>
                </a:solidFill>
                <a:latin typeface="Arial" pitchFamily="34" charset="0"/>
                <a:ea typeface="Arial" pitchFamily="34" charset="-122"/>
                <a:cs typeface="Arial" pitchFamily="34" charset="-120"/>
              </a:rPr>
              <a:t> | </a:t>
            </a:r>
            <a:r>
              <a:rPr lang="en-US" sz="1400" i="1" dirty="0">
                <a:solidFill>
                  <a:srgbClr val="000000"/>
                </a:solidFill>
                <a:latin typeface="Arial" pitchFamily="34" charset="0"/>
                <a:ea typeface="Arial" pitchFamily="34" charset="-122"/>
                <a:cs typeface="Arial" pitchFamily="34" charset="-120"/>
              </a:rPr>
              <a:t>access-list-name</a:t>
            </a:r>
            <a:r>
              <a:rPr lang="en-US" sz="1400" dirty="0">
                <a:solidFill>
                  <a:srgbClr val="000000"/>
                </a:solidFill>
                <a:latin typeface="Arial" pitchFamily="34" charset="0"/>
                <a:ea typeface="Arial" pitchFamily="34" charset="-122"/>
                <a:cs typeface="Arial" pitchFamily="34" charset="-120"/>
              </a:rPr>
              <a:t>} {</a:t>
            </a:r>
            <a:r>
              <a:rPr lang="en-US" sz="1400" b="1" dirty="0">
                <a:solidFill>
                  <a:srgbClr val="000000"/>
                </a:solidFill>
                <a:latin typeface="Arial" pitchFamily="34" charset="0"/>
                <a:ea typeface="Arial" pitchFamily="34" charset="-122"/>
                <a:cs typeface="Arial" pitchFamily="34" charset="-120"/>
              </a:rPr>
              <a:t>in</a:t>
            </a:r>
            <a:r>
              <a:rPr lang="en-US" sz="1400" dirty="0">
                <a:solidFill>
                  <a:srgbClr val="000000"/>
                </a:solidFill>
                <a:latin typeface="Arial" pitchFamily="34" charset="0"/>
                <a:ea typeface="Arial" pitchFamily="34" charset="-122"/>
                <a:cs typeface="Arial" pitchFamily="34" charset="-120"/>
              </a:rPr>
              <a:t> | </a:t>
            </a:r>
            <a:r>
              <a:rPr lang="en-US" sz="1400" b="1" dirty="0">
                <a:solidFill>
                  <a:srgbClr val="000000"/>
                </a:solidFill>
                <a:latin typeface="Arial" pitchFamily="34" charset="0"/>
                <a:ea typeface="Arial" pitchFamily="34" charset="-122"/>
                <a:cs typeface="Arial" pitchFamily="34" charset="-120"/>
              </a:rPr>
              <a:t>out</a:t>
            </a:r>
            <a:r>
              <a:rPr lang="en-US" sz="1400" dirty="0">
                <a:solidFill>
                  <a:srgbClr val="000000"/>
                </a:solidFill>
                <a:latin typeface="Arial" pitchFamily="34" charset="0"/>
                <a:ea typeface="Arial" pitchFamily="34" charset="-122"/>
                <a:cs typeface="Arial" pitchFamily="34" charset="-120"/>
              </a:rPr>
              <a:t>}.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ACLs with multiple ACEs should be created in a text editor.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An ACL ACE can also be deleted or added using the ACL sequence numbers.</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Extended ACLs should be located as close as possible to the source of the traffic to be filtered.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Standard ACLs should be located as close to the destination as possible.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Explicitly permit only certain types of traffic through a firewall.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Both ICMP echo and redirect messages should be blocked inbound by the router. Apply interface ACLs to filter SNMP packets from non-authorized systems.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Several ICMP messages are recommended for proper network operation and should be allowed into the internal network including echo reply, source quench, and unreachable.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75</a:t>
            </a:fld>
            <a:endParaRPr lang="en-US" dirty="0"/>
          </a:p>
        </p:txBody>
      </p:sp>
    </p:spTree>
    <p:extLst>
      <p:ext uri="{BB962C8B-B14F-4D97-AF65-F5344CB8AC3E}">
        <p14:creationId xmlns:p14="http://schemas.microsoft.com/office/powerpoint/2010/main" val="13548739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Access Control Lists Summary</a:t>
            </a:r>
          </a:p>
        </p:txBody>
      </p:sp>
      <p:sp>
        <p:nvSpPr>
          <p:cNvPr id="3" name="Object2"/>
          <p:cNvSpPr>
            <a:spLocks noGrp="1"/>
          </p:cNvSpPr>
          <p:nvPr>
            <p:ph type="body" idx="100" hasCustomPrompt="1"/>
          </p:nvPr>
        </p:nvSpPr>
        <p:spPr>
          <a:xfrm>
            <a:off x="0" y="274320"/>
            <a:ext cx="9144000" cy="480282"/>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87767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Several ICMP messages should be allowed to exit the network including echo, parameter problem, packet too big, and source quench. As a rule, block all other ICMP message types outbound.</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Attackers can accomplish stealth attacks that result in trust exploitation by using dual-stacked hosts, rogue NDP messages, and tunneling techniques.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To mitigate attacks against IPv6 infrastructures and protocols, the strategy should include filtering at the edge using various techniques, such as IPv6 ACLs.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IPv6 ACLs allow filtering based on source and destination addresses that are traveling inbound and outbound to a specific interface.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They also support traffic filtering based on IPv6 option headers and optional, upper-layer protocol type information for finer granularity of control, similar to extended ACLs in IPv4.</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76</a:t>
            </a:fld>
            <a:endParaRPr lang="en-US" dirty="0"/>
          </a:p>
        </p:txBody>
      </p:sp>
    </p:spTree>
    <p:extLst>
      <p:ext uri="{BB962C8B-B14F-4D97-AF65-F5344CB8AC3E}">
        <p14:creationId xmlns:p14="http://schemas.microsoft.com/office/powerpoint/2010/main" val="2365348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Mitigating Threats</a:t>
            </a:r>
          </a:p>
        </p:txBody>
      </p:sp>
      <p:sp>
        <p:nvSpPr>
          <p:cNvPr id="3" name="Object2"/>
          <p:cNvSpPr>
            <a:spLocks noGrp="1"/>
          </p:cNvSpPr>
          <p:nvPr>
            <p:ph type="body" idx="100" hasCustomPrompt="1"/>
          </p:nvPr>
        </p:nvSpPr>
        <p:spPr>
          <a:xfrm>
            <a:off x="0" y="274320"/>
            <a:ext cx="9144000" cy="418138"/>
          </a:xfrm>
          <a:prstGeom prst="rect">
            <a:avLst/>
          </a:prstGeom>
          <a:noFill/>
          <a:ln/>
        </p:spPr>
        <p:txBody>
          <a:bodyPr wrap="square" rtlCol="0"/>
          <a:lstStyle/>
          <a:p>
            <a:pPr marL="0" indent="0">
              <a:buNone/>
            </a:pPr>
            <a:r>
              <a:rPr lang="en-US" dirty="0"/>
              <a:t>New Terms and Commands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1E9362C5-2A30-4841-AB0C-B2375C2258F1}"/>
              </a:ext>
            </a:extLst>
          </p:cNvPr>
          <p:cNvGraphicFramePr>
            <a:graphicFrameLocks/>
          </p:cNvGraphicFramePr>
          <p:nvPr>
            <p:extLst>
              <p:ext uri="{D42A27DB-BD31-4B8C-83A1-F6EECF244321}">
                <p14:modId xmlns:p14="http://schemas.microsoft.com/office/powerpoint/2010/main" val="1699973838"/>
              </p:ext>
            </p:extLst>
          </p:nvPr>
        </p:nvGraphicFramePr>
        <p:xfrm>
          <a:off x="294640" y="650450"/>
          <a:ext cx="8392160" cy="4378960"/>
        </p:xfrm>
        <a:graphic>
          <a:graphicData uri="http://schemas.openxmlformats.org/drawingml/2006/table">
            <a:tbl>
              <a:tblPr firstRow="1" bandRow="1">
                <a:tableStyleId>{F5AB1C69-6EDB-4FF4-983F-18BD219EF322}</a:tableStyleId>
              </a:tblPr>
              <a:tblGrid>
                <a:gridCol w="8392160">
                  <a:extLst>
                    <a:ext uri="{9D8B030D-6E8A-4147-A177-3AD203B41FA5}">
                      <a16:colId xmlns:a16="http://schemas.microsoft.com/office/drawing/2014/main" val="2731093094"/>
                    </a:ext>
                  </a:extLst>
                </a:gridCol>
              </a:tblGrid>
              <a:tr h="4218730">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access control list (ACL)</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access control entry (ACE)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packet filtering</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wildcard mask</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ANDing</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access-list</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access-list-number</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deny</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permit</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remark</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text</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protocol source source-wildcard </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operator</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port</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destination</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destination-wildcard</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operator</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port</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established</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log</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ip access-list </a:t>
                      </a: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standard</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extended</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name</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ip access-group </a:t>
                      </a:r>
                      <a:r>
                        <a:rPr lang="en-US" sz="1400" b="0" kern="1200" dirty="0">
                          <a:solidFill>
                            <a:schemeClr val="tx1"/>
                          </a:solidFill>
                          <a:latin typeface="+mn-lt"/>
                          <a:ea typeface="+mn-ea"/>
                          <a:cs typeface="+mn-cs"/>
                        </a:rPr>
                        <a:t>{</a:t>
                      </a:r>
                      <a:r>
                        <a:rPr lang="en-US" sz="1400" b="0" i="1" kern="1200" dirty="0">
                          <a:solidFill>
                            <a:schemeClr val="tx1"/>
                          </a:solidFill>
                          <a:latin typeface="+mn-lt"/>
                          <a:ea typeface="+mn-ea"/>
                          <a:cs typeface="+mn-cs"/>
                        </a:rPr>
                        <a:t>access-list-number</a:t>
                      </a:r>
                      <a:r>
                        <a:rPr lang="en-US" sz="1400" b="0" kern="1200" dirty="0">
                          <a:solidFill>
                            <a:schemeClr val="tx1"/>
                          </a:solidFill>
                          <a:latin typeface="+mn-lt"/>
                          <a:ea typeface="+mn-ea"/>
                          <a:cs typeface="+mn-cs"/>
                        </a:rPr>
                        <a:t> | </a:t>
                      </a:r>
                      <a:r>
                        <a:rPr lang="en-US" sz="1400" b="0" i="1" kern="1200" dirty="0">
                          <a:solidFill>
                            <a:schemeClr val="tx1"/>
                          </a:solidFill>
                          <a:latin typeface="+mn-lt"/>
                          <a:ea typeface="+mn-ea"/>
                          <a:cs typeface="+mn-cs"/>
                        </a:rPr>
                        <a:t>access-list-name</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in</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out</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access-class</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access-list-number</a:t>
                      </a:r>
                      <a:r>
                        <a:rPr lang="en-US" sz="1400" b="0" kern="1200" dirty="0">
                          <a:solidFill>
                            <a:schemeClr val="tx1"/>
                          </a:solidFill>
                          <a:latin typeface="+mn-lt"/>
                          <a:ea typeface="+mn-ea"/>
                          <a:cs typeface="+mn-cs"/>
                        </a:rPr>
                        <a:t> | </a:t>
                      </a:r>
                      <a:r>
                        <a:rPr lang="en-US" sz="1400" b="0" i="1" kern="1200" dirty="0">
                          <a:solidFill>
                            <a:schemeClr val="tx1"/>
                          </a:solidFill>
                          <a:latin typeface="+mn-lt"/>
                          <a:ea typeface="+mn-ea"/>
                          <a:cs typeface="+mn-cs"/>
                        </a:rPr>
                        <a:t>access-list-name</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in</a:t>
                      </a:r>
                      <a:r>
                        <a:rPr lang="en-US" sz="1400" b="0" kern="1200" dirty="0">
                          <a:solidFill>
                            <a:schemeClr val="tx1"/>
                          </a:solidFill>
                          <a:latin typeface="+mn-lt"/>
                          <a:ea typeface="+mn-ea"/>
                          <a:cs typeface="+mn-cs"/>
                        </a:rPr>
                        <a:t> | </a:t>
                      </a:r>
                      <a:r>
                        <a:rPr lang="en-US" sz="1400" b="1" kern="1200" dirty="0">
                          <a:solidFill>
                            <a:schemeClr val="tx1"/>
                          </a:solidFill>
                          <a:latin typeface="+mn-lt"/>
                          <a:ea typeface="+mn-ea"/>
                          <a:cs typeface="+mn-cs"/>
                        </a:rPr>
                        <a:t>out</a:t>
                      </a:r>
                      <a:r>
                        <a:rPr lang="en-US" sz="1400" b="0" kern="1200" dirty="0">
                          <a:solidFill>
                            <a:schemeClr val="tx1"/>
                          </a:solidFill>
                          <a:latin typeface="+mn-lt"/>
                          <a:ea typeface="+mn-ea"/>
                          <a:cs typeface="+mn-cs"/>
                        </a:rPr>
                        <a: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access-list</a:t>
                      </a:r>
                    </a:p>
                    <a:p>
                      <a:pPr marL="174625" indent="-174625">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ipv6</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access-list</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access-list-name</a:t>
                      </a:r>
                    </a:p>
                    <a:p>
                      <a:pPr marL="174625" indent="-174625">
                        <a:spcBef>
                          <a:spcPts val="200"/>
                        </a:spcBef>
                        <a:spcAft>
                          <a:spcPts val="200"/>
                        </a:spcAft>
                        <a:buFont typeface="Arial" panose="020B0604020202020204" pitchFamily="34" charset="0"/>
                        <a:buChar char="•"/>
                      </a:pPr>
                      <a:r>
                        <a:rPr lang="en-US" sz="1400" b="1" i="0" kern="1200" dirty="0">
                          <a:solidFill>
                            <a:schemeClr val="tx1"/>
                          </a:solidFill>
                          <a:latin typeface="+mn-lt"/>
                          <a:ea typeface="+mn-ea"/>
                          <a:cs typeface="+mn-cs"/>
                        </a:rPr>
                        <a:t>deny</a:t>
                      </a:r>
                      <a:r>
                        <a:rPr lang="en-US" sz="1400" b="0" i="0" kern="1200" dirty="0">
                          <a:solidFill>
                            <a:schemeClr val="tx1"/>
                          </a:solidFill>
                          <a:latin typeface="+mn-lt"/>
                          <a:ea typeface="+mn-ea"/>
                          <a:cs typeface="+mn-cs"/>
                        </a:rPr>
                        <a:t> | </a:t>
                      </a:r>
                      <a:r>
                        <a:rPr lang="en-US" sz="1400" b="1" i="0" kern="1200" dirty="0">
                          <a:solidFill>
                            <a:schemeClr val="tx1"/>
                          </a:solidFill>
                          <a:latin typeface="+mn-lt"/>
                          <a:ea typeface="+mn-ea"/>
                          <a:cs typeface="+mn-cs"/>
                        </a:rPr>
                        <a:t>permit</a:t>
                      </a:r>
                      <a:r>
                        <a:rPr lang="en-US" sz="1400" b="0" i="0" kern="1200" dirty="0">
                          <a:solidFill>
                            <a:schemeClr val="tx1"/>
                          </a:solidFill>
                          <a:latin typeface="+mn-lt"/>
                          <a:ea typeface="+mn-ea"/>
                          <a:cs typeface="+mn-cs"/>
                        </a:rPr>
                        <a:t> </a:t>
                      </a:r>
                      <a:r>
                        <a:rPr lang="en-US" sz="1400" b="0" i="1" kern="1200" dirty="0">
                          <a:solidFill>
                            <a:schemeClr val="tx1"/>
                          </a:solidFill>
                          <a:latin typeface="+mn-lt"/>
                          <a:ea typeface="+mn-ea"/>
                          <a:cs typeface="+mn-cs"/>
                        </a:rPr>
                        <a:t>protocol</a:t>
                      </a:r>
                      <a:r>
                        <a:rPr lang="en-US" sz="1400" b="0" i="0" kern="1200" dirty="0">
                          <a:solidFill>
                            <a:schemeClr val="tx1"/>
                          </a:solidFill>
                          <a:latin typeface="+mn-lt"/>
                          <a:ea typeface="+mn-ea"/>
                          <a:cs typeface="+mn-cs"/>
                        </a:rPr>
                        <a:t> {</a:t>
                      </a:r>
                      <a:r>
                        <a:rPr lang="en-US" sz="1400" b="0" i="1" kern="1200" dirty="0">
                          <a:solidFill>
                            <a:schemeClr val="tx1"/>
                          </a:solidFill>
                          <a:latin typeface="+mn-lt"/>
                          <a:ea typeface="+mn-ea"/>
                          <a:cs typeface="+mn-cs"/>
                        </a:rPr>
                        <a:t>source-ipv6-prefix</a:t>
                      </a:r>
                      <a:r>
                        <a:rPr lang="en-US" sz="1400" b="0" i="0" kern="1200" dirty="0">
                          <a:solidFill>
                            <a:schemeClr val="tx1"/>
                          </a:solidFill>
                          <a:latin typeface="+mn-lt"/>
                          <a:ea typeface="+mn-ea"/>
                          <a:cs typeface="+mn-cs"/>
                        </a:rPr>
                        <a:t> </a:t>
                      </a:r>
                      <a:r>
                        <a:rPr lang="en-US" sz="1400" b="1" i="0" kern="1200" dirty="0">
                          <a:solidFill>
                            <a:schemeClr val="tx1"/>
                          </a:solidFill>
                          <a:latin typeface="+mn-lt"/>
                          <a:ea typeface="+mn-ea"/>
                          <a:cs typeface="+mn-cs"/>
                        </a:rPr>
                        <a:t>/</a:t>
                      </a:r>
                      <a:r>
                        <a:rPr lang="en-US" sz="1400" b="0" i="0" kern="1200" dirty="0">
                          <a:solidFill>
                            <a:schemeClr val="tx1"/>
                          </a:solidFill>
                          <a:latin typeface="+mn-lt"/>
                          <a:ea typeface="+mn-ea"/>
                          <a:cs typeface="+mn-cs"/>
                        </a:rPr>
                        <a:t> </a:t>
                      </a:r>
                      <a:r>
                        <a:rPr lang="en-US" sz="1400" b="0" i="1" kern="1200" dirty="0">
                          <a:solidFill>
                            <a:schemeClr val="tx1"/>
                          </a:solidFill>
                          <a:latin typeface="+mn-lt"/>
                          <a:ea typeface="+mn-ea"/>
                          <a:cs typeface="+mn-cs"/>
                        </a:rPr>
                        <a:t>prefix-length</a:t>
                      </a:r>
                      <a:r>
                        <a:rPr lang="en-US" sz="1400" b="0" i="0" kern="1200" dirty="0">
                          <a:solidFill>
                            <a:schemeClr val="tx1"/>
                          </a:solidFill>
                          <a:latin typeface="+mn-lt"/>
                          <a:ea typeface="+mn-ea"/>
                          <a:cs typeface="+mn-cs"/>
                        </a:rPr>
                        <a:t> | </a:t>
                      </a:r>
                      <a:r>
                        <a:rPr lang="en-US" sz="1400" b="1" i="0" kern="1200" dirty="0">
                          <a:solidFill>
                            <a:schemeClr val="tx1"/>
                          </a:solidFill>
                          <a:latin typeface="+mn-lt"/>
                          <a:ea typeface="+mn-ea"/>
                          <a:cs typeface="+mn-cs"/>
                        </a:rPr>
                        <a:t>any</a:t>
                      </a:r>
                      <a:r>
                        <a:rPr lang="en-US" sz="1400" b="0" i="0" kern="1200" dirty="0">
                          <a:solidFill>
                            <a:schemeClr val="tx1"/>
                          </a:solidFill>
                          <a:latin typeface="+mn-lt"/>
                          <a:ea typeface="+mn-ea"/>
                          <a:cs typeface="+mn-cs"/>
                        </a:rPr>
                        <a:t> | </a:t>
                      </a:r>
                      <a:r>
                        <a:rPr lang="en-US" sz="1400" b="1" i="0" kern="1200" dirty="0">
                          <a:solidFill>
                            <a:schemeClr val="tx1"/>
                          </a:solidFill>
                          <a:latin typeface="+mn-lt"/>
                          <a:ea typeface="+mn-ea"/>
                          <a:cs typeface="+mn-cs"/>
                        </a:rPr>
                        <a:t>host</a:t>
                      </a:r>
                      <a:r>
                        <a:rPr lang="en-US" sz="1400" b="0" i="0" kern="1200" dirty="0">
                          <a:solidFill>
                            <a:schemeClr val="tx1"/>
                          </a:solidFill>
                          <a:latin typeface="+mn-lt"/>
                          <a:ea typeface="+mn-ea"/>
                          <a:cs typeface="+mn-cs"/>
                        </a:rPr>
                        <a:t> </a:t>
                      </a:r>
                      <a:r>
                        <a:rPr lang="en-US" sz="1400" b="0" i="1" kern="1200" dirty="0">
                          <a:solidFill>
                            <a:schemeClr val="tx1"/>
                          </a:solidFill>
                          <a:latin typeface="+mn-lt"/>
                          <a:ea typeface="+mn-ea"/>
                          <a:cs typeface="+mn-cs"/>
                        </a:rPr>
                        <a:t>source-ipv6-address</a:t>
                      </a:r>
                      <a:r>
                        <a:rPr lang="en-US" sz="1400" b="0" i="0" kern="1200" dirty="0">
                          <a:solidFill>
                            <a:schemeClr val="tx1"/>
                          </a:solidFill>
                          <a:latin typeface="+mn-lt"/>
                          <a:ea typeface="+mn-ea"/>
                          <a:cs typeface="+mn-cs"/>
                        </a:rPr>
                        <a:t>} [ </a:t>
                      </a:r>
                      <a:r>
                        <a:rPr lang="en-US" sz="1400" b="0" i="1" kern="1200" dirty="0">
                          <a:solidFill>
                            <a:schemeClr val="tx1"/>
                          </a:solidFill>
                          <a:latin typeface="+mn-lt"/>
                          <a:ea typeface="+mn-ea"/>
                          <a:cs typeface="+mn-cs"/>
                        </a:rPr>
                        <a:t>operator</a:t>
                      </a:r>
                      <a:r>
                        <a:rPr lang="en-US" sz="1400" b="0" i="0" kern="1200" dirty="0">
                          <a:solidFill>
                            <a:schemeClr val="tx1"/>
                          </a:solidFill>
                          <a:latin typeface="+mn-lt"/>
                          <a:ea typeface="+mn-ea"/>
                          <a:cs typeface="+mn-cs"/>
                        </a:rPr>
                        <a:t> [ </a:t>
                      </a:r>
                      <a:r>
                        <a:rPr lang="en-US" sz="1400" b="0" i="1" kern="1200" dirty="0">
                          <a:solidFill>
                            <a:schemeClr val="tx1"/>
                          </a:solidFill>
                          <a:latin typeface="+mn-lt"/>
                          <a:ea typeface="+mn-ea"/>
                          <a:cs typeface="+mn-cs"/>
                        </a:rPr>
                        <a:t>port-number</a:t>
                      </a:r>
                      <a:r>
                        <a:rPr lang="en-US" sz="1400" b="0" i="0" kern="1200" dirty="0">
                          <a:solidFill>
                            <a:schemeClr val="tx1"/>
                          </a:solidFill>
                          <a:latin typeface="+mn-lt"/>
                          <a:ea typeface="+mn-ea"/>
                          <a:cs typeface="+mn-cs"/>
                        </a:rPr>
                        <a:t> ]] { </a:t>
                      </a:r>
                      <a:r>
                        <a:rPr lang="en-US" sz="1400" b="0" i="1" kern="1200" dirty="0">
                          <a:solidFill>
                            <a:schemeClr val="tx1"/>
                          </a:solidFill>
                          <a:latin typeface="+mn-lt"/>
                          <a:ea typeface="+mn-ea"/>
                          <a:cs typeface="+mn-cs"/>
                        </a:rPr>
                        <a:t>destination-ipv6-prefix</a:t>
                      </a:r>
                      <a:r>
                        <a:rPr lang="en-US" sz="1400" b="0" i="0" kern="1200" dirty="0">
                          <a:solidFill>
                            <a:schemeClr val="tx1"/>
                          </a:solidFill>
                          <a:latin typeface="+mn-lt"/>
                          <a:ea typeface="+mn-ea"/>
                          <a:cs typeface="+mn-cs"/>
                        </a:rPr>
                        <a:t> </a:t>
                      </a:r>
                      <a:r>
                        <a:rPr lang="en-US" sz="1400" b="1" i="0" kern="1200" dirty="0">
                          <a:solidFill>
                            <a:schemeClr val="tx1"/>
                          </a:solidFill>
                          <a:latin typeface="+mn-lt"/>
                          <a:ea typeface="+mn-ea"/>
                          <a:cs typeface="+mn-cs"/>
                        </a:rPr>
                        <a:t>/</a:t>
                      </a:r>
                      <a:r>
                        <a:rPr lang="en-US" sz="1400" b="0" i="0" kern="1200" dirty="0">
                          <a:solidFill>
                            <a:schemeClr val="tx1"/>
                          </a:solidFill>
                          <a:latin typeface="+mn-lt"/>
                          <a:ea typeface="+mn-ea"/>
                          <a:cs typeface="+mn-cs"/>
                        </a:rPr>
                        <a:t> </a:t>
                      </a:r>
                      <a:r>
                        <a:rPr lang="en-US" sz="1400" b="0" i="1" kern="1200" dirty="0">
                          <a:solidFill>
                            <a:schemeClr val="tx1"/>
                          </a:solidFill>
                          <a:latin typeface="+mn-lt"/>
                          <a:ea typeface="+mn-ea"/>
                          <a:cs typeface="+mn-cs"/>
                        </a:rPr>
                        <a:t>prefix-length</a:t>
                      </a:r>
                      <a:r>
                        <a:rPr lang="en-US" sz="1400" b="0" i="0" kern="1200" dirty="0">
                          <a:solidFill>
                            <a:schemeClr val="tx1"/>
                          </a:solidFill>
                          <a:latin typeface="+mn-lt"/>
                          <a:ea typeface="+mn-ea"/>
                          <a:cs typeface="+mn-cs"/>
                        </a:rPr>
                        <a:t> | </a:t>
                      </a:r>
                      <a:r>
                        <a:rPr lang="en-US" sz="1400" b="1" i="0" kern="1200" dirty="0">
                          <a:solidFill>
                            <a:schemeClr val="tx1"/>
                          </a:solidFill>
                          <a:latin typeface="+mn-lt"/>
                          <a:ea typeface="+mn-ea"/>
                          <a:cs typeface="+mn-cs"/>
                        </a:rPr>
                        <a:t>any</a:t>
                      </a:r>
                      <a:r>
                        <a:rPr lang="en-US" sz="1400" b="0" i="0" kern="1200" dirty="0">
                          <a:solidFill>
                            <a:schemeClr val="tx1"/>
                          </a:solidFill>
                          <a:latin typeface="+mn-lt"/>
                          <a:ea typeface="+mn-ea"/>
                          <a:cs typeface="+mn-cs"/>
                        </a:rPr>
                        <a:t> | </a:t>
                      </a:r>
                      <a:r>
                        <a:rPr lang="en-US" sz="1400" b="1" i="0" kern="1200" dirty="0">
                          <a:solidFill>
                            <a:schemeClr val="tx1"/>
                          </a:solidFill>
                          <a:latin typeface="+mn-lt"/>
                          <a:ea typeface="+mn-ea"/>
                          <a:cs typeface="+mn-cs"/>
                        </a:rPr>
                        <a:t>host</a:t>
                      </a:r>
                      <a:r>
                        <a:rPr lang="en-US" sz="1400" b="0" i="0" kern="1200" dirty="0">
                          <a:solidFill>
                            <a:schemeClr val="tx1"/>
                          </a:solidFill>
                          <a:latin typeface="+mn-lt"/>
                          <a:ea typeface="+mn-ea"/>
                          <a:cs typeface="+mn-cs"/>
                        </a:rPr>
                        <a:t> </a:t>
                      </a:r>
                      <a:r>
                        <a:rPr lang="en-US" sz="1400" b="0" i="1" kern="1200" dirty="0">
                          <a:solidFill>
                            <a:schemeClr val="tx1"/>
                          </a:solidFill>
                          <a:latin typeface="+mn-lt"/>
                          <a:ea typeface="+mn-ea"/>
                          <a:cs typeface="+mn-cs"/>
                        </a:rPr>
                        <a:t>destination-ipv6-address</a:t>
                      </a:r>
                      <a:r>
                        <a:rPr lang="en-US" sz="1400" b="0" i="0" kern="1200" dirty="0">
                          <a:solidFill>
                            <a:schemeClr val="tx1"/>
                          </a:solidFill>
                          <a:latin typeface="+mn-lt"/>
                          <a:ea typeface="+mn-ea"/>
                          <a:cs typeface="+mn-cs"/>
                        </a:rPr>
                        <a:t> } [ </a:t>
                      </a:r>
                      <a:r>
                        <a:rPr lang="en-US" sz="1400" b="0" i="1" kern="1200" dirty="0">
                          <a:solidFill>
                            <a:schemeClr val="tx1"/>
                          </a:solidFill>
                          <a:latin typeface="+mn-lt"/>
                          <a:ea typeface="+mn-ea"/>
                          <a:cs typeface="+mn-cs"/>
                        </a:rPr>
                        <a:t>operator</a:t>
                      </a:r>
                      <a:r>
                        <a:rPr lang="en-US" sz="1400" b="0" i="0" kern="1200" dirty="0">
                          <a:solidFill>
                            <a:schemeClr val="tx1"/>
                          </a:solidFill>
                          <a:latin typeface="+mn-lt"/>
                          <a:ea typeface="+mn-ea"/>
                          <a:cs typeface="+mn-cs"/>
                        </a:rPr>
                        <a:t> [ </a:t>
                      </a:r>
                      <a:r>
                        <a:rPr lang="en-US" sz="1400" b="0" i="1" kern="1200" dirty="0">
                          <a:solidFill>
                            <a:schemeClr val="tx1"/>
                          </a:solidFill>
                          <a:latin typeface="+mn-lt"/>
                          <a:ea typeface="+mn-ea"/>
                          <a:cs typeface="+mn-cs"/>
                        </a:rPr>
                        <a:t>port-number</a:t>
                      </a:r>
                      <a:r>
                        <a:rPr lang="en-US" sz="1400" b="0" i="0" kern="1200" dirty="0">
                          <a:solidFill>
                            <a:schemeClr val="tx1"/>
                          </a:solidFill>
                          <a:latin typeface="+mn-lt"/>
                          <a:ea typeface="+mn-ea"/>
                          <a:cs typeface="+mn-cs"/>
                        </a:rPr>
                        <a:t> ]] [ </a:t>
                      </a:r>
                      <a:r>
                        <a:rPr lang="en-US" sz="1400" b="1" i="0" kern="1200" dirty="0">
                          <a:solidFill>
                            <a:schemeClr val="tx1"/>
                          </a:solidFill>
                          <a:latin typeface="+mn-lt"/>
                          <a:ea typeface="+mn-ea"/>
                          <a:cs typeface="+mn-cs"/>
                        </a:rPr>
                        <a:t>dscp</a:t>
                      </a:r>
                      <a:r>
                        <a:rPr lang="en-US" sz="1400" b="0" i="0" kern="1200" dirty="0">
                          <a:solidFill>
                            <a:schemeClr val="tx1"/>
                          </a:solidFill>
                          <a:latin typeface="+mn-lt"/>
                          <a:ea typeface="+mn-ea"/>
                          <a:cs typeface="+mn-cs"/>
                        </a:rPr>
                        <a:t> </a:t>
                      </a:r>
                      <a:r>
                        <a:rPr lang="en-US" sz="1400" b="0" i="1" kern="1200" dirty="0">
                          <a:solidFill>
                            <a:schemeClr val="tx1"/>
                          </a:solidFill>
                          <a:latin typeface="+mn-lt"/>
                          <a:ea typeface="+mn-ea"/>
                          <a:cs typeface="+mn-cs"/>
                        </a:rPr>
                        <a:t>value</a:t>
                      </a:r>
                      <a:r>
                        <a:rPr lang="en-US" sz="1400" b="0" i="0" kern="1200" dirty="0">
                          <a:solidFill>
                            <a:schemeClr val="tx1"/>
                          </a:solidFill>
                          <a:latin typeface="+mn-lt"/>
                          <a:ea typeface="+mn-ea"/>
                          <a:cs typeface="+mn-cs"/>
                        </a:rPr>
                        <a:t> ] [ </a:t>
                      </a:r>
                      <a:r>
                        <a:rPr lang="en-US" sz="1400" b="1" i="0" kern="1200" dirty="0">
                          <a:solidFill>
                            <a:schemeClr val="tx1"/>
                          </a:solidFill>
                          <a:latin typeface="+mn-lt"/>
                          <a:ea typeface="+mn-ea"/>
                          <a:cs typeface="+mn-cs"/>
                        </a:rPr>
                        <a:t>fragments</a:t>
                      </a:r>
                      <a:r>
                        <a:rPr lang="en-US" sz="1400" b="0" i="0" kern="1200" dirty="0">
                          <a:solidFill>
                            <a:schemeClr val="tx1"/>
                          </a:solidFill>
                          <a:latin typeface="+mn-lt"/>
                          <a:ea typeface="+mn-ea"/>
                          <a:cs typeface="+mn-cs"/>
                        </a:rPr>
                        <a:t> ] [ </a:t>
                      </a:r>
                      <a:r>
                        <a:rPr lang="en-US" sz="1400" b="1" i="0" kern="1200" dirty="0">
                          <a:solidFill>
                            <a:schemeClr val="tx1"/>
                          </a:solidFill>
                          <a:latin typeface="+mn-lt"/>
                          <a:ea typeface="+mn-ea"/>
                          <a:cs typeface="+mn-cs"/>
                        </a:rPr>
                        <a:t>log</a:t>
                      </a:r>
                      <a:r>
                        <a:rPr lang="en-US" sz="1400" b="0" i="0" kern="1200" dirty="0">
                          <a:solidFill>
                            <a:schemeClr val="tx1"/>
                          </a:solidFill>
                          <a:latin typeface="+mn-lt"/>
                          <a:ea typeface="+mn-ea"/>
                          <a:cs typeface="+mn-cs"/>
                        </a:rPr>
                        <a:t> ] [ </a:t>
                      </a:r>
                      <a:r>
                        <a:rPr lang="en-US" sz="1400" b="1" i="0" kern="1200" dirty="0">
                          <a:solidFill>
                            <a:schemeClr val="tx1"/>
                          </a:solidFill>
                          <a:latin typeface="+mn-lt"/>
                          <a:ea typeface="+mn-ea"/>
                          <a:cs typeface="+mn-cs"/>
                        </a:rPr>
                        <a:t>log-input</a:t>
                      </a:r>
                      <a:r>
                        <a:rPr lang="en-US" sz="1400" b="0" i="0" kern="1200" dirty="0">
                          <a:solidFill>
                            <a:schemeClr val="tx1"/>
                          </a:solidFill>
                          <a:latin typeface="+mn-lt"/>
                          <a:ea typeface="+mn-ea"/>
                          <a:cs typeface="+mn-cs"/>
                        </a:rPr>
                        <a:t> ] [ </a:t>
                      </a:r>
                      <a:r>
                        <a:rPr lang="en-US" sz="1400" b="1" i="0" kern="1200" dirty="0">
                          <a:solidFill>
                            <a:schemeClr val="tx1"/>
                          </a:solidFill>
                          <a:latin typeface="+mn-lt"/>
                          <a:ea typeface="+mn-ea"/>
                          <a:cs typeface="+mn-cs"/>
                        </a:rPr>
                        <a:t>sequence</a:t>
                      </a:r>
                      <a:r>
                        <a:rPr lang="en-US" sz="1400" b="0" i="0" kern="1200" dirty="0">
                          <a:solidFill>
                            <a:schemeClr val="tx1"/>
                          </a:solidFill>
                          <a:latin typeface="+mn-lt"/>
                          <a:ea typeface="+mn-ea"/>
                          <a:cs typeface="+mn-cs"/>
                        </a:rPr>
                        <a:t> </a:t>
                      </a:r>
                      <a:r>
                        <a:rPr lang="en-US" sz="1400" b="0" i="1" kern="1200" dirty="0">
                          <a:solidFill>
                            <a:schemeClr val="tx1"/>
                          </a:solidFill>
                          <a:latin typeface="+mn-lt"/>
                          <a:ea typeface="+mn-ea"/>
                          <a:cs typeface="+mn-cs"/>
                        </a:rPr>
                        <a:t>value</a:t>
                      </a:r>
                      <a:r>
                        <a:rPr lang="en-US" sz="1400" b="0" i="0" kern="1200" dirty="0">
                          <a:solidFill>
                            <a:schemeClr val="tx1"/>
                          </a:solidFill>
                          <a:latin typeface="+mn-lt"/>
                          <a:ea typeface="+mn-ea"/>
                          <a:cs typeface="+mn-cs"/>
                        </a:rPr>
                        <a:t> ] [ </a:t>
                      </a:r>
                      <a:r>
                        <a:rPr lang="en-US" sz="1400" b="1" i="0" kern="1200" dirty="0">
                          <a:solidFill>
                            <a:schemeClr val="tx1"/>
                          </a:solidFill>
                          <a:latin typeface="+mn-lt"/>
                          <a:ea typeface="+mn-ea"/>
                          <a:cs typeface="+mn-cs"/>
                        </a:rPr>
                        <a:t>time-range</a:t>
                      </a:r>
                      <a:r>
                        <a:rPr lang="en-US" sz="1400" b="0" i="0" kern="1200" dirty="0">
                          <a:solidFill>
                            <a:schemeClr val="tx1"/>
                          </a:solidFill>
                          <a:latin typeface="+mn-lt"/>
                          <a:ea typeface="+mn-ea"/>
                          <a:cs typeface="+mn-cs"/>
                        </a:rPr>
                        <a:t> </a:t>
                      </a:r>
                      <a:r>
                        <a:rPr lang="en-US" sz="1400" b="0" i="1" kern="1200" dirty="0">
                          <a:solidFill>
                            <a:schemeClr val="tx1"/>
                          </a:solidFill>
                          <a:latin typeface="+mn-lt"/>
                          <a:ea typeface="+mn-ea"/>
                          <a:cs typeface="+mn-cs"/>
                        </a:rPr>
                        <a:t>name</a:t>
                      </a:r>
                      <a:r>
                        <a:rPr lang="en-US" sz="1400" b="0" i="0" kern="1200" dirty="0">
                          <a:solidFill>
                            <a:schemeClr val="tx1"/>
                          </a:solidFill>
                          <a:latin typeface="+mn-lt"/>
                          <a:ea typeface="+mn-ea"/>
                          <a:cs typeface="+mn-cs"/>
                        </a:rPr>
                        <a:t> ]</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ipv6 access-list</a:t>
                      </a:r>
                    </a:p>
                    <a:p>
                      <a:pPr marL="173038" indent="-173038">
                        <a:spcBef>
                          <a:spcPts val="200"/>
                        </a:spcBef>
                        <a:spcAft>
                          <a:spcPts val="200"/>
                        </a:spcAft>
                        <a:buFont typeface="Arial" panose="020B0604020202020204" pitchFamily="34" charset="0"/>
                        <a:buChar char="•"/>
                      </a:pPr>
                      <a:endParaRPr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6456931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5130</TotalTime>
  <Words>8692</Words>
  <Application>Microsoft Office PowerPoint</Application>
  <PresentationFormat>On-screen Show (16:9)</PresentationFormat>
  <Paragraphs>878</Paragraphs>
  <Slides>78</Slides>
  <Notes>76</Notes>
  <HiddenSlides>10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78</vt:i4>
      </vt:variant>
    </vt:vector>
  </HeadingPairs>
  <TitlesOfParts>
    <vt:vector size="86" baseType="lpstr">
      <vt:lpstr>Arial</vt:lpstr>
      <vt:lpstr>Calibri</vt:lpstr>
      <vt:lpstr>CiscoSans ExtraLight</vt:lpstr>
      <vt:lpstr>Courier New</vt:lpstr>
      <vt:lpstr>Wingdings</vt:lpstr>
      <vt:lpstr>Office Theme</vt:lpstr>
      <vt:lpstr>Default Theme</vt:lpstr>
      <vt:lpstr>1_Default Theme</vt:lpstr>
      <vt:lpstr>PowerPoint Presentation</vt:lpstr>
      <vt:lpstr>PowerPoint Presentation</vt:lpstr>
      <vt:lpstr>What to Expect in this Module</vt:lpstr>
      <vt:lpstr>What to Expect in this Module (Cont.)</vt:lpstr>
      <vt:lpstr>PowerPoint Presentation</vt:lpstr>
      <vt:lpstr>Module 8: Activities</vt:lpstr>
      <vt:lpstr>Module 8: Activities</vt:lpstr>
      <vt:lpstr>PowerPoint Presentation</vt:lpstr>
      <vt:lpstr>PowerPoint Presentation</vt:lpstr>
      <vt:lpstr>PowerPoint Presentation</vt:lpstr>
      <vt:lpstr>PowerPoint Presentation</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64</cp:revision>
  <dcterms:created xsi:type="dcterms:W3CDTF">2020-12-08T18:27:12Z</dcterms:created>
  <dcterms:modified xsi:type="dcterms:W3CDTF">2021-03-16T14:00:56Z</dcterms:modified>
</cp:coreProperties>
</file>